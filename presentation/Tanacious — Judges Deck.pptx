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line: you can’t optimise what you can’t measure. We’re Tanacious, and we tackle Case 05, the 4 PM spike.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peaks 4–8 PM on weekdays while solar drops. Facilities can’t shift load they can’t see, and half the campus only sends a monthly bill. An even split of that bill wipes out the spike. They also need to know flexible load, like hostel cooling, from critical load, like labs, before touching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trains on every real 15-minute reading: smart meters plus temporary pilot meters. We left clock time out on purpose, so it follows each building type’s own routine instead of copying the metered buildings’ timing. The bill sets the absolute level. Real readings change by 0 kWh, and our tests check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of work. The facilities team knows things no meter records: each building type’s rough daily routine, how busy it stays at weekends and in vacations, the academic calendar, and the monthly bill. The AI, a Random Forest, learns from every real 15-minute reading how load actually responds to heat, weekends and breaks. Alone, the human estimates are rough and ignore weather: 24% error on real meters. Alone, the AI has nothing to tell building types apart except clock time, so it copies the metered buildings’ timing onto unmetered ones: 16%. Together: 9.7%. Errors are mean WAPE on the real campus with 30% of days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synergy proof, measured rather than claimed. Same buildings, same hidden readings, same bill reconciliation; only the shape changes. Human only uses the facilities schedules scaled to each bill. AI only is the same Random Forest given weather, calendar and clock time but none of the human knowledge. Human plus AI is Tanacious. It beats both on all 5 synthetic buildings and all 7 real meters with 30% of days hidden, 12 of 12. With a building fully unmetered it still wins on 6 of 7; the exception is the real library, where the human estimate alone did slightly better, 28.6 versus 32.5 percent. On the 4–8 PM window that matters most, error falls to 2.5 percent, against 6.2 for AI alone and 13.6 for human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AI is used. The model is a Random Forest with 100 trees and 14 inputs: weekend, break, temperature and its 3-hour mean, cooling degrees, and the human schedule features. It needs no GPU and no cloud. Its response, for every bill-only building, is a 15-minute load curve that adds up to the bill, the accuracy it scored in testing, and a likely range built from those tested errors. The outcome for facilities: they can see which building types drive the 4–8 PM peak, and try what-ifs. Moving 25% of flexible cooling from 4–8 PM to 10 AM–4 PM cuts the campus peak by 4.6% in an average month. The next slides are the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land. We didn’t only test on our own synthetic data. We took a peer-reviewed public dataset of real campus meters, hid real readings, rebuilt them and compared. The model won 13 of 14 tests. The one loss was a nearly flat lab, where an even split already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real meter. We hid 30% of its days and rebuilt them from the rest plus the monthly totals. Classrooms and the library roughly halve the error. The one loss is Theodore, a nearly flat lab, where an even split is already close. Hiding a two-week block in September gave the same picture, 13 of 14 overall.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synthetic data we know the hidden truth, so we can score everything. The 4–8 PM energy error is 0.2 to 4.6 percent per building, and the peak hour is exactly right for four of five buildings. A few metered days help a lot: the Academic block goes from 11.3 to 7.5 percent with a quarter of days metered, while the flat split stays near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set this apart. One: it is locked to the bill. Every rebuilt month adds up to its utility bill within 0.01 kWh, and real readings come back unchanged, so the output never contradicts what the campus already pays for. Two: human knowledge goes in as model input, not as a manual override. We left clock time out on purpose, which is why it carries over to building types that have no meter at all. Three: it is built to be checked. Any campus can upload its own meters, hide readings and see how close we get, against the flat split. Four: no new hardware. Monthly bills plus a few weeks of temporary pilot meters are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before the judges do. Our schedules were designed alongside the synthetic generator, which is why the real-data test matters. On the real campus the model didn’t know their holidays, and it expected the library to peak in the evening when it peaks at midday. Simulate assumes buildings can store cooling for a few hours. It rebuilds past months and is not a forecaster.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1: Campus overview, the stacked peak by building type. 2: Building, a bill-only hostel with its range. 3: Simulate, move 25% of flexible cooling from 4–8 PM to 10 AM–4 PM; peak drops 4.6% in an average month and no month gets worse. 4: Test on your data, load the real campus file, drag to hide a date range, rebuild and compare with the real readings and the flat split. Line: any campus can check us before trusting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that’s what a facilities team needs before it touches the 4 PM spike.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4750"/>
            <a:ext cx="10566400" cy="50165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81200"/>
            <a:ext cx="10566400" cy="406400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4750"/>
            <a:ext cx="10566400" cy="50165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81200"/>
            <a:ext cx="10566400" cy="406400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28C28"/>
          </a:solidFill>
          <a:ln/>
        </p:spPr>
      </p:sp>
      <p:sp>
        <p:nvSpPr>
          <p:cNvPr id="3" name="Text 1"/>
          <p:cNvSpPr/>
          <p:nvPr/>
        </p:nvSpPr>
        <p:spPr>
          <a:xfrm>
            <a:off x="812800" y="184785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28C28"/>
                </a:solidFill>
                <a:latin typeface="IBM Plex Sans" pitchFamily="34" charset="0"/>
                <a:ea typeface="IBM Plex Sans" pitchFamily="34" charset="-122"/>
                <a:cs typeface="IBM Plex Sans" pitchFamily="34" charset="-120"/>
              </a:rPr>
              <a:t>AI SYNERGY HACKATHON 2026 · CASE 05</a:t>
            </a:r>
            <a:endParaRPr lang="en-US" sz="1600" dirty="0"/>
          </a:p>
        </p:txBody>
      </p:sp>
      <p:sp>
        <p:nvSpPr>
          <p:cNvPr id="4" name="Text 2"/>
          <p:cNvSpPr/>
          <p:nvPr>
            <p:ph type="title"/>
          </p:nvPr>
        </p:nvSpPr>
        <p:spPr>
          <a:xfrm>
            <a:off x="812800" y="238125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EF"/>
                </a:solidFill>
                <a:latin typeface="Space Grotesk" pitchFamily="34" charset="0"/>
                <a:ea typeface="Space Grotesk" pitchFamily="34" charset="-122"/>
                <a:cs typeface="Space Grotesk" pitchFamily="34" charset="-120"/>
              </a:rPr>
              <a:t>Tanacious</a:t>
            </a:r>
            <a:endParaRPr lang="en-US" sz="6000" dirty="0"/>
          </a:p>
        </p:txBody>
      </p:sp>
      <p:sp>
        <p:nvSpPr>
          <p:cNvPr id="5" name="Text 3"/>
          <p:cNvSpPr/>
          <p:nvPr/>
        </p:nvSpPr>
        <p:spPr>
          <a:xfrm>
            <a:off x="812800" y="3435350"/>
            <a:ext cx="9810750" cy="1066800"/>
          </a:xfrm>
          <a:prstGeom prst="rect">
            <a:avLst/>
          </a:prstGeom>
          <a:noFill/>
          <a:ln/>
        </p:spPr>
        <p:txBody>
          <a:bodyPr wrap="square" lIns="0" tIns="0" rIns="0" bIns="0" rtlCol="0" anchor="t">
            <a:normAutofit/>
          </a:bodyPr>
          <a:lstStyle/>
          <a:p>
            <a:pPr algn="l" indent="0" marL="0">
              <a:lnSpc>
                <a:spcPts val="4140"/>
              </a:lnSpc>
              <a:buNone/>
            </a:pPr>
            <a:r>
              <a:rPr lang="en-US" sz="3600" dirty="0">
                <a:solidFill>
                  <a:srgbClr val="F7F5EF"/>
                </a:solidFill>
                <a:latin typeface="Space Grotesk" pitchFamily="34" charset="0"/>
                <a:ea typeface="Space Grotesk" pitchFamily="34" charset="-122"/>
                <a:cs typeface="Space Grotesk" pitchFamily="34" charset="-120"/>
              </a:rPr>
              <a:t>Seeing the 4 PM spike in buildings that only send a bill</a:t>
            </a:r>
            <a:endParaRPr lang="en-US" sz="3600" dirty="0"/>
          </a:p>
        </p:txBody>
      </p:sp>
      <p:sp>
        <p:nvSpPr>
          <p:cNvPr id="6" name="Text 4"/>
          <p:cNvSpPr/>
          <p:nvPr/>
        </p:nvSpPr>
        <p:spPr>
          <a:xfrm>
            <a:off x="812800" y="4730750"/>
            <a:ext cx="9156700"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8D6"/>
                </a:solidFill>
                <a:latin typeface="IBM Plex Sans" pitchFamily="34" charset="0"/>
                <a:ea typeface="IBM Plex Sans" pitchFamily="34" charset="-122"/>
                <a:cs typeface="IBM Plex Sans" pitchFamily="34" charset="-120"/>
              </a:rPr>
              <a:t>A campus energy engine that rebuilds 15-minute load from monthly bills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65200"/>
                </a:solidFill>
                <a:latin typeface="IBM Plex Sans" pitchFamily="34" charset="0"/>
                <a:ea typeface="IBM Plex Sans" pitchFamily="34" charset="-122"/>
                <a:cs typeface="IBM Plex Sans" pitchFamily="34" charset="-120"/>
              </a:rPr>
              <a:t>01 · PROBLEM STATEMENT</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You can’t cut a peak you can’t see</a:t>
            </a:r>
            <a:endParaRPr lang="en-US" sz="3600" dirty="0"/>
          </a:p>
        </p:txBody>
      </p:sp>
      <p:sp>
        <p:nvSpPr>
          <p:cNvPr id="4" name="Shape 2"/>
          <p:cNvSpPr/>
          <p:nvPr/>
        </p:nvSpPr>
        <p:spPr>
          <a:xfrm>
            <a:off x="815975" y="4270375"/>
            <a:ext cx="3380284" cy="1771650"/>
          </a:xfrm>
          <a:prstGeom prst="roundRect">
            <a:avLst>
              <a:gd name="adj" fmla="val 5556"/>
            </a:avLst>
          </a:prstGeom>
          <a:solidFill>
            <a:srgbClr val="FFFFFD"/>
          </a:solidFill>
          <a:ln w="6350">
            <a:solidFill>
              <a:srgbClr val="E2DED3"/>
            </a:solidFill>
            <a:prstDash val="solid"/>
          </a:ln>
        </p:spPr>
      </p:sp>
      <p:sp>
        <p:nvSpPr>
          <p:cNvPr id="5" name="Text 3"/>
          <p:cNvSpPr/>
          <p:nvPr/>
        </p:nvSpPr>
        <p:spPr>
          <a:xfrm>
            <a:off x="1073150" y="4527550"/>
            <a:ext cx="295191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The 4–8 PM spike</a:t>
            </a:r>
            <a:endParaRPr lang="en-US" sz="2200" dirty="0"/>
          </a:p>
        </p:txBody>
      </p:sp>
      <p:sp>
        <p:nvSpPr>
          <p:cNvPr id="6" name="Text 4"/>
          <p:cNvSpPr/>
          <p:nvPr/>
        </p:nvSpPr>
        <p:spPr>
          <a:xfrm>
            <a:off x="1073150" y="4946650"/>
            <a:ext cx="295191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Weekday demand jumps just as rooftop solar fades.</a:t>
            </a:r>
            <a:endParaRPr lang="en-US" sz="1600" dirty="0"/>
          </a:p>
        </p:txBody>
      </p:sp>
      <p:sp>
        <p:nvSpPr>
          <p:cNvPr id="7" name="Shape 5"/>
          <p:cNvSpPr/>
          <p:nvPr/>
        </p:nvSpPr>
        <p:spPr>
          <a:xfrm>
            <a:off x="4405809" y="4270375"/>
            <a:ext cx="3380284" cy="1771650"/>
          </a:xfrm>
          <a:prstGeom prst="roundRect">
            <a:avLst>
              <a:gd name="adj" fmla="val 5556"/>
            </a:avLst>
          </a:prstGeom>
          <a:solidFill>
            <a:srgbClr val="FFFFFD"/>
          </a:solidFill>
          <a:ln w="6350">
            <a:solidFill>
              <a:srgbClr val="E2DED3"/>
            </a:solidFill>
            <a:prstDash val="solid"/>
          </a:ln>
        </p:spPr>
      </p:sp>
      <p:sp>
        <p:nvSpPr>
          <p:cNvPr id="8" name="Text 6"/>
          <p:cNvSpPr/>
          <p:nvPr/>
        </p:nvSpPr>
        <p:spPr>
          <a:xfrm>
            <a:off x="4662984" y="4527550"/>
            <a:ext cx="295191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The missing meter</a:t>
            </a:r>
            <a:endParaRPr lang="en-US" sz="2200" dirty="0"/>
          </a:p>
        </p:txBody>
      </p:sp>
      <p:sp>
        <p:nvSpPr>
          <p:cNvPr id="9" name="Text 7"/>
          <p:cNvSpPr/>
          <p:nvPr/>
        </p:nvSpPr>
        <p:spPr>
          <a:xfrm>
            <a:off x="4662984" y="494665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Some buildings report every 15 minutes. Others send one bill a month.</a:t>
            </a:r>
            <a:endParaRPr lang="en-US" sz="1600" dirty="0"/>
          </a:p>
        </p:txBody>
      </p:sp>
      <p:sp>
        <p:nvSpPr>
          <p:cNvPr id="10" name="Shape 8"/>
          <p:cNvSpPr/>
          <p:nvPr/>
        </p:nvSpPr>
        <p:spPr>
          <a:xfrm>
            <a:off x="7995642" y="4270375"/>
            <a:ext cx="3380284" cy="1771650"/>
          </a:xfrm>
          <a:prstGeom prst="roundRect">
            <a:avLst>
              <a:gd name="adj" fmla="val 5556"/>
            </a:avLst>
          </a:prstGeom>
          <a:solidFill>
            <a:srgbClr val="FFFFFD"/>
          </a:solidFill>
          <a:ln w="6350">
            <a:solidFill>
              <a:srgbClr val="E2DED3"/>
            </a:solidFill>
            <a:prstDash val="solid"/>
          </a:ln>
        </p:spPr>
      </p:sp>
      <p:sp>
        <p:nvSpPr>
          <p:cNvPr id="11" name="Text 9"/>
          <p:cNvSpPr/>
          <p:nvPr/>
        </p:nvSpPr>
        <p:spPr>
          <a:xfrm>
            <a:off x="8252817" y="4527550"/>
            <a:ext cx="295191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The flat split fails</a:t>
            </a:r>
            <a:endParaRPr lang="en-US" sz="2200" dirty="0"/>
          </a:p>
        </p:txBody>
      </p:sp>
      <p:sp>
        <p:nvSpPr>
          <p:cNvPr id="12" name="Text 10"/>
          <p:cNvSpPr/>
          <p:nvPr/>
        </p:nvSpPr>
        <p:spPr>
          <a:xfrm>
            <a:off x="8252817" y="494665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Spreading a bill evenly hides the spike in the exact hours that matter.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65200"/>
                </a:solidFill>
                <a:latin typeface="IBM Plex Sans" pitchFamily="34" charset="0"/>
                <a:ea typeface="IBM Plex Sans" pitchFamily="34" charset="-122"/>
                <a:cs typeface="IBM Plex Sans" pitchFamily="34" charset="-120"/>
              </a:rPr>
              <a:t>02 · PROPOSED SOLUTION</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Three steps from bill to 15-minute curve</a:t>
            </a:r>
            <a:endParaRPr lang="en-US" sz="3600" dirty="0"/>
          </a:p>
        </p:txBody>
      </p:sp>
      <p:sp>
        <p:nvSpPr>
          <p:cNvPr id="4" name="Shape 2"/>
          <p:cNvSpPr/>
          <p:nvPr/>
        </p:nvSpPr>
        <p:spPr>
          <a:xfrm>
            <a:off x="815975" y="3711575"/>
            <a:ext cx="3380284" cy="2330450"/>
          </a:xfrm>
          <a:prstGeom prst="roundRect">
            <a:avLst>
              <a:gd name="adj" fmla="val 4223"/>
            </a:avLst>
          </a:prstGeom>
          <a:solidFill>
            <a:srgbClr val="FFFFFD"/>
          </a:solidFill>
          <a:ln w="6350">
            <a:solidFill>
              <a:srgbClr val="E2DED3"/>
            </a:solidFill>
            <a:prstDash val="solid"/>
          </a:ln>
        </p:spPr>
      </p:sp>
      <p:sp>
        <p:nvSpPr>
          <p:cNvPr id="5" name="Text 3"/>
          <p:cNvSpPr/>
          <p:nvPr/>
        </p:nvSpPr>
        <p:spPr>
          <a:xfrm>
            <a:off x="1073150" y="3968750"/>
            <a:ext cx="295191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65200"/>
                </a:solidFill>
                <a:latin typeface="Space Grotesk" pitchFamily="34" charset="0"/>
                <a:ea typeface="Space Grotesk" pitchFamily="34" charset="-122"/>
                <a:cs typeface="Space Grotesk" pitchFamily="34" charset="-120"/>
              </a:rPr>
              <a:t>1</a:t>
            </a:r>
            <a:endParaRPr lang="en-US" sz="3600" dirty="0"/>
          </a:p>
        </p:txBody>
      </p:sp>
      <p:sp>
        <p:nvSpPr>
          <p:cNvPr id="6" name="Text 4"/>
          <p:cNvSpPr/>
          <p:nvPr/>
        </p:nvSpPr>
        <p:spPr>
          <a:xfrm>
            <a:off x="1073150" y="4527550"/>
            <a:ext cx="295191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Learn the shape</a:t>
            </a:r>
            <a:endParaRPr lang="en-US" sz="2200" dirty="0"/>
          </a:p>
        </p:txBody>
      </p:sp>
      <p:sp>
        <p:nvSpPr>
          <p:cNvPr id="7" name="Text 5"/>
          <p:cNvSpPr/>
          <p:nvPr/>
        </p:nvSpPr>
        <p:spPr>
          <a:xfrm>
            <a:off x="1073150" y="494665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 Random Forest learns from schedule, weekends, breaks and heat. No clock time.</a:t>
            </a:r>
            <a:endParaRPr lang="en-US" sz="1600" dirty="0"/>
          </a:p>
        </p:txBody>
      </p:sp>
      <p:sp>
        <p:nvSpPr>
          <p:cNvPr id="8" name="Shape 6"/>
          <p:cNvSpPr/>
          <p:nvPr/>
        </p:nvSpPr>
        <p:spPr>
          <a:xfrm>
            <a:off x="4405809" y="3711575"/>
            <a:ext cx="3380284" cy="2330450"/>
          </a:xfrm>
          <a:prstGeom prst="roundRect">
            <a:avLst>
              <a:gd name="adj" fmla="val 4223"/>
            </a:avLst>
          </a:prstGeom>
          <a:solidFill>
            <a:srgbClr val="FFFFFD"/>
          </a:solidFill>
          <a:ln w="6350">
            <a:solidFill>
              <a:srgbClr val="E2DED3"/>
            </a:solidFill>
            <a:prstDash val="solid"/>
          </a:ln>
        </p:spPr>
      </p:sp>
      <p:sp>
        <p:nvSpPr>
          <p:cNvPr id="9" name="Text 7"/>
          <p:cNvSpPr/>
          <p:nvPr/>
        </p:nvSpPr>
        <p:spPr>
          <a:xfrm>
            <a:off x="4662984" y="3968750"/>
            <a:ext cx="295191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65200"/>
                </a:solidFill>
                <a:latin typeface="Space Grotesk" pitchFamily="34" charset="0"/>
                <a:ea typeface="Space Grotesk" pitchFamily="34" charset="-122"/>
                <a:cs typeface="Space Grotesk" pitchFamily="34" charset="-120"/>
              </a:rPr>
              <a:t>2</a:t>
            </a:r>
            <a:endParaRPr lang="en-US" sz="3600" dirty="0"/>
          </a:p>
        </p:txBody>
      </p:sp>
      <p:sp>
        <p:nvSpPr>
          <p:cNvPr id="10" name="Text 8"/>
          <p:cNvSpPr/>
          <p:nvPr/>
        </p:nvSpPr>
        <p:spPr>
          <a:xfrm>
            <a:off x="4662984" y="4527550"/>
            <a:ext cx="295191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Match the bill</a:t>
            </a:r>
            <a:endParaRPr lang="en-US" sz="2200" dirty="0"/>
          </a:p>
        </p:txBody>
      </p:sp>
      <p:sp>
        <p:nvSpPr>
          <p:cNvPr id="11" name="Text 9"/>
          <p:cNvSpPr/>
          <p:nvPr/>
        </p:nvSpPr>
        <p:spPr>
          <a:xfrm>
            <a:off x="4662984" y="4946650"/>
            <a:ext cx="295191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Each month adds up to its utility bill, within 0.01 kWh.</a:t>
            </a:r>
            <a:endParaRPr lang="en-US" sz="1600" dirty="0"/>
          </a:p>
        </p:txBody>
      </p:sp>
      <p:sp>
        <p:nvSpPr>
          <p:cNvPr id="12" name="Shape 10"/>
          <p:cNvSpPr/>
          <p:nvPr/>
        </p:nvSpPr>
        <p:spPr>
          <a:xfrm>
            <a:off x="7995642" y="3711575"/>
            <a:ext cx="3380284" cy="2330450"/>
          </a:xfrm>
          <a:prstGeom prst="roundRect">
            <a:avLst>
              <a:gd name="adj" fmla="val 4223"/>
            </a:avLst>
          </a:prstGeom>
          <a:solidFill>
            <a:srgbClr val="FFFFFD"/>
          </a:solidFill>
          <a:ln w="6350">
            <a:solidFill>
              <a:srgbClr val="E2DED3"/>
            </a:solidFill>
            <a:prstDash val="solid"/>
          </a:ln>
        </p:spPr>
      </p:sp>
      <p:sp>
        <p:nvSpPr>
          <p:cNvPr id="13" name="Text 11"/>
          <p:cNvSpPr/>
          <p:nvPr/>
        </p:nvSpPr>
        <p:spPr>
          <a:xfrm>
            <a:off x="8252817" y="3968750"/>
            <a:ext cx="295191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65200"/>
                </a:solidFill>
                <a:latin typeface="Space Grotesk" pitchFamily="34" charset="0"/>
                <a:ea typeface="Space Grotesk" pitchFamily="34" charset="-122"/>
                <a:cs typeface="Space Grotesk" pitchFamily="34" charset="-120"/>
              </a:rPr>
              <a:t>3</a:t>
            </a:r>
            <a:endParaRPr lang="en-US" sz="3600" dirty="0"/>
          </a:p>
        </p:txBody>
      </p:sp>
      <p:sp>
        <p:nvSpPr>
          <p:cNvPr id="14" name="Text 12"/>
          <p:cNvSpPr/>
          <p:nvPr/>
        </p:nvSpPr>
        <p:spPr>
          <a:xfrm>
            <a:off x="8252817" y="4527550"/>
            <a:ext cx="295191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Keep real readings</a:t>
            </a:r>
            <a:endParaRPr lang="en-US" sz="2200" dirty="0"/>
          </a:p>
        </p:txBody>
      </p:sp>
      <p:sp>
        <p:nvSpPr>
          <p:cNvPr id="15" name="Text 13"/>
          <p:cNvSpPr/>
          <p:nvPr/>
        </p:nvSpPr>
        <p:spPr>
          <a:xfrm>
            <a:off x="8252817" y="494665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Meter data comes back unchanged. Only the gaps are filled.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65200"/>
                </a:solidFill>
                <a:latin typeface="IBM Plex Sans" pitchFamily="34" charset="0"/>
                <a:ea typeface="IBM Plex Sans" pitchFamily="34" charset="-122"/>
                <a:cs typeface="IBM Plex Sans" pitchFamily="34" charset="-120"/>
              </a:rPr>
              <a:t>03 · PROOF OF SYNERGY · WHAT EACH SIDE BRINGS</a:t>
            </a:r>
            <a:endParaRPr lang="en-US" sz="1200" dirty="0"/>
          </a:p>
        </p:txBody>
      </p:sp>
      <p:sp>
        <p:nvSpPr>
          <p:cNvPr id="3" name="Text 1"/>
          <p:cNvSpPr/>
          <p:nvPr>
            <p:ph type="title"/>
          </p:nvPr>
        </p:nvSpPr>
        <p:spPr>
          <a:xfrm>
            <a:off x="812800" y="1174750"/>
            <a:ext cx="11379200"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People bring the routine, AI learns the response</a:t>
            </a:r>
            <a:endParaRPr lang="en-US" sz="3600" dirty="0"/>
          </a:p>
        </p:txBody>
      </p:sp>
      <p:sp>
        <p:nvSpPr>
          <p:cNvPr id="4" name="Shape 2"/>
          <p:cNvSpPr/>
          <p:nvPr/>
        </p:nvSpPr>
        <p:spPr>
          <a:xfrm>
            <a:off x="815975" y="3749675"/>
            <a:ext cx="3380284" cy="2292350"/>
          </a:xfrm>
          <a:prstGeom prst="roundRect">
            <a:avLst>
              <a:gd name="adj" fmla="val 4294"/>
            </a:avLst>
          </a:prstGeom>
          <a:solidFill>
            <a:srgbClr val="FFFFFD"/>
          </a:solidFill>
          <a:ln w="6350">
            <a:solidFill>
              <a:srgbClr val="E2DED3"/>
            </a:solidFill>
            <a:prstDash val="solid"/>
          </a:ln>
        </p:spPr>
      </p:sp>
      <p:sp>
        <p:nvSpPr>
          <p:cNvPr id="5" name="Text 3"/>
          <p:cNvSpPr/>
          <p:nvPr/>
        </p:nvSpPr>
        <p:spPr>
          <a:xfrm>
            <a:off x="1073150" y="4006850"/>
            <a:ext cx="295191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Human</a:t>
            </a:r>
            <a:endParaRPr lang="en-US" sz="2200" dirty="0"/>
          </a:p>
        </p:txBody>
      </p:sp>
      <p:sp>
        <p:nvSpPr>
          <p:cNvPr id="6" name="Text 4"/>
          <p:cNvSpPr/>
          <p:nvPr/>
        </p:nvSpPr>
        <p:spPr>
          <a:xfrm>
            <a:off x="1073150" y="442595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Building schedules, weekend and vacation habits, the academic calendar, the bill.</a:t>
            </a:r>
            <a:endParaRPr lang="en-US" sz="1600" dirty="0"/>
          </a:p>
        </p:txBody>
      </p:sp>
      <p:sp>
        <p:nvSpPr>
          <p:cNvPr id="7" name="Text 5"/>
          <p:cNvSpPr/>
          <p:nvPr/>
        </p:nvSpPr>
        <p:spPr>
          <a:xfrm>
            <a:off x="1073150" y="5365750"/>
            <a:ext cx="2951912"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Alone: 24% error.</a:t>
            </a:r>
            <a:r>
              <a:rPr lang="en-US" sz="1200" dirty="0">
                <a:solidFill>
                  <a:srgbClr val="14213D"/>
                </a:solidFill>
                <a:latin typeface="IBM Plex Sans" pitchFamily="34" charset="0"/>
                <a:ea typeface="IBM Plex Sans" pitchFamily="34" charset="-122"/>
                <a:cs typeface="IBM Plex Sans" pitchFamily="34" charset="-120"/>
              </a:rPr>
              <a:t> Rough guesses miss the weather and the real timing.</a:t>
            </a:r>
            <a:endParaRPr lang="en-US" sz="1200" dirty="0"/>
          </a:p>
        </p:txBody>
      </p:sp>
      <p:sp>
        <p:nvSpPr>
          <p:cNvPr id="8" name="Shape 6"/>
          <p:cNvSpPr/>
          <p:nvPr/>
        </p:nvSpPr>
        <p:spPr>
          <a:xfrm>
            <a:off x="4405809" y="3749675"/>
            <a:ext cx="3380284" cy="2292350"/>
          </a:xfrm>
          <a:prstGeom prst="roundRect">
            <a:avLst>
              <a:gd name="adj" fmla="val 4294"/>
            </a:avLst>
          </a:prstGeom>
          <a:solidFill>
            <a:srgbClr val="FFFFFD"/>
          </a:solidFill>
          <a:ln w="6350">
            <a:solidFill>
              <a:srgbClr val="E2DED3"/>
            </a:solidFill>
            <a:prstDash val="solid"/>
          </a:ln>
        </p:spPr>
      </p:sp>
      <p:sp>
        <p:nvSpPr>
          <p:cNvPr id="9" name="Text 7"/>
          <p:cNvSpPr/>
          <p:nvPr/>
        </p:nvSpPr>
        <p:spPr>
          <a:xfrm>
            <a:off x="4662984" y="4006850"/>
            <a:ext cx="295191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AI</a:t>
            </a:r>
            <a:endParaRPr lang="en-US" sz="2200" dirty="0"/>
          </a:p>
        </p:txBody>
      </p:sp>
      <p:sp>
        <p:nvSpPr>
          <p:cNvPr id="10" name="Text 8"/>
          <p:cNvSpPr/>
          <p:nvPr/>
        </p:nvSpPr>
        <p:spPr>
          <a:xfrm>
            <a:off x="4662984" y="442595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Learns from every 15-minute reading how load bends with heat, weekends and breaks.</a:t>
            </a:r>
            <a:endParaRPr lang="en-US" sz="1600" dirty="0"/>
          </a:p>
        </p:txBody>
      </p:sp>
      <p:sp>
        <p:nvSpPr>
          <p:cNvPr id="11" name="Text 9"/>
          <p:cNvSpPr/>
          <p:nvPr/>
        </p:nvSpPr>
        <p:spPr>
          <a:xfrm>
            <a:off x="4662984" y="5365750"/>
            <a:ext cx="2951912"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Alone: 16% error.</a:t>
            </a:r>
            <a:r>
              <a:rPr lang="en-US" sz="1200" dirty="0">
                <a:solidFill>
                  <a:srgbClr val="14213D"/>
                </a:solidFill>
                <a:latin typeface="IBM Plex Sans" pitchFamily="34" charset="0"/>
                <a:ea typeface="IBM Plex Sans" pitchFamily="34" charset="-122"/>
                <a:cs typeface="IBM Plex Sans" pitchFamily="34" charset="-120"/>
              </a:rPr>
              <a:t> It copies the metered buildings’ timing onto every other type.</a:t>
            </a:r>
            <a:endParaRPr lang="en-US" sz="1200" dirty="0"/>
          </a:p>
        </p:txBody>
      </p:sp>
      <p:sp>
        <p:nvSpPr>
          <p:cNvPr id="12" name="Shape 10"/>
          <p:cNvSpPr/>
          <p:nvPr/>
        </p:nvSpPr>
        <p:spPr>
          <a:xfrm>
            <a:off x="7995642" y="3749675"/>
            <a:ext cx="3380284" cy="2292350"/>
          </a:xfrm>
          <a:prstGeom prst="roundRect">
            <a:avLst>
              <a:gd name="adj" fmla="val 4294"/>
            </a:avLst>
          </a:prstGeom>
          <a:solidFill>
            <a:srgbClr val="FFFFFD"/>
          </a:solidFill>
          <a:ln w="6350">
            <a:solidFill>
              <a:srgbClr val="E2DED3"/>
            </a:solidFill>
            <a:prstDash val="solid"/>
          </a:ln>
        </p:spPr>
      </p:sp>
      <p:sp>
        <p:nvSpPr>
          <p:cNvPr id="13" name="Text 11"/>
          <p:cNvSpPr/>
          <p:nvPr/>
        </p:nvSpPr>
        <p:spPr>
          <a:xfrm>
            <a:off x="8252817" y="4006850"/>
            <a:ext cx="295191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Human + AI</a:t>
            </a:r>
            <a:endParaRPr lang="en-US" sz="2200" dirty="0"/>
          </a:p>
        </p:txBody>
      </p:sp>
      <p:sp>
        <p:nvSpPr>
          <p:cNvPr id="14" name="Text 12"/>
          <p:cNvSpPr/>
          <p:nvPr/>
        </p:nvSpPr>
        <p:spPr>
          <a:xfrm>
            <a:off x="8252817" y="442595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People set the routine and the total. AI learns how the load responds.</a:t>
            </a:r>
            <a:endParaRPr lang="en-US" sz="1600" dirty="0"/>
          </a:p>
        </p:txBody>
      </p:sp>
      <p:sp>
        <p:nvSpPr>
          <p:cNvPr id="15" name="Text 13"/>
          <p:cNvSpPr/>
          <p:nvPr/>
        </p:nvSpPr>
        <p:spPr>
          <a:xfrm>
            <a:off x="8252817" y="5365750"/>
            <a:ext cx="2951912"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65200"/>
                </a:solidFill>
                <a:latin typeface="IBM Plex Sans" pitchFamily="34" charset="0"/>
                <a:ea typeface="IBM Plex Sans" pitchFamily="34" charset="-122"/>
                <a:cs typeface="IBM Plex Sans" pitchFamily="34" charset="-120"/>
              </a:rPr>
              <a:t>Together: 9.7% error,</a:t>
            </a:r>
            <a:r>
              <a:rPr lang="en-US" sz="1200" dirty="0">
                <a:solidFill>
                  <a:srgbClr val="A65200"/>
                </a:solidFill>
                <a:latin typeface="IBM Plex Sans" pitchFamily="34" charset="0"/>
                <a:ea typeface="IBM Plex Sans" pitchFamily="34" charset="-122"/>
                <a:cs typeface="IBM Plex Sans" pitchFamily="34" charset="-120"/>
              </a:rPr>
              <a:t> better than either alone on every building tested.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65200"/>
                </a:solidFill>
                <a:latin typeface="IBM Plex Sans" pitchFamily="34" charset="0"/>
                <a:ea typeface="IBM Plex Sans" pitchFamily="34" charset="-122"/>
                <a:cs typeface="IBM Plex Sans" pitchFamily="34" charset="-120"/>
              </a:rPr>
              <a:t>03 · PROOF OF SYNERGY · (HUMAN + AI) ≥ (HUMAN, AI)</a:t>
            </a:r>
            <a:endParaRPr lang="en-US" sz="1200" dirty="0"/>
          </a:p>
        </p:txBody>
      </p:sp>
      <p:sp>
        <p:nvSpPr>
          <p:cNvPr id="3" name="Text 1"/>
          <p:cNvSpPr/>
          <p:nvPr>
            <p:ph type="title"/>
          </p:nvPr>
        </p:nvSpPr>
        <p:spPr>
          <a:xfrm>
            <a:off x="812800" y="1174750"/>
            <a:ext cx="10883392" cy="102870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Human + AI beat both alone on 12 of 12 buildings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44750"/>
          <a:ext cx="10553700" cy="1929805"/>
        </p:xfrm>
        <a:graphic>
          <a:graphicData uri="http://schemas.openxmlformats.org/drawingml/2006/table">
            <a:tbl>
              <a:tblPr/>
              <a:tblGrid>
                <a:gridCol w="4854702"/>
                <a:gridCol w="1794129"/>
                <a:gridCol w="1794129"/>
                <a:gridCol w="2110740"/>
              </a:tblGrid>
              <a:tr h="38596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Test (mean error)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AB7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AB7AE"/>
                      </a:solidFill>
                      <a:prstDash val="solid"/>
                      <a:round/>
                      <a:headEnd type="none" w="med" len="med"/>
                      <a:tailEnd type="none" w="med" len="med"/>
                    </a:lnB>
                    <a:solidFill>
                      <a:srgbClr val="E9E5DA"/>
                    </a:solidFill>
                  </a:tcPr>
                </a:tc>
                <a:tc>
                  <a:txBody>
                    <a:bodyPr/>
                    <a:lstStyle/>
                    <a:p>
                      <a:pPr algn="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Human 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7AE"/>
                      </a:solidFill>
                      <a:prstDash val="solid"/>
                      <a:round/>
                      <a:headEnd type="none" w="med" len="med"/>
                      <a:tailEnd type="none" w="med" len="med"/>
                    </a:lnL>
                    <a:lnR w="12700" cap="flat" cmpd="sng" algn="ctr">
                      <a:solidFill>
                        <a:srgbClr val="BAB7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AB7AE"/>
                      </a:solidFill>
                      <a:prstDash val="solid"/>
                      <a:round/>
                      <a:headEnd type="none" w="med" len="med"/>
                      <a:tailEnd type="none" w="med" len="med"/>
                    </a:lnB>
                    <a:solidFill>
                      <a:srgbClr val="E9E5DA"/>
                    </a:solidFill>
                  </a:tcPr>
                </a:tc>
                <a:tc>
                  <a:txBody>
                    <a:bodyPr/>
                    <a:lstStyle/>
                    <a:p>
                      <a:pPr algn="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AI 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7AE"/>
                      </a:solidFill>
                      <a:prstDash val="solid"/>
                      <a:round/>
                      <a:headEnd type="none" w="med" len="med"/>
                      <a:tailEnd type="none" w="med" len="med"/>
                    </a:lnL>
                    <a:lnR w="12700" cap="flat" cmpd="sng" algn="ctr">
                      <a:solidFill>
                        <a:srgbClr val="BAB7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AB7AE"/>
                      </a:solidFill>
                      <a:prstDash val="solid"/>
                      <a:round/>
                      <a:headEnd type="none" w="med" len="med"/>
                      <a:tailEnd type="none" w="med" len="med"/>
                    </a:lnB>
                    <a:solidFill>
                      <a:srgbClr val="E9E5DA"/>
                    </a:solidFill>
                  </a:tcPr>
                </a:tc>
                <a:tc>
                  <a:txBody>
                    <a:bodyPr/>
                    <a:lstStyle/>
                    <a:p>
                      <a:pPr algn="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Human + AI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7AE"/>
                      </a:solidFill>
                      <a:prstDash val="solid"/>
                      <a:round/>
                      <a:headEnd type="none" w="med" len="med"/>
                      <a:tailEnd type="none" w="med" len="med"/>
                    </a:lnL>
                    <a:lnR w="12700" cap="flat" cmpd="sng" algn="ctr">
                      <a:solidFill>
                        <a:srgbClr val="BAB7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AB7AE"/>
                      </a:solidFill>
                      <a:prstDash val="solid"/>
                      <a:round/>
                      <a:headEnd type="none" w="med" len="med"/>
                      <a:tailEnd type="none" w="med" len="med"/>
                    </a:lnB>
                    <a:solidFill>
                      <a:srgbClr val="E9E5DA"/>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Synthetic campus, 5 buildings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AB7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14.8%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AB7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AB7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A65200"/>
                          </a:solidFill>
                          <a:latin typeface="IBM Plex Sans" pitchFamily="34" charset="0"/>
                          <a:ea typeface="IBM Plex Sans" pitchFamily="34" charset="-122"/>
                          <a:cs typeface="IBM Plex Sans" pitchFamily="34" charset="-120"/>
                        </a:rPr>
                        <a:t>7.3%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AB7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Real campus, 30% of days hidden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24.2%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16.3%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A65200"/>
                          </a:solidFill>
                          <a:latin typeface="IBM Plex Sans" pitchFamily="34" charset="0"/>
                          <a:ea typeface="IBM Plex Sans" pitchFamily="34" charset="-122"/>
                          <a:cs typeface="IBM Plex Sans" pitchFamily="34" charset="-120"/>
                        </a:rPr>
                        <a:t>9.7%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Real campus, no meter at all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24.7%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17.2%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A65200"/>
                          </a:solidFill>
                          <a:latin typeface="IBM Plex Sans" pitchFamily="34" charset="0"/>
                          <a:ea typeface="IBM Plex Sans" pitchFamily="34" charset="-122"/>
                          <a:cs typeface="IBM Plex Sans" pitchFamily="34" charset="-120"/>
                        </a:rPr>
                        <a:t>12.6%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Real campus, 4–8 PM energy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13.6%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6.2%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A65200"/>
                          </a:solidFill>
                          <a:latin typeface="IBM Plex Sans" pitchFamily="34" charset="0"/>
                          <a:ea typeface="IBM Plex Sans" pitchFamily="34" charset="-122"/>
                          <a:cs typeface="IBM Plex Sans" pitchFamily="34" charset="-120"/>
                        </a:rPr>
                        <a:t>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4628555"/>
            <a:ext cx="9810750"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Human only: the facilities team’s schedule estimates, scaled to the bill. AI only: the same Random Forest on weather, calendar and clock time, with no human inputs.</a:t>
            </a:r>
            <a:endParaRPr lang="en-US" sz="1200" dirty="0"/>
          </a:p>
        </p:txBody>
      </p:sp>
      <p:sp>
        <p:nvSpPr>
          <p:cNvPr id="6" name="Text 3"/>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WAPE on hidden readings, lower is better · Real campus: 7 meters, Building Data Genome Project 2, CC BY-SA 4.0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65200"/>
                </a:solidFill>
                <a:latin typeface="IBM Plex Sans" pitchFamily="34" charset="0"/>
                <a:ea typeface="IBM Plex Sans" pitchFamily="34" charset="-122"/>
                <a:cs typeface="IBM Plex Sans" pitchFamily="34" charset="-120"/>
              </a:rPr>
              <a:t>04 · AI UTILISATION · MODEL, RESPONSE, OUTCOME</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How the AI is put to work</a:t>
            </a:r>
            <a:endParaRPr lang="en-US" sz="3600" dirty="0"/>
          </a:p>
        </p:txBody>
      </p:sp>
      <p:sp>
        <p:nvSpPr>
          <p:cNvPr id="4" name="Shape 2"/>
          <p:cNvSpPr/>
          <p:nvPr/>
        </p:nvSpPr>
        <p:spPr>
          <a:xfrm>
            <a:off x="815975" y="3711575"/>
            <a:ext cx="3380284" cy="2330450"/>
          </a:xfrm>
          <a:prstGeom prst="roundRect">
            <a:avLst>
              <a:gd name="adj" fmla="val 4223"/>
            </a:avLst>
          </a:prstGeom>
          <a:solidFill>
            <a:srgbClr val="FFFFFD"/>
          </a:solidFill>
          <a:ln w="6350">
            <a:solidFill>
              <a:srgbClr val="E2DED3"/>
            </a:solidFill>
            <a:prstDash val="solid"/>
          </a:ln>
        </p:spPr>
      </p:sp>
      <p:sp>
        <p:nvSpPr>
          <p:cNvPr id="5" name="Text 3"/>
          <p:cNvSpPr/>
          <p:nvPr/>
        </p:nvSpPr>
        <p:spPr>
          <a:xfrm>
            <a:off x="1073150" y="3968750"/>
            <a:ext cx="295191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65200"/>
                </a:solidFill>
                <a:latin typeface="Space Grotesk" pitchFamily="34" charset="0"/>
                <a:ea typeface="Space Grotesk" pitchFamily="34" charset="-122"/>
                <a:cs typeface="Space Grotesk" pitchFamily="34" charset="-120"/>
              </a:rPr>
              <a:t>1</a:t>
            </a:r>
            <a:endParaRPr lang="en-US" sz="3600" dirty="0"/>
          </a:p>
        </p:txBody>
      </p:sp>
      <p:sp>
        <p:nvSpPr>
          <p:cNvPr id="6" name="Text 4"/>
          <p:cNvSpPr/>
          <p:nvPr/>
        </p:nvSpPr>
        <p:spPr>
          <a:xfrm>
            <a:off x="1073150" y="4527550"/>
            <a:ext cx="295191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Model</a:t>
            </a:r>
            <a:endParaRPr lang="en-US" sz="2200" dirty="0"/>
          </a:p>
        </p:txBody>
      </p:sp>
      <p:sp>
        <p:nvSpPr>
          <p:cNvPr id="7" name="Text 5"/>
          <p:cNvSpPr/>
          <p:nvPr/>
        </p:nvSpPr>
        <p:spPr>
          <a:xfrm>
            <a:off x="1073150" y="494665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 Random Forest: 100 trees, 14 inputs. Runs on a laptop CPU.</a:t>
            </a:r>
            <a:endParaRPr lang="en-US" sz="1600" dirty="0"/>
          </a:p>
        </p:txBody>
      </p:sp>
      <p:sp>
        <p:nvSpPr>
          <p:cNvPr id="8" name="Shape 6"/>
          <p:cNvSpPr/>
          <p:nvPr/>
        </p:nvSpPr>
        <p:spPr>
          <a:xfrm>
            <a:off x="4405809" y="3711575"/>
            <a:ext cx="3380284" cy="2330450"/>
          </a:xfrm>
          <a:prstGeom prst="roundRect">
            <a:avLst>
              <a:gd name="adj" fmla="val 4223"/>
            </a:avLst>
          </a:prstGeom>
          <a:solidFill>
            <a:srgbClr val="FFFFFD"/>
          </a:solidFill>
          <a:ln w="6350">
            <a:solidFill>
              <a:srgbClr val="E2DED3"/>
            </a:solidFill>
            <a:prstDash val="solid"/>
          </a:ln>
        </p:spPr>
      </p:sp>
      <p:sp>
        <p:nvSpPr>
          <p:cNvPr id="9" name="Text 7"/>
          <p:cNvSpPr/>
          <p:nvPr/>
        </p:nvSpPr>
        <p:spPr>
          <a:xfrm>
            <a:off x="4662984" y="3968750"/>
            <a:ext cx="295191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65200"/>
                </a:solidFill>
                <a:latin typeface="Space Grotesk" pitchFamily="34" charset="0"/>
                <a:ea typeface="Space Grotesk" pitchFamily="34" charset="-122"/>
                <a:cs typeface="Space Grotesk" pitchFamily="34" charset="-120"/>
              </a:rPr>
              <a:t>2</a:t>
            </a:r>
            <a:endParaRPr lang="en-US" sz="3600" dirty="0"/>
          </a:p>
        </p:txBody>
      </p:sp>
      <p:sp>
        <p:nvSpPr>
          <p:cNvPr id="10" name="Text 8"/>
          <p:cNvSpPr/>
          <p:nvPr/>
        </p:nvSpPr>
        <p:spPr>
          <a:xfrm>
            <a:off x="4662984" y="4527550"/>
            <a:ext cx="295191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Response</a:t>
            </a:r>
            <a:endParaRPr lang="en-US" sz="2200" dirty="0"/>
          </a:p>
        </p:txBody>
      </p:sp>
      <p:sp>
        <p:nvSpPr>
          <p:cNvPr id="11" name="Text 9"/>
          <p:cNvSpPr/>
          <p:nvPr/>
        </p:nvSpPr>
        <p:spPr>
          <a:xfrm>
            <a:off x="4662984" y="494665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Per building: a 15-minute curve, its tested accuracy and a likely range.</a:t>
            </a:r>
            <a:endParaRPr lang="en-US" sz="1600" dirty="0"/>
          </a:p>
        </p:txBody>
      </p:sp>
      <p:sp>
        <p:nvSpPr>
          <p:cNvPr id="12" name="Shape 10"/>
          <p:cNvSpPr/>
          <p:nvPr/>
        </p:nvSpPr>
        <p:spPr>
          <a:xfrm>
            <a:off x="7995642" y="3711575"/>
            <a:ext cx="3380284" cy="2330450"/>
          </a:xfrm>
          <a:prstGeom prst="roundRect">
            <a:avLst>
              <a:gd name="adj" fmla="val 4223"/>
            </a:avLst>
          </a:prstGeom>
          <a:solidFill>
            <a:srgbClr val="FFFFFD"/>
          </a:solidFill>
          <a:ln w="6350">
            <a:solidFill>
              <a:srgbClr val="E2DED3"/>
            </a:solidFill>
            <a:prstDash val="solid"/>
          </a:ln>
        </p:spPr>
      </p:sp>
      <p:sp>
        <p:nvSpPr>
          <p:cNvPr id="13" name="Text 11"/>
          <p:cNvSpPr/>
          <p:nvPr/>
        </p:nvSpPr>
        <p:spPr>
          <a:xfrm>
            <a:off x="8252817" y="3968750"/>
            <a:ext cx="295191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A65200"/>
                </a:solidFill>
                <a:latin typeface="Space Grotesk" pitchFamily="34" charset="0"/>
                <a:ea typeface="Space Grotesk" pitchFamily="34" charset="-122"/>
                <a:cs typeface="Space Grotesk" pitchFamily="34" charset="-120"/>
              </a:rPr>
              <a:t>3</a:t>
            </a:r>
            <a:endParaRPr lang="en-US" sz="3600" dirty="0"/>
          </a:p>
        </p:txBody>
      </p:sp>
      <p:sp>
        <p:nvSpPr>
          <p:cNvPr id="14" name="Text 12"/>
          <p:cNvSpPr/>
          <p:nvPr/>
        </p:nvSpPr>
        <p:spPr>
          <a:xfrm>
            <a:off x="8252817" y="4527550"/>
            <a:ext cx="2951912"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Outcome</a:t>
            </a:r>
            <a:endParaRPr lang="en-US" sz="2200" dirty="0"/>
          </a:p>
        </p:txBody>
      </p:sp>
      <p:sp>
        <p:nvSpPr>
          <p:cNvPr id="15" name="Text 13"/>
          <p:cNvSpPr/>
          <p:nvPr/>
        </p:nvSpPr>
        <p:spPr>
          <a:xfrm>
            <a:off x="8252817" y="494665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Who drives the 4–8 PM peak. Pre-cool 25% earlier: peak −4.6%.</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406525"/>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8C28"/>
                </a:solidFill>
                <a:latin typeface="IBM Plex Sans" pitchFamily="34" charset="0"/>
                <a:ea typeface="IBM Plex Sans" pitchFamily="34" charset="-122"/>
                <a:cs typeface="IBM Plex Sans" pitchFamily="34" charset="-120"/>
              </a:rPr>
              <a:t>04 · BENCHMARK · TESTED ON REAL CAMPUS METERS</a:t>
            </a:r>
            <a:endParaRPr lang="en-US" sz="1200" dirty="0"/>
          </a:p>
        </p:txBody>
      </p:sp>
      <p:sp>
        <p:nvSpPr>
          <p:cNvPr id="3" name="Text 1"/>
          <p:cNvSpPr/>
          <p:nvPr>
            <p:ph type="title"/>
          </p:nvPr>
        </p:nvSpPr>
        <p:spPr>
          <a:xfrm>
            <a:off x="812800" y="1819275"/>
            <a:ext cx="10883392" cy="1930400"/>
          </a:xfrm>
          <a:prstGeom prst="rect">
            <a:avLst/>
          </a:prstGeom>
          <a:noFill/>
          <a:ln/>
        </p:spPr>
        <p:txBody>
          <a:bodyPr wrap="square" lIns="0" tIns="0" rIns="0" bIns="0" rtlCol="0" anchor="t">
            <a:normAutofit/>
          </a:bodyPr>
          <a:lstStyle/>
          <a:p>
            <a:pPr algn="l" indent="0" marL="0">
              <a:lnSpc>
                <a:spcPts val="15000"/>
              </a:lnSpc>
              <a:buNone/>
            </a:pPr>
            <a:r>
              <a:rPr lang="en-US" sz="15000" b="1" i="0" dirty="0">
                <a:solidFill>
                  <a:srgbClr val="F28C28"/>
                </a:solidFill>
                <a:latin typeface="Space Grotesk" pitchFamily="34" charset="0"/>
                <a:ea typeface="Space Grotesk" pitchFamily="34" charset="-122"/>
                <a:cs typeface="Space Grotesk" pitchFamily="34" charset="-120"/>
              </a:rPr>
              <a:t>13 of 14</a:t>
            </a:r>
            <a:endParaRPr lang="en-US" sz="15000" dirty="0"/>
          </a:p>
        </p:txBody>
      </p:sp>
      <p:sp>
        <p:nvSpPr>
          <p:cNvPr id="4" name="Text 2"/>
          <p:cNvSpPr/>
          <p:nvPr/>
        </p:nvSpPr>
        <p:spPr>
          <a:xfrm>
            <a:off x="812800" y="3927475"/>
            <a:ext cx="9810750" cy="1066800"/>
          </a:xfrm>
          <a:prstGeom prst="rect">
            <a:avLst/>
          </a:prstGeom>
          <a:noFill/>
          <a:ln/>
        </p:spPr>
        <p:txBody>
          <a:bodyPr wrap="square" lIns="0" tIns="0" rIns="0" bIns="0" rtlCol="0" anchor="t">
            <a:normAutofit/>
          </a:bodyPr>
          <a:lstStyle/>
          <a:p>
            <a:pPr algn="l" indent="0" marL="0">
              <a:lnSpc>
                <a:spcPts val="4140"/>
              </a:lnSpc>
              <a:buNone/>
            </a:pPr>
            <a:r>
              <a:rPr lang="en-US" sz="3600" dirty="0">
                <a:solidFill>
                  <a:srgbClr val="F7F5EF"/>
                </a:solidFill>
                <a:latin typeface="Space Grotesk" pitchFamily="34" charset="0"/>
                <a:ea typeface="Space Grotesk" pitchFamily="34" charset="-122"/>
                <a:cs typeface="Space Grotesk" pitchFamily="34" charset="-120"/>
              </a:rPr>
              <a:t>real-meter tests where we beat the flat bill split</a:t>
            </a:r>
            <a:endParaRPr lang="en-US" sz="3600" dirty="0"/>
          </a:p>
        </p:txBody>
      </p:sp>
      <p:sp>
        <p:nvSpPr>
          <p:cNvPr id="5" name="Text 3"/>
          <p:cNvSpPr/>
          <p:nvPr/>
        </p:nvSpPr>
        <p:spPr>
          <a:xfrm>
            <a:off x="812800" y="5172075"/>
            <a:ext cx="9810750"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8D6"/>
                </a:solidFill>
                <a:latin typeface="IBM Plex Sans" pitchFamily="34" charset="0"/>
                <a:ea typeface="IBM Plex Sans" pitchFamily="34" charset="-122"/>
                <a:cs typeface="IBM Plex Sans" pitchFamily="34" charset="-120"/>
              </a:rPr>
              <a:t>7 buildings on a US university campus, 2017 · Building Data Genome Project 2</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65200"/>
                </a:solidFill>
                <a:latin typeface="IBM Plex Sans" pitchFamily="34" charset="0"/>
                <a:ea typeface="IBM Plex Sans" pitchFamily="34" charset="-122"/>
                <a:cs typeface="IBM Plex Sans" pitchFamily="34" charset="-120"/>
              </a:rPr>
              <a:t>04 · BENCHMARK · REAL DATA, 30% OF DAYS HIDDEN</a:t>
            </a:r>
            <a:endParaRPr lang="en-US" sz="1200" dirty="0"/>
          </a:p>
        </p:txBody>
      </p:sp>
      <p:sp>
        <p:nvSpPr>
          <p:cNvPr id="3" name="Text 1"/>
          <p:cNvSpPr/>
          <p:nvPr>
            <p:ph type="title"/>
          </p:nvPr>
        </p:nvSpPr>
        <p:spPr>
          <a:xfrm>
            <a:off x="812800" y="1174750"/>
            <a:ext cx="10883392" cy="102870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Error drops by half on classrooms and the library</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44750"/>
          <a:ext cx="10553700" cy="3087688"/>
        </p:xfrm>
        <a:graphic>
          <a:graphicData uri="http://schemas.openxmlformats.org/drawingml/2006/table">
            <a:tbl>
              <a:tblPr/>
              <a:tblGrid>
                <a:gridCol w="4854702"/>
                <a:gridCol w="2849499"/>
                <a:gridCol w="2849499"/>
              </a:tblGrid>
              <a:tr h="38596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Meter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AB7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AB7AE"/>
                      </a:solidFill>
                      <a:prstDash val="solid"/>
                      <a:round/>
                      <a:headEnd type="none" w="med" len="med"/>
                      <a:tailEnd type="none" w="med" len="med"/>
                    </a:lnB>
                    <a:solidFill>
                      <a:srgbClr val="E9E5DA"/>
                    </a:solidFill>
                  </a:tcPr>
                </a:tc>
                <a:tc>
                  <a:txBody>
                    <a:bodyPr/>
                    <a:lstStyle/>
                    <a:p>
                      <a:pPr algn="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Tanacious error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7AE"/>
                      </a:solidFill>
                      <a:prstDash val="solid"/>
                      <a:round/>
                      <a:headEnd type="none" w="med" len="med"/>
                      <a:tailEnd type="none" w="med" len="med"/>
                    </a:lnL>
                    <a:lnR w="12700" cap="flat" cmpd="sng" algn="ctr">
                      <a:solidFill>
                        <a:srgbClr val="BAB7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AB7AE"/>
                      </a:solidFill>
                      <a:prstDash val="solid"/>
                      <a:round/>
                      <a:headEnd type="none" w="med" len="med"/>
                      <a:tailEnd type="none" w="med" len="med"/>
                    </a:lnB>
                    <a:solidFill>
                      <a:srgbClr val="E9E5DA"/>
                    </a:solidFill>
                  </a:tcPr>
                </a:tc>
                <a:tc>
                  <a:txBody>
                    <a:bodyPr/>
                    <a:lstStyle/>
                    <a:p>
                      <a:pPr algn="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Flat bill split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7AE"/>
                      </a:solidFill>
                      <a:prstDash val="solid"/>
                      <a:round/>
                      <a:headEnd type="none" w="med" len="med"/>
                      <a:tailEnd type="none" w="med" len="med"/>
                    </a:lnL>
                    <a:lnR w="12700" cap="flat" cmpd="sng" algn="ctr">
                      <a:solidFill>
                        <a:srgbClr val="BAB7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AB7AE"/>
                      </a:solidFill>
                      <a:prstDash val="solid"/>
                      <a:round/>
                      <a:headEnd type="none" w="med" len="med"/>
                      <a:tailEnd type="none" w="med" len="med"/>
                    </a:lnB>
                    <a:solidFill>
                      <a:srgbClr val="E9E5DA"/>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Classroom Nilda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AB7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9.4%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AB7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AB7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Classroom Long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13.4%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26.6%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Lab Andre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8.2%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Lab Theodore (nearly flat)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Dormitory Helen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9.2%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Dormitory Winifred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7.8%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Library Bart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21.4%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40.1%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WAPE on hidden hours, lower is better · Building Data Genome Project 2, CC BY-SA 4.0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65200"/>
                </a:solidFill>
                <a:latin typeface="IBM Plex Sans" pitchFamily="34" charset="0"/>
                <a:ea typeface="IBM Plex Sans" pitchFamily="34" charset="-122"/>
                <a:cs typeface="IBM Plex Sans" pitchFamily="34" charset="-120"/>
              </a:rPr>
              <a:t>04 · OUTCOMES · SYNTHETIC CAMPUS, HIDDEN TRUTH KNOWN</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The peak lands in the right place</a:t>
            </a:r>
            <a:endParaRPr lang="en-US" sz="3600" dirty="0"/>
          </a:p>
        </p:txBody>
      </p:sp>
      <p:sp>
        <p:nvSpPr>
          <p:cNvPr id="4" name="Shape 2"/>
          <p:cNvSpPr/>
          <p:nvPr/>
        </p:nvSpPr>
        <p:spPr>
          <a:xfrm>
            <a:off x="815975" y="4257675"/>
            <a:ext cx="3380284" cy="1784350"/>
          </a:xfrm>
          <a:prstGeom prst="roundRect">
            <a:avLst>
              <a:gd name="adj" fmla="val 5516"/>
            </a:avLst>
          </a:prstGeom>
          <a:solidFill>
            <a:srgbClr val="FFFFFD"/>
          </a:solidFill>
          <a:ln w="6350">
            <a:solidFill>
              <a:srgbClr val="E2DED3"/>
            </a:solidFill>
            <a:prstDash val="solid"/>
          </a:ln>
        </p:spPr>
      </p:sp>
      <p:sp>
        <p:nvSpPr>
          <p:cNvPr id="5" name="Text 3"/>
          <p:cNvSpPr/>
          <p:nvPr/>
        </p:nvSpPr>
        <p:spPr>
          <a:xfrm>
            <a:off x="1073150" y="4514850"/>
            <a:ext cx="295191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A65200"/>
                </a:solidFill>
                <a:latin typeface="Space Grotesk" pitchFamily="34" charset="0"/>
                <a:ea typeface="Space Grotesk" pitchFamily="34" charset="-122"/>
                <a:cs typeface="Space Grotesk" pitchFamily="34" charset="-120"/>
              </a:rPr>
              <a:t>0.2–4.6%</a:t>
            </a:r>
            <a:endParaRPr lang="en-US" sz="4800" dirty="0"/>
          </a:p>
        </p:txBody>
      </p:sp>
      <p:sp>
        <p:nvSpPr>
          <p:cNvPr id="6" name="Text 4"/>
          <p:cNvSpPr/>
          <p:nvPr/>
        </p:nvSpPr>
        <p:spPr>
          <a:xfrm>
            <a:off x="1073150" y="5226050"/>
            <a:ext cx="295191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error on 4–8 PM energy, per building</a:t>
            </a:r>
            <a:endParaRPr lang="en-US" sz="1600" dirty="0"/>
          </a:p>
        </p:txBody>
      </p:sp>
      <p:sp>
        <p:nvSpPr>
          <p:cNvPr id="7" name="Shape 5"/>
          <p:cNvSpPr/>
          <p:nvPr/>
        </p:nvSpPr>
        <p:spPr>
          <a:xfrm>
            <a:off x="4405809" y="4257675"/>
            <a:ext cx="3380284" cy="1784350"/>
          </a:xfrm>
          <a:prstGeom prst="roundRect">
            <a:avLst>
              <a:gd name="adj" fmla="val 5516"/>
            </a:avLst>
          </a:prstGeom>
          <a:solidFill>
            <a:srgbClr val="FFFFFD"/>
          </a:solidFill>
          <a:ln w="6350">
            <a:solidFill>
              <a:srgbClr val="E2DED3"/>
            </a:solidFill>
            <a:prstDash val="solid"/>
          </a:ln>
        </p:spPr>
      </p:sp>
      <p:sp>
        <p:nvSpPr>
          <p:cNvPr id="8" name="Text 6"/>
          <p:cNvSpPr/>
          <p:nvPr/>
        </p:nvSpPr>
        <p:spPr>
          <a:xfrm>
            <a:off x="4662984" y="4514850"/>
            <a:ext cx="295191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A65200"/>
                </a:solidFill>
                <a:latin typeface="Space Grotesk" pitchFamily="34" charset="0"/>
                <a:ea typeface="Space Grotesk" pitchFamily="34" charset="-122"/>
                <a:cs typeface="Space Grotesk" pitchFamily="34" charset="-120"/>
              </a:rPr>
              <a:t>4 of 5</a:t>
            </a:r>
            <a:endParaRPr lang="en-US" sz="4800" dirty="0"/>
          </a:p>
        </p:txBody>
      </p:sp>
      <p:sp>
        <p:nvSpPr>
          <p:cNvPr id="9" name="Text 7"/>
          <p:cNvSpPr/>
          <p:nvPr/>
        </p:nvSpPr>
        <p:spPr>
          <a:xfrm>
            <a:off x="4662984" y="5226050"/>
            <a:ext cx="295191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buildings with the peak hour exactly right</a:t>
            </a:r>
            <a:endParaRPr lang="en-US" sz="1600" dirty="0"/>
          </a:p>
        </p:txBody>
      </p:sp>
      <p:sp>
        <p:nvSpPr>
          <p:cNvPr id="10" name="Shape 8"/>
          <p:cNvSpPr/>
          <p:nvPr/>
        </p:nvSpPr>
        <p:spPr>
          <a:xfrm>
            <a:off x="7995642" y="4257675"/>
            <a:ext cx="3380284" cy="1784350"/>
          </a:xfrm>
          <a:prstGeom prst="roundRect">
            <a:avLst>
              <a:gd name="adj" fmla="val 5516"/>
            </a:avLst>
          </a:prstGeom>
          <a:solidFill>
            <a:srgbClr val="FFFFFD"/>
          </a:solidFill>
          <a:ln w="6350">
            <a:solidFill>
              <a:srgbClr val="E2DED3"/>
            </a:solidFill>
            <a:prstDash val="solid"/>
          </a:ln>
        </p:spPr>
      </p:sp>
      <p:sp>
        <p:nvSpPr>
          <p:cNvPr id="11" name="Text 9"/>
          <p:cNvSpPr/>
          <p:nvPr/>
        </p:nvSpPr>
        <p:spPr>
          <a:xfrm>
            <a:off x="8252817" y="4514850"/>
            <a:ext cx="295191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A65200"/>
                </a:solidFill>
                <a:latin typeface="Space Grotesk" pitchFamily="34" charset="0"/>
                <a:ea typeface="Space Grotesk" pitchFamily="34" charset="-122"/>
                <a:cs typeface="Space Grotesk" pitchFamily="34" charset="-120"/>
              </a:rPr>
              <a:t>7.5%</a:t>
            </a:r>
            <a:endParaRPr lang="en-US" sz="4800" dirty="0"/>
          </a:p>
        </p:txBody>
      </p:sp>
      <p:sp>
        <p:nvSpPr>
          <p:cNvPr id="12" name="Text 10"/>
          <p:cNvSpPr/>
          <p:nvPr/>
        </p:nvSpPr>
        <p:spPr>
          <a:xfrm>
            <a:off x="8252817" y="5226050"/>
            <a:ext cx="295191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error with 25% of days metered (flat split: 28.6%)</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65200"/>
                </a:solidFill>
                <a:latin typeface="IBM Plex Sans" pitchFamily="34" charset="0"/>
                <a:ea typeface="IBM Plex Sans" pitchFamily="34" charset="-122"/>
                <a:cs typeface="IBM Plex Sans" pitchFamily="34" charset="-120"/>
              </a:rPr>
              <a:t>05 · NOVELTY</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What’s new in our approach</a:t>
            </a:r>
            <a:endParaRPr lang="en-US" sz="3600" dirty="0"/>
          </a:p>
        </p:txBody>
      </p:sp>
      <p:sp>
        <p:nvSpPr>
          <p:cNvPr id="4" name="Shape 2"/>
          <p:cNvSpPr/>
          <p:nvPr/>
        </p:nvSpPr>
        <p:spPr>
          <a:xfrm>
            <a:off x="815975" y="2898775"/>
            <a:ext cx="5175250" cy="1466850"/>
          </a:xfrm>
          <a:prstGeom prst="roundRect">
            <a:avLst>
              <a:gd name="adj" fmla="val 6710"/>
            </a:avLst>
          </a:prstGeom>
          <a:solidFill>
            <a:srgbClr val="FFFFFD"/>
          </a:solidFill>
          <a:ln w="6350">
            <a:solidFill>
              <a:srgbClr val="E2DED3"/>
            </a:solidFill>
            <a:prstDash val="solid"/>
          </a:ln>
        </p:spPr>
      </p:sp>
      <p:sp>
        <p:nvSpPr>
          <p:cNvPr id="5" name="Text 3"/>
          <p:cNvSpPr/>
          <p:nvPr/>
        </p:nvSpPr>
        <p:spPr>
          <a:xfrm>
            <a:off x="1073150" y="3155950"/>
            <a:ext cx="4800727"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Locked to the bill</a:t>
            </a:r>
            <a:endParaRPr lang="en-US" sz="2200" dirty="0"/>
          </a:p>
        </p:txBody>
      </p:sp>
      <p:sp>
        <p:nvSpPr>
          <p:cNvPr id="6" name="Text 4"/>
          <p:cNvSpPr/>
          <p:nvPr/>
        </p:nvSpPr>
        <p:spPr>
          <a:xfrm>
            <a:off x="1073150" y="3549650"/>
            <a:ext cx="4800727"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Each month matches its bill within 0.01 kWh. Real readings stay unchanged.</a:t>
            </a:r>
            <a:endParaRPr lang="en-US" sz="1600" dirty="0"/>
          </a:p>
        </p:txBody>
      </p:sp>
      <p:sp>
        <p:nvSpPr>
          <p:cNvPr id="7" name="Shape 5"/>
          <p:cNvSpPr/>
          <p:nvPr/>
        </p:nvSpPr>
        <p:spPr>
          <a:xfrm>
            <a:off x="6200775" y="2898775"/>
            <a:ext cx="5175250" cy="1466850"/>
          </a:xfrm>
          <a:prstGeom prst="roundRect">
            <a:avLst>
              <a:gd name="adj" fmla="val 6710"/>
            </a:avLst>
          </a:prstGeom>
          <a:solidFill>
            <a:srgbClr val="FFFFFD"/>
          </a:solidFill>
          <a:ln w="6350">
            <a:solidFill>
              <a:srgbClr val="E2DED3"/>
            </a:solidFill>
            <a:prstDash val="solid"/>
          </a:ln>
        </p:spPr>
      </p:sp>
      <p:sp>
        <p:nvSpPr>
          <p:cNvPr id="8" name="Text 6"/>
          <p:cNvSpPr/>
          <p:nvPr/>
        </p:nvSpPr>
        <p:spPr>
          <a:xfrm>
            <a:off x="6457950" y="3155950"/>
            <a:ext cx="4800727"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Human knowledge as input</a:t>
            </a:r>
            <a:endParaRPr lang="en-US" sz="2200" dirty="0"/>
          </a:p>
        </p:txBody>
      </p:sp>
      <p:sp>
        <p:nvSpPr>
          <p:cNvPr id="9" name="Text 7"/>
          <p:cNvSpPr/>
          <p:nvPr/>
        </p:nvSpPr>
        <p:spPr>
          <a:xfrm>
            <a:off x="6457950" y="3549650"/>
            <a:ext cx="4800727"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No clock time, so it carries over to building types with no meter.</a:t>
            </a:r>
            <a:endParaRPr lang="en-US" sz="1600" dirty="0"/>
          </a:p>
        </p:txBody>
      </p:sp>
      <p:sp>
        <p:nvSpPr>
          <p:cNvPr id="10" name="Shape 8"/>
          <p:cNvSpPr/>
          <p:nvPr/>
        </p:nvSpPr>
        <p:spPr>
          <a:xfrm>
            <a:off x="815975" y="4575175"/>
            <a:ext cx="5175250" cy="1466850"/>
          </a:xfrm>
          <a:prstGeom prst="roundRect">
            <a:avLst>
              <a:gd name="adj" fmla="val 6710"/>
            </a:avLst>
          </a:prstGeom>
          <a:solidFill>
            <a:srgbClr val="FFFFFD"/>
          </a:solidFill>
          <a:ln w="6350">
            <a:solidFill>
              <a:srgbClr val="E2DED3"/>
            </a:solidFill>
            <a:prstDash val="solid"/>
          </a:ln>
        </p:spPr>
      </p:sp>
      <p:sp>
        <p:nvSpPr>
          <p:cNvPr id="11" name="Text 9"/>
          <p:cNvSpPr/>
          <p:nvPr/>
        </p:nvSpPr>
        <p:spPr>
          <a:xfrm>
            <a:off x="1073150" y="4832350"/>
            <a:ext cx="4800727"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Built to be checked</a:t>
            </a:r>
            <a:endParaRPr lang="en-US" sz="2200" dirty="0"/>
          </a:p>
        </p:txBody>
      </p:sp>
      <p:sp>
        <p:nvSpPr>
          <p:cNvPr id="12" name="Text 10"/>
          <p:cNvSpPr/>
          <p:nvPr/>
        </p:nvSpPr>
        <p:spPr>
          <a:xfrm>
            <a:off x="1073150" y="5226050"/>
            <a:ext cx="4800727"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Upload meters, hide readings, rebuild and score them in the dashboard.</a:t>
            </a:r>
            <a:endParaRPr lang="en-US" sz="1600" dirty="0"/>
          </a:p>
        </p:txBody>
      </p:sp>
      <p:sp>
        <p:nvSpPr>
          <p:cNvPr id="13" name="Shape 11"/>
          <p:cNvSpPr/>
          <p:nvPr/>
        </p:nvSpPr>
        <p:spPr>
          <a:xfrm>
            <a:off x="6200775" y="4575175"/>
            <a:ext cx="5175250" cy="1466850"/>
          </a:xfrm>
          <a:prstGeom prst="roundRect">
            <a:avLst>
              <a:gd name="adj" fmla="val 6710"/>
            </a:avLst>
          </a:prstGeom>
          <a:solidFill>
            <a:srgbClr val="FFFFFD"/>
          </a:solidFill>
          <a:ln w="6350">
            <a:solidFill>
              <a:srgbClr val="E2DED3"/>
            </a:solidFill>
            <a:prstDash val="solid"/>
          </a:ln>
        </p:spPr>
      </p:sp>
      <p:sp>
        <p:nvSpPr>
          <p:cNvPr id="14" name="Text 12"/>
          <p:cNvSpPr/>
          <p:nvPr/>
        </p:nvSpPr>
        <p:spPr>
          <a:xfrm>
            <a:off x="6457950" y="4832350"/>
            <a:ext cx="4800727"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No new hardware</a:t>
            </a:r>
            <a:endParaRPr lang="en-US" sz="2200" dirty="0"/>
          </a:p>
        </p:txBody>
      </p:sp>
      <p:sp>
        <p:nvSpPr>
          <p:cNvPr id="15" name="Text 13"/>
          <p:cNvSpPr/>
          <p:nvPr/>
        </p:nvSpPr>
        <p:spPr>
          <a:xfrm>
            <a:off x="6457950" y="5226050"/>
            <a:ext cx="4800727"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Monthly bills plus a few weeks of temporary pilot meters.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65200"/>
                </a:solidFill>
                <a:latin typeface="IBM Plex Sans" pitchFamily="34" charset="0"/>
                <a:ea typeface="IBM Plex Sans" pitchFamily="34" charset="-122"/>
                <a:cs typeface="IBM Plex Sans" pitchFamily="34" charset="-120"/>
              </a:rPr>
              <a:t>05 · LIMITS AND WHAT’S NEXT</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What it can’t do yet, and what’s next</a:t>
            </a:r>
            <a:endParaRPr lang="en-US" sz="3600" dirty="0"/>
          </a:p>
        </p:txBody>
      </p:sp>
      <p:sp>
        <p:nvSpPr>
          <p:cNvPr id="4" name="Shape 2"/>
          <p:cNvSpPr/>
          <p:nvPr/>
        </p:nvSpPr>
        <p:spPr>
          <a:xfrm>
            <a:off x="815975" y="3686175"/>
            <a:ext cx="5175250" cy="2355850"/>
          </a:xfrm>
          <a:prstGeom prst="roundRect">
            <a:avLst>
              <a:gd name="adj" fmla="val 4178"/>
            </a:avLst>
          </a:prstGeom>
          <a:solidFill>
            <a:srgbClr val="FFFFFD"/>
          </a:solidFill>
          <a:ln w="6350">
            <a:solidFill>
              <a:srgbClr val="E2DED3"/>
            </a:solidFill>
            <a:prstDash val="solid"/>
          </a:ln>
        </p:spPr>
      </p:sp>
      <p:sp>
        <p:nvSpPr>
          <p:cNvPr id="5" name="Text 3"/>
          <p:cNvSpPr/>
          <p:nvPr/>
        </p:nvSpPr>
        <p:spPr>
          <a:xfrm>
            <a:off x="1073150" y="3943350"/>
            <a:ext cx="4800727"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Today</a:t>
            </a:r>
            <a:endParaRPr lang="en-US" sz="2200" dirty="0"/>
          </a:p>
        </p:txBody>
      </p:sp>
      <p:sp>
        <p:nvSpPr>
          <p:cNvPr id="6" name="Text 4"/>
          <p:cNvSpPr/>
          <p:nvPr/>
        </p:nvSpPr>
        <p:spPr>
          <a:xfrm>
            <a:off x="1130808" y="4387850"/>
            <a:ext cx="4735449" cy="142240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Synthetic scores are optimistic, so we tested on real meters too</a:t>
            </a:r>
            <a:endParaRPr lang="en-US" sz="1600" dirty="0"/>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It doesn’t know another campus’s holidays</a:t>
            </a:r>
            <a:endParaRPr lang="en-US" sz="1600" dirty="0"/>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Simulate is a planning sketch, not a controls system</a:t>
            </a:r>
            <a:endParaRPr lang="en-US" sz="1600" dirty="0"/>
          </a:p>
        </p:txBody>
      </p:sp>
      <p:sp>
        <p:nvSpPr>
          <p:cNvPr id="7" name="Shape 5"/>
          <p:cNvSpPr/>
          <p:nvPr/>
        </p:nvSpPr>
        <p:spPr>
          <a:xfrm>
            <a:off x="6200775" y="3686175"/>
            <a:ext cx="5175250" cy="2355850"/>
          </a:xfrm>
          <a:prstGeom prst="roundRect">
            <a:avLst>
              <a:gd name="adj" fmla="val 4178"/>
            </a:avLst>
          </a:prstGeom>
          <a:solidFill>
            <a:srgbClr val="FFFFFD"/>
          </a:solidFill>
          <a:ln w="6350">
            <a:solidFill>
              <a:srgbClr val="E2DED3"/>
            </a:solidFill>
            <a:prstDash val="solid"/>
          </a:ln>
        </p:spPr>
      </p:sp>
      <p:sp>
        <p:nvSpPr>
          <p:cNvPr id="8" name="Text 6"/>
          <p:cNvSpPr/>
          <p:nvPr/>
        </p:nvSpPr>
        <p:spPr>
          <a:xfrm>
            <a:off x="6457950" y="3943350"/>
            <a:ext cx="4800727"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Next</a:t>
            </a:r>
            <a:endParaRPr lang="en-US" sz="2200" dirty="0"/>
          </a:p>
        </p:txBody>
      </p:sp>
      <p:sp>
        <p:nvSpPr>
          <p:cNvPr id="9" name="Text 7"/>
          <p:cNvSpPr/>
          <p:nvPr/>
        </p:nvSpPr>
        <p:spPr>
          <a:xfrm>
            <a:off x="6515608" y="4387850"/>
            <a:ext cx="4735449" cy="114300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Read each campus’s own calendar</a:t>
            </a:r>
            <a:endParaRPr lang="en-US" sz="1600" dirty="0"/>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Learn building schedules from data</a:t>
            </a:r>
            <a:endParaRPr lang="en-US" sz="1600" dirty="0"/>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Real billing periods, daylight saving, access control</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AE1"/>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65200"/>
                </a:solidFill>
                <a:latin typeface="IBM Plex Sans" pitchFamily="34" charset="0"/>
                <a:ea typeface="IBM Plex Sans" pitchFamily="34" charset="-122"/>
                <a:cs typeface="IBM Plex Sans" pitchFamily="34" charset="-120"/>
              </a:rPr>
              <a:t>06 · PROTOTYPE DEMONSTRATION</a:t>
            </a:r>
            <a:endParaRPr lang="en-US" sz="1200" dirty="0"/>
          </a:p>
        </p:txBody>
      </p:sp>
      <p:sp>
        <p:nvSpPr>
          <p:cNvPr id="3" name="Text 1"/>
          <p:cNvSpPr/>
          <p:nvPr>
            <p:ph type="title"/>
          </p:nvPr>
        </p:nvSpPr>
        <p:spPr>
          <a:xfrm>
            <a:off x="812800" y="11747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One dashboard, four questions</a:t>
            </a:r>
            <a:endParaRPr lang="en-US" sz="3600" dirty="0"/>
          </a:p>
        </p:txBody>
      </p:sp>
      <p:sp>
        <p:nvSpPr>
          <p:cNvPr id="4" name="Shape 2"/>
          <p:cNvSpPr/>
          <p:nvPr/>
        </p:nvSpPr>
        <p:spPr>
          <a:xfrm>
            <a:off x="815975" y="3178175"/>
            <a:ext cx="5175250" cy="1187450"/>
          </a:xfrm>
          <a:prstGeom prst="roundRect">
            <a:avLst>
              <a:gd name="adj" fmla="val 8289"/>
            </a:avLst>
          </a:prstGeom>
          <a:solidFill>
            <a:srgbClr val="FFFFFD"/>
          </a:solidFill>
          <a:ln w="6350">
            <a:solidFill>
              <a:srgbClr val="DAD5C7"/>
            </a:solidFill>
            <a:prstDash val="solid"/>
          </a:ln>
        </p:spPr>
      </p:sp>
      <p:sp>
        <p:nvSpPr>
          <p:cNvPr id="5" name="Text 3"/>
          <p:cNvSpPr/>
          <p:nvPr/>
        </p:nvSpPr>
        <p:spPr>
          <a:xfrm>
            <a:off x="1073150" y="3435350"/>
            <a:ext cx="4800727"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Campus overview</a:t>
            </a:r>
            <a:endParaRPr lang="en-US" sz="2200" dirty="0"/>
          </a:p>
        </p:txBody>
      </p:sp>
      <p:sp>
        <p:nvSpPr>
          <p:cNvPr id="6" name="Text 4"/>
          <p:cNvSpPr/>
          <p:nvPr/>
        </p:nvSpPr>
        <p:spPr>
          <a:xfrm>
            <a:off x="1073150" y="3829050"/>
            <a:ext cx="4800727"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Who drives the 4–8 PM peak?</a:t>
            </a:r>
            <a:endParaRPr lang="en-US" sz="1600" dirty="0"/>
          </a:p>
        </p:txBody>
      </p:sp>
      <p:sp>
        <p:nvSpPr>
          <p:cNvPr id="7" name="Shape 5"/>
          <p:cNvSpPr/>
          <p:nvPr/>
        </p:nvSpPr>
        <p:spPr>
          <a:xfrm>
            <a:off x="6200775" y="3178175"/>
            <a:ext cx="5175250" cy="1187450"/>
          </a:xfrm>
          <a:prstGeom prst="roundRect">
            <a:avLst>
              <a:gd name="adj" fmla="val 8289"/>
            </a:avLst>
          </a:prstGeom>
          <a:solidFill>
            <a:srgbClr val="FFFFFD"/>
          </a:solidFill>
          <a:ln w="6350">
            <a:solidFill>
              <a:srgbClr val="DAD5C7"/>
            </a:solidFill>
            <a:prstDash val="solid"/>
          </a:ln>
        </p:spPr>
      </p:sp>
      <p:sp>
        <p:nvSpPr>
          <p:cNvPr id="8" name="Text 6"/>
          <p:cNvSpPr/>
          <p:nvPr/>
        </p:nvSpPr>
        <p:spPr>
          <a:xfrm>
            <a:off x="6457950" y="3435350"/>
            <a:ext cx="4800727"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Building</a:t>
            </a:r>
            <a:endParaRPr lang="en-US" sz="2200" dirty="0"/>
          </a:p>
        </p:txBody>
      </p:sp>
      <p:sp>
        <p:nvSpPr>
          <p:cNvPr id="9" name="Text 7"/>
          <p:cNvSpPr/>
          <p:nvPr/>
        </p:nvSpPr>
        <p:spPr>
          <a:xfrm>
            <a:off x="6457950" y="3829050"/>
            <a:ext cx="4800727"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One curve, its tested accuracy and likely range</a:t>
            </a:r>
            <a:endParaRPr lang="en-US" sz="1600" dirty="0"/>
          </a:p>
        </p:txBody>
      </p:sp>
      <p:sp>
        <p:nvSpPr>
          <p:cNvPr id="10" name="Shape 8"/>
          <p:cNvSpPr/>
          <p:nvPr/>
        </p:nvSpPr>
        <p:spPr>
          <a:xfrm>
            <a:off x="815975" y="4575175"/>
            <a:ext cx="5175250" cy="1466850"/>
          </a:xfrm>
          <a:prstGeom prst="roundRect">
            <a:avLst>
              <a:gd name="adj" fmla="val 6710"/>
            </a:avLst>
          </a:prstGeom>
          <a:solidFill>
            <a:srgbClr val="FFFFFD"/>
          </a:solidFill>
          <a:ln w="6350">
            <a:solidFill>
              <a:srgbClr val="DAD5C7"/>
            </a:solidFill>
            <a:prstDash val="solid"/>
          </a:ln>
        </p:spPr>
      </p:sp>
      <p:sp>
        <p:nvSpPr>
          <p:cNvPr id="11" name="Text 9"/>
          <p:cNvSpPr/>
          <p:nvPr/>
        </p:nvSpPr>
        <p:spPr>
          <a:xfrm>
            <a:off x="1073150" y="4832350"/>
            <a:ext cx="4800727"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Simulate</a:t>
            </a:r>
            <a:endParaRPr lang="en-US" sz="2200" dirty="0"/>
          </a:p>
        </p:txBody>
      </p:sp>
      <p:sp>
        <p:nvSpPr>
          <p:cNvPr id="12" name="Text 10"/>
          <p:cNvSpPr/>
          <p:nvPr/>
        </p:nvSpPr>
        <p:spPr>
          <a:xfrm>
            <a:off x="1073150" y="5226050"/>
            <a:ext cx="4800727"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Pre-cool 25% earlier: campus peak −4.6% a month</a:t>
            </a:r>
            <a:endParaRPr lang="en-US" sz="1600" dirty="0"/>
          </a:p>
        </p:txBody>
      </p:sp>
      <p:sp>
        <p:nvSpPr>
          <p:cNvPr id="13" name="Shape 11"/>
          <p:cNvSpPr/>
          <p:nvPr/>
        </p:nvSpPr>
        <p:spPr>
          <a:xfrm>
            <a:off x="6200775" y="4575175"/>
            <a:ext cx="5175250" cy="1466850"/>
          </a:xfrm>
          <a:prstGeom prst="roundRect">
            <a:avLst>
              <a:gd name="adj" fmla="val 6710"/>
            </a:avLst>
          </a:prstGeom>
          <a:solidFill>
            <a:srgbClr val="FFFFFD"/>
          </a:solidFill>
          <a:ln w="6350">
            <a:solidFill>
              <a:srgbClr val="DAD5C7"/>
            </a:solidFill>
            <a:prstDash val="solid"/>
          </a:ln>
        </p:spPr>
      </p:sp>
      <p:sp>
        <p:nvSpPr>
          <p:cNvPr id="14" name="Text 12"/>
          <p:cNvSpPr/>
          <p:nvPr/>
        </p:nvSpPr>
        <p:spPr>
          <a:xfrm>
            <a:off x="6457950" y="4832350"/>
            <a:ext cx="4800727" cy="34290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pace Grotesk" pitchFamily="34" charset="0"/>
                <a:ea typeface="Space Grotesk" pitchFamily="34" charset="-122"/>
                <a:cs typeface="Space Grotesk" pitchFamily="34" charset="-120"/>
              </a:rPr>
              <a:t>Test on your data</a:t>
            </a:r>
            <a:endParaRPr lang="en-US" sz="2200" dirty="0"/>
          </a:p>
        </p:txBody>
      </p:sp>
      <p:sp>
        <p:nvSpPr>
          <p:cNvPr id="15" name="Text 13"/>
          <p:cNvSpPr/>
          <p:nvPr/>
        </p:nvSpPr>
        <p:spPr>
          <a:xfrm>
            <a:off x="6457950" y="5226050"/>
            <a:ext cx="4800727"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Upload meters, hide readings, check us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28C28"/>
          </a:solidFill>
          <a:ln/>
        </p:spPr>
      </p:sp>
      <p:sp>
        <p:nvSpPr>
          <p:cNvPr id="3" name="Text 1"/>
          <p:cNvSpPr/>
          <p:nvPr>
            <p:ph type="title"/>
          </p:nvPr>
        </p:nvSpPr>
        <p:spPr>
          <a:xfrm>
            <a:off x="812800" y="1990725"/>
            <a:ext cx="10137775" cy="2209800"/>
          </a:xfrm>
          <a:prstGeom prst="rect">
            <a:avLst/>
          </a:prstGeom>
          <a:noFill/>
          <a:ln/>
        </p:spPr>
        <p:txBody>
          <a:bodyPr wrap="square" lIns="0" tIns="0" rIns="0" bIns="0" rtlCol="0" anchor="t">
            <a:normAutofit/>
          </a:bodyPr>
          <a:lstStyle/>
          <a:p>
            <a:pPr algn="l" indent="0" marL="0">
              <a:lnSpc>
                <a:spcPts val="4320"/>
              </a:lnSpc>
              <a:buNone/>
            </a:pPr>
            <a:r>
              <a:rPr lang="en-US" sz="3600" b="0" i="0" dirty="0">
                <a:solidFill>
                  <a:srgbClr val="F7F5EF"/>
                </a:solidFill>
                <a:latin typeface="Space Grotesk" pitchFamily="34" charset="0"/>
                <a:ea typeface="Space Grotesk" pitchFamily="34" charset="-122"/>
                <a:cs typeface="Space Grotesk" pitchFamily="34" charset="-120"/>
              </a:rPr>
              <a:t>Monthly bills in. A 15-minute campus picture out. It matches the bill, never alters a real reading, and you can check it on your own data.</a:t>
            </a:r>
            <a:endParaRPr lang="en-US" sz="3600" dirty="0"/>
          </a:p>
        </p:txBody>
      </p:sp>
      <p:sp>
        <p:nvSpPr>
          <p:cNvPr id="4" name="Text 2"/>
          <p:cNvSpPr/>
          <p:nvPr/>
        </p:nvSpPr>
        <p:spPr>
          <a:xfrm>
            <a:off x="812800" y="4479925"/>
            <a:ext cx="10883392" cy="41275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8C28"/>
                </a:solidFill>
                <a:latin typeface="Space Grotesk" pitchFamily="34" charset="0"/>
                <a:ea typeface="Space Grotesk" pitchFamily="34" charset="-122"/>
                <a:cs typeface="Space Grotesk" pitchFamily="34" charset="-120"/>
              </a:rPr>
              <a:t>Tanacious · thank you</a:t>
            </a:r>
            <a:endParaRPr lang="en-US" sz="2200" dirty="0"/>
          </a:p>
        </p:txBody>
      </p:sp>
    </p:spTree>
  </p:cSld>
  <p:clrMapOvr>
    <a:masterClrMapping/>
  </p:clrMapOvr>
</p:sld>
</file>

<file path=ppt/theme/theme1.xml><?xml version="1.0" encoding="utf-8"?>
<a:theme xmlns:a="http://schemas.openxmlformats.org/drawingml/2006/main" name="Tanacious — Judges Deck">
  <a:themeElements>
    <a:clrScheme name="Tanacious — Judges Deck">
      <a:dk1>
        <a:srgbClr val="14213D"/>
      </a:dk1>
      <a:lt1>
        <a:srgbClr val="F7F5EF"/>
      </a:lt1>
      <a:dk2>
        <a:srgbClr val="4D566A"/>
      </a:dk2>
      <a:lt2>
        <a:srgbClr val="E0E0DD"/>
      </a:lt2>
      <a:accent1>
        <a:srgbClr val="A65200"/>
      </a:accent1>
      <a:accent2>
        <a:srgbClr val="F28C28"/>
      </a:accent2>
      <a:accent3>
        <a:srgbClr val="4A5568"/>
      </a:accent3>
      <a:accent4>
        <a:srgbClr val="BFC8D6"/>
      </a:accent4>
      <a:accent5>
        <a:srgbClr val="9AA0A6"/>
      </a:accent5>
      <a:accent6>
        <a:srgbClr val="6F7684"/>
      </a:accent6>
      <a:hlink>
        <a:srgbClr val="0563C1"/>
      </a:hlink>
      <a:folHlink>
        <a:srgbClr val="954F72"/>
      </a:folHlink>
    </a:clrScheme>
    <a:fontScheme name="Tanacious — Judges Deck">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Tanacious — Judges Deck</dc:title>
  <dc:subject/>
  <dc:creator/>
  <cp:lastModifiedBy/>
  <cp:revision>1</cp:revision>
  <dcterms:created xsi:type="dcterms:W3CDTF">2026-10-30T05:27:56Z</dcterms:created>
  <dcterms:modified xsi:type="dcterms:W3CDTF">2026-10-30T05:27:56Z</dcterms:modified>
</cp:coreProperties>
</file>