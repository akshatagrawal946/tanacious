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0"/>
  </p:notesMasterIdLst>
  <p:sldIdLst>
    <p:sldId id="256" r:id="rId2"/>
    <p:sldId id="257" r:id="rId3"/>
    <p:sldId id="258" r:id="rId4"/>
    <p:sldId id="259" r:id="rId5"/>
    <p:sldId id="260" r:id="rId6"/>
    <p:sldId id="261" r:id="rId7"/>
    <p:sldId id="262" r:id="rId8"/>
    <p:sldId id="263" r:id="rId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77195" autoAdjust="0"/>
  </p:normalViewPr>
  <p:slideViewPr>
    <p:cSldViewPr snapToGrid="0">
      <p:cViewPr>
        <p:scale>
          <a:sx n="75" d="100"/>
          <a:sy n="75" d="100"/>
        </p:scale>
        <p:origin x="946" y="11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
            </a:r>
            <a:br>
              <a:rPr dirty="0"/>
            </a:br>
            <a:r>
              <a:rPr dirty="0"/>
              <a:t>At 4 PM, campus demand starts rising while rooftop solar generation falls. Our prototype begins with incomplete building records and creates the evidence pipeline needed to understand the 4 to 8 PM window before anyone proposes an intervention.</a:t>
            </a:r>
          </a:p>
          <a:p>
            <a:endParaRPr lang="en-US" dirty="0" smtClean="0"/>
          </a:p>
          <a:p>
            <a:r>
              <a:rPr dirty="0" smtClean="0"/>
              <a:t>SOURCE </a:t>
            </a:r>
            <a:r>
              <a:rPr dirty="0"/>
              <a:t>/ DISCLOSURE</a:t>
            </a:r>
            <a:br>
              <a:rPr dirty="0"/>
            </a:br>
            <a:r>
              <a:rPr dirty="0"/>
              <a:t>Repository README: Campus Energy – Prototype 1; src/generate_data.py and notebooks/01_baseline_eda.ipynb are the implementation references. No model-accuracy or savings figures are claimed.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
            </a:r>
            <a:br>
              <a:rPr dirty="0"/>
            </a:br>
            <a:r>
              <a:rPr dirty="0"/>
              <a:t>A monthly bill can reconcile total energy used, but it cannot identify whether a hostel, lecture hall, or office causes demand at 4:15 PM. Without timing and building attribution, facilities cannot confidently target peak-management action.</a:t>
            </a:r>
          </a:p>
          <a:p>
            <a:endParaRPr lang="en-US" dirty="0" smtClean="0"/>
          </a:p>
          <a:p>
            <a:r>
              <a:rPr dirty="0" smtClean="0"/>
              <a:t>SOURCE </a:t>
            </a:r>
            <a:r>
              <a:rPr dirty="0"/>
              <a:t>/ DISCLOSURE</a:t>
            </a:r>
            <a:br>
              <a:rPr dirty="0"/>
            </a:br>
            <a:r>
              <a:rPr dirty="0"/>
              <a:t>Repository README: Campus Energy – Prototype 1; src/generate_data.py and notebooks/01_baseline_eda.ipynb are the implementation references. No model-accuracy or savings figures are claimed.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
            </a:r>
            <a:br>
              <a:rPr dirty="0"/>
            </a:br>
            <a:r>
              <a:rPr dirty="0"/>
              <a:t>We built a controlled data pipeline first: five buildings, hourly readings across June to August, deliberate multi-day gaps, and separate true monthly totals. The baseline EDA notebook resamples that time series and makes the 4 to 8 PM spike the specific question the team can inspect.</a:t>
            </a:r>
          </a:p>
          <a:p>
            <a:endParaRPr lang="en-US" dirty="0" smtClean="0"/>
          </a:p>
          <a:p>
            <a:r>
              <a:rPr dirty="0" smtClean="0"/>
              <a:t>SOURCE </a:t>
            </a:r>
            <a:r>
              <a:rPr dirty="0"/>
              <a:t>/ DISCLOSURE</a:t>
            </a:r>
            <a:br>
              <a:rPr dirty="0"/>
            </a:br>
            <a:r>
              <a:rPr dirty="0"/>
              <a:t>Repository README: Campus Energy – Prototype 1; src/generate_data.py and notebooks/01_baseline_eda.ipynb are the implementation references. No model-accuracy or savings figures are claimed.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
            </a:r>
            <a:br>
              <a:rPr dirty="0"/>
            </a:br>
            <a:r>
              <a:rPr dirty="0"/>
              <a:t>Our design combines detailed interval data with monthly totals that anchor buildings without a modern meter. The repository currently implements synthetic data and baseline analysis; the model-based imputation block is deliberately presented as the next build step rather than a completed AI claim</a:t>
            </a:r>
            <a:r>
              <a:rPr dirty="0" smtClean="0"/>
              <a:t>.</a:t>
            </a:r>
            <a:endParaRPr lang="en-US" dirty="0" smtClean="0"/>
          </a:p>
          <a:p>
            <a:endParaRPr dirty="0"/>
          </a:p>
          <a:p>
            <a:r>
              <a:rPr dirty="0" smtClean="0"/>
              <a:t>SOURCE </a:t>
            </a:r>
            <a:r>
              <a:rPr dirty="0"/>
              <a:t>/ DISCLOSURE</a:t>
            </a:r>
            <a:br>
              <a:rPr dirty="0"/>
            </a:br>
            <a:r>
              <a:rPr dirty="0"/>
              <a:t>Repository README: Campus Energy – Prototype 1; src/generate_data.py and notebooks/01_baseline_eda.ipynb are the implementation references. No model-accuracy or savings figures are claimed.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
            </a:r>
            <a:br>
              <a:rPr dirty="0"/>
            </a:br>
            <a:r>
              <a:rPr dirty="0"/>
              <a:t>The fastest credible demo follows the existing path: generate the synthetic raw CSV files, open the baseline notebook, and focus the audience on its 4 to 8 PM demand-spike view. Then point to the intentional missing spans and explain that the next model will infer an interval profile while respecting monthly billing </a:t>
            </a:r>
            <a:r>
              <a:rPr dirty="0" smtClean="0"/>
              <a:t>totals.</a:t>
            </a:r>
            <a:endParaRPr lang="en-US" dirty="0" smtClean="0"/>
          </a:p>
          <a:p>
            <a:r>
              <a:rPr dirty="0" smtClean="0"/>
              <a:t>SOURCE </a:t>
            </a:r>
            <a:r>
              <a:rPr dirty="0"/>
              <a:t>/ DISCLOSURE</a:t>
            </a:r>
            <a:br>
              <a:rPr dirty="0"/>
            </a:br>
            <a:r>
              <a:rPr dirty="0"/>
              <a:t>Repository README: Campus Energy – Prototype 1; src/generate_data.py and notebooks/01_baseline_eda.ipynb are the implementation references. No model-accuracy or savings figures are claimed.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smtClean="0"/>
              <a:t>The </a:t>
            </a:r>
            <a:r>
              <a:rPr dirty="0"/>
              <a:t>bill is not discarded. It becomes a hard reconciliation check that prevents a plausible-looking daily profile from drifting away from known monthly consumption. We will test the method by hiding selected intervals from known meters, reconstructing them, and comparing the estimate with held-out meter readings by building and peak window.</a:t>
            </a:r>
          </a:p>
          <a:p>
            <a:endParaRPr lang="en-US" dirty="0" smtClean="0"/>
          </a:p>
          <a:p>
            <a:r>
              <a:rPr dirty="0" smtClean="0"/>
              <a:t>SOURCE </a:t>
            </a:r>
            <a:r>
              <a:rPr dirty="0"/>
              <a:t>/ DISCLOSURE</a:t>
            </a:r>
            <a:br>
              <a:rPr dirty="0"/>
            </a:br>
            <a:r>
              <a:rPr dirty="0"/>
              <a:t>Repository README: Campus Energy – Prototype 1; src/generate_data.py and notebooks/01_baseline_eda.ipynb are the implementation references. No model-accuracy or savings figures are claimed.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
            </a:r>
            <a:br>
              <a:rPr dirty="0"/>
            </a:br>
            <a:r>
              <a:rPr dirty="0"/>
              <a:t>The immediate product is a more defensible view of the peak, rather than automatic switching. A facilities team can use it to prioritize investigation, schedule reviews, and metering upgrades; any load-control trial belongs in a later stage with facilities approval.</a:t>
            </a:r>
          </a:p>
          <a:p>
            <a:r>
              <a:rPr dirty="0" smtClean="0"/>
              <a:t>SOURCE </a:t>
            </a:r>
            <a:r>
              <a:rPr dirty="0"/>
              <a:t>/ DISCLOSURE</a:t>
            </a:r>
            <a:br>
              <a:rPr dirty="0"/>
            </a:br>
            <a:r>
              <a:rPr dirty="0"/>
              <a:t>Repository README: Campus Energy – Prototype 1; src/generate_data.py and notebooks/01_baseline_eda.ipynb are the implementation references. No model-accuracy or savings figures are claimed.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
            </a:r>
            <a:br>
              <a:rPr dirty="0"/>
            </a:br>
            <a:r>
              <a:rPr dirty="0"/>
              <a:t>The next milestone is not a bigger dashboard. It is a small, governed validation pilot that combines real interval readings, monthly bills, and building metadata. We are asking for the data access required to prove the inference before we recommend scheduling changes or other operational actions.</a:t>
            </a:r>
          </a:p>
          <a:p>
            <a:endParaRPr dirty="0"/>
          </a:p>
          <a:p>
            <a:r>
              <a:rPr dirty="0"/>
              <a:t>SOURCE / DISCLOSURE</a:t>
            </a:r>
            <a:br>
              <a:rPr dirty="0"/>
            </a:br>
            <a:r>
              <a:rPr dirty="0"/>
              <a:t>Repository README: Campus Energy – Prototype 1; src/generate_data.py and notebooks/01_baseline_eda.ipynb are the implementation references. No model-accuracy or savings figures are claimed.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B25909B1-7FBE-4468-928B-BFA995B46A3A}"/>
              </a:ext>
            </a:extLst>
          </p:cNvPr>
          <p:cNvSpPr>
            <a:spLocks noGrp="1"/>
          </p:cNvSpPr>
          <p:nvPr>
            <p:ph type="title"/>
          </p:nvPr>
        </p:nvSpPr>
        <p:spPr>
          <a:xfrm>
            <a:off x="1219200" y="2590800"/>
            <a:ext cx="9753600" cy="990600"/>
          </a:xfrm>
          <a:prstGeom prst="rect">
            <a:avLst/>
          </a:prstGeom>
          <a:noFill/>
          <a:ln>
            <a:noFill/>
            <a:prstDash val="solid"/>
          </a:ln>
        </p:spPr>
        <p:txBody>
          <a:bodyPr wrap="square" lIns="0" tIns="0" rIns="0" bIns="0" anchor="ctr">
            <a:normAutofit/>
          </a:bodyPr>
          <a:lstStyle>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2" name="Subtitle">
            <a:extLst>
              <a:ext uri="{FF2B5EF4-FFF2-40B4-BE49-F238E27FC236}">
                <a16:creationId xmlns:a16="http://schemas.microsoft.com/office/drawing/2014/main" id="{0EC41BE8-DE69-44E2-8499-5B0BBF8FC190}"/>
              </a:ext>
            </a:extLst>
          </p:cNvPr>
          <p:cNvSpPr>
            <a:spLocks noGrp="1"/>
          </p:cNvSpPr>
          <p:nvPr>
            <p:ph type="subTitle" idx="1"/>
          </p:nvPr>
        </p:nvSpPr>
        <p:spPr>
          <a:xfrm>
            <a:off x="1828800" y="3771900"/>
            <a:ext cx="8534400" cy="762000"/>
          </a:xfrm>
          <a:prstGeom prst="rect">
            <a:avLst/>
          </a:prstGeom>
          <a:noFill/>
          <a:ln>
            <a:noFill/>
            <a:prstDash val="solid"/>
          </a:ln>
        </p:spPr>
        <p:txBody>
          <a:bodyPr wrap="square" lIns="0" tIns="0" rIns="0" bIns="0" anchor="ctr">
            <a:normAutofit/>
          </a:bodyPr>
          <a:lstStyle>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cSld name="Section Header">
    <p:spTree>
      <p:nvGrpSpPr>
        <p:cNvPr id="1" name=""/>
        <p:cNvGrpSpPr/>
        <p:nvPr/>
      </p:nvGrpSpPr>
      <p:grpSpPr>
        <a:xfrm>
          <a:off x="0" y="0"/>
          <a:ext cx="0" cy="0"/>
          <a:chOff x="0" y="0"/>
          <a:chExt cx="0" cy="0"/>
        </a:xfrm>
      </p:grpSpPr>
      <p:sp>
        <p:nvSpPr>
          <p:cNvPr id="2" name="Section title">
            <a:extLst>
              <a:ext uri="{FF2B5EF4-FFF2-40B4-BE49-F238E27FC236}">
                <a16:creationId xmlns:a16="http://schemas.microsoft.com/office/drawing/2014/main" id="{4E582765-CCB2-4E5C-8AB3-E56A32243EE0}"/>
              </a:ext>
            </a:extLst>
          </p:cNvPr>
          <p:cNvSpPr>
            <a:spLocks noGrp="1"/>
          </p:cNvSpPr>
          <p:nvPr>
            <p:ph type="title"/>
          </p:nvPr>
        </p:nvSpPr>
        <p:spPr>
          <a:xfrm>
            <a:off x="1219200" y="2857500"/>
            <a:ext cx="9753600" cy="1143000"/>
          </a:xfrm>
          <a:prstGeom prst="rect">
            <a:avLst/>
          </a:prstGeom>
          <a:noFill/>
          <a:ln>
            <a:noFill/>
            <a:prstDash val="solid"/>
          </a:ln>
        </p:spPr>
        <p:txBody>
          <a:bodyPr wrap="square" lIns="0" tIns="0" rIns="0" bIns="0" anchor="ctr">
            <a:normAutofit/>
          </a:bodyPr>
          <a:lstStyle>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cSld name="Title and Body">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0E5A092D-F51F-410A-BFA7-034FF1DA6588}"/>
              </a:ext>
            </a:extLst>
          </p:cNvPr>
          <p:cNvSpPr>
            <a:spLocks noGrp="1"/>
          </p:cNvSpPr>
          <p:nvPr>
            <p:ph type="title"/>
          </p:nvPr>
        </p:nvSpPr>
        <p:spPr>
          <a:xfrm>
            <a:off x="685800" y="533400"/>
            <a:ext cx="10820400" cy="838200"/>
          </a:xfrm>
          <a:prstGeom prst="rect">
            <a:avLst/>
          </a:prstGeom>
          <a:noFill/>
          <a:ln>
            <a:noFill/>
            <a:prstDash val="solid"/>
          </a:ln>
        </p:spPr>
        <p:txBody>
          <a:bodyPr wrap="square" lIns="0" tIns="0" rIns="0" bIns="0" anchor="t">
            <a:normAutofit/>
          </a:bodyPr>
          <a:lstStyle>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2" name="Body">
            <a:extLst>
              <a:ext uri="{FF2B5EF4-FFF2-40B4-BE49-F238E27FC236}">
                <a16:creationId xmlns:a16="http://schemas.microsoft.com/office/drawing/2014/main" id="{234AC9C7-D078-4CC4-B351-9996454A99EA}"/>
              </a:ext>
            </a:extLst>
          </p:cNvPr>
          <p:cNvSpPr>
            <a:spLocks noGrp="1"/>
          </p:cNvSpPr>
          <p:nvPr>
            <p:ph type="body" idx="1"/>
          </p:nvPr>
        </p:nvSpPr>
        <p:spPr>
          <a:xfrm>
            <a:off x="685800" y="1905000"/>
            <a:ext cx="10820400" cy="4267200"/>
          </a:xfrm>
          <a:prstGeom prst="rect">
            <a:avLst/>
          </a:prstGeom>
          <a:noFill/>
          <a:ln>
            <a:noFill/>
            <a:prstDash val="solid"/>
          </a:ln>
        </p:spPr>
        <p:txBody>
          <a:bodyPr wrap="square" lIns="0" tIns="0" rIns="0" bIns="0" anchor="t">
            <a:normAutofit/>
          </a:bodyPr>
          <a:lstStyle>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cSld name="Title and Two Column">
    <p:spTree>
      <p:nvGrpSpPr>
        <p:cNvPr id="1" name=""/>
        <p:cNvGrpSpPr/>
        <p:nvPr/>
      </p:nvGrpSpPr>
      <p:grpSpPr>
        <a:xfrm>
          <a:off x="0" y="0"/>
          <a:ext cx="0" cy="0"/>
          <a:chOff x="0" y="0"/>
          <a:chExt cx="0" cy="0"/>
        </a:xfrm>
      </p:grpSpPr>
      <p:sp>
        <p:nvSpPr>
          <p:cNvPr id="4" name="Title">
            <a:extLst>
              <a:ext uri="{FF2B5EF4-FFF2-40B4-BE49-F238E27FC236}">
                <a16:creationId xmlns:a16="http://schemas.microsoft.com/office/drawing/2014/main" id="{4B0944C9-2B84-4A6A-8EBC-3A1366F278F9}"/>
              </a:ext>
            </a:extLst>
          </p:cNvPr>
          <p:cNvSpPr>
            <a:spLocks noGrp="1"/>
          </p:cNvSpPr>
          <p:nvPr>
            <p:ph type="title"/>
          </p:nvPr>
        </p:nvSpPr>
        <p:spPr>
          <a:xfrm>
            <a:off x="685800" y="533400"/>
            <a:ext cx="10820400" cy="838200"/>
          </a:xfrm>
          <a:prstGeom prst="rect">
            <a:avLst/>
          </a:prstGeom>
          <a:noFill/>
          <a:ln>
            <a:noFill/>
            <a:prstDash val="solid"/>
          </a:ln>
        </p:spPr>
        <p:txBody>
          <a:bodyPr wrap="square" lIns="0" tIns="0" rIns="0" bIns="0" anchor="t">
            <a:normAutofit/>
          </a:bodyPr>
          <a:lstStyle>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2" name="Left column">
            <a:extLst>
              <a:ext uri="{FF2B5EF4-FFF2-40B4-BE49-F238E27FC236}">
                <a16:creationId xmlns:a16="http://schemas.microsoft.com/office/drawing/2014/main" id="{BE7919CD-5014-4A6D-9218-7FA249C45C1E}"/>
              </a:ext>
            </a:extLst>
          </p:cNvPr>
          <p:cNvSpPr>
            <a:spLocks noGrp="1"/>
          </p:cNvSpPr>
          <p:nvPr>
            <p:ph type="body" idx="1"/>
          </p:nvPr>
        </p:nvSpPr>
        <p:spPr>
          <a:xfrm>
            <a:off x="685800" y="1905000"/>
            <a:ext cx="5029200" cy="4267200"/>
          </a:xfrm>
          <a:prstGeom prst="rect">
            <a:avLst/>
          </a:prstGeom>
          <a:noFill/>
          <a:ln>
            <a:noFill/>
            <a:prstDash val="solid"/>
          </a:ln>
        </p:spPr>
        <p:txBody>
          <a:bodyPr wrap="square" lIns="0" tIns="0" rIns="0" bIns="0" anchor="t">
            <a:normAutofit/>
          </a:bodyPr>
          <a:lstStyle>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a:endParaRPr/>
          </a:p>
        </p:txBody>
      </p:sp>
      <p:sp>
        <p:nvSpPr>
          <p:cNvPr id="3" name="Right column">
            <a:extLst>
              <a:ext uri="{FF2B5EF4-FFF2-40B4-BE49-F238E27FC236}">
                <a16:creationId xmlns:a16="http://schemas.microsoft.com/office/drawing/2014/main" id="{E7E81349-BCB7-4D76-A7B3-3A53677E5F69}"/>
              </a:ext>
            </a:extLst>
          </p:cNvPr>
          <p:cNvSpPr>
            <a:spLocks noGrp="1"/>
          </p:cNvSpPr>
          <p:nvPr>
            <p:ph type="body" idx="2"/>
          </p:nvPr>
        </p:nvSpPr>
        <p:spPr>
          <a:xfrm>
            <a:off x="6477000" y="1905000"/>
            <a:ext cx="5029200" cy="4267200"/>
          </a:xfrm>
          <a:prstGeom prst="rect">
            <a:avLst/>
          </a:prstGeom>
          <a:noFill/>
          <a:ln>
            <a:noFill/>
            <a:prstDash val="solid"/>
          </a:ln>
        </p:spPr>
        <p:txBody>
          <a:bodyPr wrap="square" lIns="0" tIns="0" rIns="0" bIns="0" anchor="t">
            <a:normAutofit/>
          </a:bodyPr>
          <a:lstStyle>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cSld name="Title and One Column">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74FD5544-FFA2-4295-AB9B-F7CBC73C4303}"/>
              </a:ext>
            </a:extLst>
          </p:cNvPr>
          <p:cNvSpPr>
            <a:spLocks noGrp="1"/>
          </p:cNvSpPr>
          <p:nvPr>
            <p:ph type="title"/>
          </p:nvPr>
        </p:nvSpPr>
        <p:spPr>
          <a:xfrm>
            <a:off x="685800" y="533400"/>
            <a:ext cx="10820400" cy="838200"/>
          </a:xfrm>
          <a:prstGeom prst="rect">
            <a:avLst/>
          </a:prstGeom>
          <a:noFill/>
          <a:ln>
            <a:noFill/>
            <a:prstDash val="solid"/>
          </a:ln>
        </p:spPr>
        <p:txBody>
          <a:bodyPr wrap="square" lIns="0" tIns="0" rIns="0" bIns="0" anchor="t">
            <a:normAutofit/>
          </a:bodyPr>
          <a:lstStyle>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2" name="Left column">
            <a:extLst>
              <a:ext uri="{FF2B5EF4-FFF2-40B4-BE49-F238E27FC236}">
                <a16:creationId xmlns:a16="http://schemas.microsoft.com/office/drawing/2014/main" id="{223A0814-35F3-49A3-9B01-B6102AF93F08}"/>
              </a:ext>
            </a:extLst>
          </p:cNvPr>
          <p:cNvSpPr>
            <a:spLocks noGrp="1"/>
          </p:cNvSpPr>
          <p:nvPr>
            <p:ph type="body" idx="1"/>
          </p:nvPr>
        </p:nvSpPr>
        <p:spPr>
          <a:xfrm>
            <a:off x="685800" y="1905000"/>
            <a:ext cx="5029200" cy="4267200"/>
          </a:xfrm>
          <a:prstGeom prst="rect">
            <a:avLst/>
          </a:prstGeom>
          <a:noFill/>
          <a:ln>
            <a:noFill/>
            <a:prstDash val="solid"/>
          </a:ln>
        </p:spPr>
        <p:txBody>
          <a:bodyPr wrap="square" lIns="0" tIns="0" rIns="0" bIns="0" anchor="t">
            <a:normAutofit/>
          </a:bodyPr>
          <a:lstStyle>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6.xml"/><Relationship Id="rId5" Type="http://schemas.openxmlformats.org/officeDocument/2006/relationships/image" Target="../media/image3.pn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02A43"/>
        </a:solidFill>
        <a:effectLst/>
      </p:bgPr>
    </p:bg>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C0F22895-DCE1-4DD5-AEF0-F303F3B6D5AF}"/>
              </a:ext>
            </a:extLst>
          </p:cNvPr>
          <p:cNvSpPr>
            <a:spLocks noGrp="1"/>
          </p:cNvSpPr>
          <p:nvPr/>
        </p:nvSpPr>
        <p:spPr>
          <a:xfrm>
            <a:off x="685800" y="762000"/>
            <a:ext cx="3429000" cy="228600"/>
          </a:xfrm>
          <a:prstGeom prst="rect">
            <a:avLst/>
          </a:prstGeom>
          <a:noFill/>
          <a:ln w="0">
            <a:noFill/>
            <a:prstDash val="solid"/>
          </a:ln>
        </p:spPr>
        <p:txBody>
          <a:bodyPr anchor="ctr"/>
          <a:lstStyle>
            <a:defPPr>
              <a:defRPr sz="1125" b="1">
                <a:solidFill>
                  <a:srgbClr val="00A6A6"/>
                </a:solidFill>
              </a:defRPr>
            </a:defPPr>
          </a:lstStyle>
          <a:p>
            <a:pPr>
              <a:defRPr sz="1125" b="1">
                <a:solidFill>
                  <a:srgbClr val="00A6A6"/>
                </a:solidFill>
              </a:defRPr>
            </a:pPr>
            <a:r>
              <a:rPr sz="1125" b="1">
                <a:solidFill>
                  <a:srgbClr val="00A6A6"/>
                </a:solidFill>
              </a:rPr>
              <a:t>CAMPUS ENERGY</a:t>
            </a:r>
          </a:p>
        </p:txBody>
      </p:sp>
      <p:sp>
        <p:nvSpPr>
          <p:cNvPr id="2" name="Rectangle 1">
            <a:extLst>
              <a:ext uri="{FF2B5EF4-FFF2-40B4-BE49-F238E27FC236}">
                <a16:creationId xmlns:a16="http://schemas.microsoft.com/office/drawing/2014/main" id="{854A5D8D-9ABA-4CB3-B2DD-9236B70A34F6}"/>
              </a:ext>
            </a:extLst>
          </p:cNvPr>
          <p:cNvSpPr>
            <a:spLocks noGrp="1"/>
          </p:cNvSpPr>
          <p:nvPr/>
        </p:nvSpPr>
        <p:spPr>
          <a:xfrm>
            <a:off x="685800" y="1333500"/>
            <a:ext cx="6858000" cy="1162050"/>
          </a:xfrm>
          <a:prstGeom prst="rect">
            <a:avLst/>
          </a:prstGeom>
          <a:noFill/>
          <a:ln w="0">
            <a:noFill/>
            <a:prstDash val="solid"/>
          </a:ln>
        </p:spPr>
        <p:txBody>
          <a:bodyPr anchor="ctr"/>
          <a:lstStyle>
            <a:defPPr>
              <a:defRPr sz="4050" b="1">
                <a:solidFill>
                  <a:srgbClr val="FFFFFF"/>
                </a:solidFill>
              </a:defRPr>
            </a:defPPr>
          </a:lstStyle>
          <a:p>
            <a:pPr>
              <a:defRPr sz="4050" b="1">
                <a:solidFill>
                  <a:srgbClr val="FFFFFF"/>
                </a:solidFill>
              </a:defRPr>
            </a:pPr>
            <a:r>
              <a:rPr sz="4050" b="1">
                <a:solidFill>
                  <a:srgbClr val="FFFFFF"/>
                </a:solidFill>
              </a:rPr>
              <a:t>Make the 4 PM spike visible</a:t>
            </a:r>
          </a:p>
        </p:txBody>
      </p:sp>
      <p:sp>
        <p:nvSpPr>
          <p:cNvPr id="3" name="Rectangle 2">
            <a:extLst>
              <a:ext uri="{FF2B5EF4-FFF2-40B4-BE49-F238E27FC236}">
                <a16:creationId xmlns:a16="http://schemas.microsoft.com/office/drawing/2014/main" id="{A1CE2DC7-E395-4801-8973-7D54DA282A70}"/>
              </a:ext>
            </a:extLst>
          </p:cNvPr>
          <p:cNvSpPr>
            <a:spLocks noGrp="1"/>
          </p:cNvSpPr>
          <p:nvPr/>
        </p:nvSpPr>
        <p:spPr>
          <a:xfrm>
            <a:off x="685800" y="2714625"/>
            <a:ext cx="6191250" cy="876300"/>
          </a:xfrm>
          <a:prstGeom prst="rect">
            <a:avLst/>
          </a:prstGeom>
          <a:noFill/>
          <a:ln w="0">
            <a:noFill/>
            <a:prstDash val="solid"/>
          </a:ln>
        </p:spPr>
        <p:txBody>
          <a:bodyPr anchor="ctr"/>
          <a:lstStyle>
            <a:defPPr>
              <a:defRPr sz="1800" b="0">
                <a:solidFill>
                  <a:srgbClr val="D9E2EC"/>
                </a:solidFill>
              </a:defRPr>
            </a:defPPr>
          </a:lstStyle>
          <a:p>
            <a:pPr>
              <a:defRPr sz="1800" b="0">
                <a:solidFill>
                  <a:srgbClr val="D9E2EC"/>
                </a:solidFill>
              </a:defRPr>
            </a:pPr>
            <a:r>
              <a:rPr sz="1800" b="0">
                <a:solidFill>
                  <a:srgbClr val="D9E2EC"/>
                </a:solidFill>
              </a:rPr>
              <a:t>A data-integration and load-imputation prototype that turns monthly-only building records into a testable view of the campus evening peak.</a:t>
            </a:r>
          </a:p>
        </p:txBody>
      </p:sp>
      <p:sp>
        <p:nvSpPr>
          <p:cNvPr id="4" name="Rectangle 3">
            <a:extLst>
              <a:ext uri="{FF2B5EF4-FFF2-40B4-BE49-F238E27FC236}">
                <a16:creationId xmlns:a16="http://schemas.microsoft.com/office/drawing/2014/main" id="{B0CBB661-5B60-44E7-8CD6-EAA5642F6DA0}"/>
              </a:ext>
            </a:extLst>
          </p:cNvPr>
          <p:cNvSpPr>
            <a:spLocks noGrp="1"/>
          </p:cNvSpPr>
          <p:nvPr/>
        </p:nvSpPr>
        <p:spPr>
          <a:xfrm>
            <a:off x="685800" y="4476750"/>
            <a:ext cx="4286250" cy="38100"/>
          </a:xfrm>
          <a:prstGeom prst="rect">
            <a:avLst/>
          </a:prstGeom>
          <a:solidFill>
            <a:srgbClr val="00A6A6"/>
          </a:solidFill>
          <a:ln w="0">
            <a:noFill/>
            <a:prstDash val="solid"/>
          </a:ln>
        </p:spPr>
      </p:sp>
      <p:sp>
        <p:nvSpPr>
          <p:cNvPr id="5" name="Rectangle 4">
            <a:extLst>
              <a:ext uri="{FF2B5EF4-FFF2-40B4-BE49-F238E27FC236}">
                <a16:creationId xmlns:a16="http://schemas.microsoft.com/office/drawing/2014/main" id="{A0809BCA-33D1-4F75-9C49-3007F90A1CD0}"/>
              </a:ext>
            </a:extLst>
          </p:cNvPr>
          <p:cNvSpPr>
            <a:spLocks noGrp="1"/>
          </p:cNvSpPr>
          <p:nvPr/>
        </p:nvSpPr>
        <p:spPr>
          <a:xfrm>
            <a:off x="685800" y="4762500"/>
            <a:ext cx="3619500" cy="285750"/>
          </a:xfrm>
          <a:prstGeom prst="rect">
            <a:avLst/>
          </a:prstGeom>
          <a:noFill/>
          <a:ln w="0">
            <a:noFill/>
            <a:prstDash val="solid"/>
          </a:ln>
        </p:spPr>
        <p:txBody>
          <a:bodyPr anchor="ctr"/>
          <a:lstStyle>
            <a:defPPr>
              <a:defRPr sz="1350" b="1">
                <a:solidFill>
                  <a:srgbClr val="FFFFFF"/>
                </a:solidFill>
              </a:defRPr>
            </a:defPPr>
          </a:lstStyle>
          <a:p>
            <a:pPr>
              <a:defRPr sz="1350" b="1">
                <a:solidFill>
                  <a:srgbClr val="FFFFFF"/>
                </a:solidFill>
              </a:defRPr>
            </a:pPr>
            <a:r>
              <a:rPr sz="1350" b="1">
                <a:solidFill>
                  <a:srgbClr val="FFFFFF"/>
                </a:solidFill>
              </a:rPr>
              <a:t>AI Synergy Hackathon 2026</a:t>
            </a:r>
          </a:p>
        </p:txBody>
      </p:sp>
      <p:sp>
        <p:nvSpPr>
          <p:cNvPr id="6" name="Rectangle 5">
            <a:extLst>
              <a:ext uri="{FF2B5EF4-FFF2-40B4-BE49-F238E27FC236}">
                <a16:creationId xmlns:a16="http://schemas.microsoft.com/office/drawing/2014/main" id="{E5DD711C-1208-448F-8469-609D5F0A95D2}"/>
              </a:ext>
            </a:extLst>
          </p:cNvPr>
          <p:cNvSpPr>
            <a:spLocks noGrp="1"/>
          </p:cNvSpPr>
          <p:nvPr/>
        </p:nvSpPr>
        <p:spPr>
          <a:xfrm>
            <a:off x="685800" y="5124450"/>
            <a:ext cx="3619500" cy="266700"/>
          </a:xfrm>
          <a:prstGeom prst="rect">
            <a:avLst/>
          </a:prstGeom>
          <a:noFill/>
          <a:ln w="0">
            <a:noFill/>
            <a:prstDash val="solid"/>
          </a:ln>
        </p:spPr>
        <p:txBody>
          <a:bodyPr anchor="ctr"/>
          <a:lstStyle>
            <a:defPPr>
              <a:defRPr sz="1350" b="0">
                <a:solidFill>
                  <a:srgbClr val="D9E2EC"/>
                </a:solidFill>
              </a:defRPr>
            </a:defPPr>
          </a:lstStyle>
          <a:p>
            <a:pPr>
              <a:defRPr sz="1350" b="0">
                <a:solidFill>
                  <a:srgbClr val="D9E2EC"/>
                </a:solidFill>
              </a:defRPr>
            </a:pPr>
            <a:r>
              <a:rPr sz="1350" b="0">
                <a:solidFill>
                  <a:srgbClr val="D9E2EC"/>
                </a:solidFill>
              </a:rPr>
              <a:t>The Missing Meter</a:t>
            </a:r>
          </a:p>
        </p:txBody>
      </p:sp>
      <p:sp>
        <p:nvSpPr>
          <p:cNvPr id="7" name="Oval 6">
            <a:extLst>
              <a:ext uri="{FF2B5EF4-FFF2-40B4-BE49-F238E27FC236}">
                <a16:creationId xmlns:a16="http://schemas.microsoft.com/office/drawing/2014/main" id="{7AFF83B3-4186-4501-AB25-86EAD1571F9A}"/>
              </a:ext>
            </a:extLst>
          </p:cNvPr>
          <p:cNvSpPr>
            <a:spLocks noGrp="1"/>
          </p:cNvSpPr>
          <p:nvPr/>
        </p:nvSpPr>
        <p:spPr>
          <a:xfrm>
            <a:off x="9029700" y="1123950"/>
            <a:ext cx="952500" cy="952500"/>
          </a:xfrm>
          <a:prstGeom prst="ellipse">
            <a:avLst/>
          </a:prstGeom>
          <a:solidFill>
            <a:srgbClr val="F2B134"/>
          </a:solidFill>
          <a:ln w="0">
            <a:noFill/>
            <a:prstDash val="solid"/>
          </a:ln>
        </p:spPr>
      </p:sp>
      <p:sp>
        <p:nvSpPr>
          <p:cNvPr id="8" name="Rectangle 7">
            <a:extLst>
              <a:ext uri="{FF2B5EF4-FFF2-40B4-BE49-F238E27FC236}">
                <a16:creationId xmlns:a16="http://schemas.microsoft.com/office/drawing/2014/main" id="{2153C74B-8625-4005-9BFA-43CE8B8F7889}"/>
              </a:ext>
            </a:extLst>
          </p:cNvPr>
          <p:cNvSpPr>
            <a:spLocks noGrp="1"/>
          </p:cNvSpPr>
          <p:nvPr/>
        </p:nvSpPr>
        <p:spPr>
          <a:xfrm>
            <a:off x="7810500" y="3505200"/>
            <a:ext cx="1047750" cy="1619250"/>
          </a:xfrm>
          <a:prstGeom prst="rect">
            <a:avLst/>
          </a:prstGeom>
          <a:solidFill>
            <a:srgbClr val="00A6A6"/>
          </a:solidFill>
          <a:ln w="0">
            <a:noFill/>
            <a:prstDash val="solid"/>
          </a:ln>
        </p:spPr>
      </p:sp>
      <p:sp>
        <p:nvSpPr>
          <p:cNvPr id="9" name="Rectangle 8">
            <a:extLst>
              <a:ext uri="{FF2B5EF4-FFF2-40B4-BE49-F238E27FC236}">
                <a16:creationId xmlns:a16="http://schemas.microsoft.com/office/drawing/2014/main" id="{423E92FD-07D5-4E6E-9066-259C13B936F8}"/>
              </a:ext>
            </a:extLst>
          </p:cNvPr>
          <p:cNvSpPr>
            <a:spLocks noGrp="1"/>
          </p:cNvSpPr>
          <p:nvPr/>
        </p:nvSpPr>
        <p:spPr>
          <a:xfrm>
            <a:off x="9048750" y="2838450"/>
            <a:ext cx="1238250" cy="2286000"/>
          </a:xfrm>
          <a:prstGeom prst="rect">
            <a:avLst/>
          </a:prstGeom>
          <a:solidFill>
            <a:srgbClr val="237F8A"/>
          </a:solidFill>
          <a:ln w="0">
            <a:noFill/>
            <a:prstDash val="solid"/>
          </a:ln>
        </p:spPr>
      </p:sp>
      <p:sp>
        <p:nvSpPr>
          <p:cNvPr id="10" name="Rectangle 9">
            <a:extLst>
              <a:ext uri="{FF2B5EF4-FFF2-40B4-BE49-F238E27FC236}">
                <a16:creationId xmlns:a16="http://schemas.microsoft.com/office/drawing/2014/main" id="{A3C47E78-6E6C-44B7-A151-68E2D1AD0E85}"/>
              </a:ext>
            </a:extLst>
          </p:cNvPr>
          <p:cNvSpPr>
            <a:spLocks noGrp="1"/>
          </p:cNvSpPr>
          <p:nvPr/>
        </p:nvSpPr>
        <p:spPr>
          <a:xfrm>
            <a:off x="10496550" y="3924300"/>
            <a:ext cx="704850" cy="1200150"/>
          </a:xfrm>
          <a:prstGeom prst="rect">
            <a:avLst/>
          </a:prstGeom>
          <a:solidFill>
            <a:srgbClr val="16616D"/>
          </a:solidFill>
          <a:ln w="0">
            <a:noFill/>
            <a:prstDash val="solid"/>
          </a:ln>
        </p:spPr>
      </p:sp>
      <p:sp>
        <p:nvSpPr>
          <p:cNvPr id="11" name="Rectangle 10">
            <a:extLst>
              <a:ext uri="{FF2B5EF4-FFF2-40B4-BE49-F238E27FC236}">
                <a16:creationId xmlns:a16="http://schemas.microsoft.com/office/drawing/2014/main" id="{EDF72CE9-05EC-48F0-AC15-47348B206B19}"/>
              </a:ext>
            </a:extLst>
          </p:cNvPr>
          <p:cNvSpPr>
            <a:spLocks noGrp="1"/>
          </p:cNvSpPr>
          <p:nvPr/>
        </p:nvSpPr>
        <p:spPr>
          <a:xfrm>
            <a:off x="7524750" y="5143500"/>
            <a:ext cx="3905250" cy="38100"/>
          </a:xfrm>
          <a:prstGeom prst="rect">
            <a:avLst/>
          </a:prstGeom>
          <a:solidFill>
            <a:srgbClr val="D9F3EF"/>
          </a:solidFill>
          <a:ln w="0">
            <a:noFill/>
            <a:prstDash val="solid"/>
          </a:ln>
        </p:spPr>
      </p:sp>
      <p:sp>
        <p:nvSpPr>
          <p:cNvPr id="12" name="Rectangle 11">
            <a:extLst>
              <a:ext uri="{FF2B5EF4-FFF2-40B4-BE49-F238E27FC236}">
                <a16:creationId xmlns:a16="http://schemas.microsoft.com/office/drawing/2014/main" id="{97187E25-991C-4AAD-BC8D-CDDAE7B15109}"/>
              </a:ext>
            </a:extLst>
          </p:cNvPr>
          <p:cNvSpPr>
            <a:spLocks noGrp="1"/>
          </p:cNvSpPr>
          <p:nvPr/>
        </p:nvSpPr>
        <p:spPr>
          <a:xfrm>
            <a:off x="7524750" y="5381625"/>
            <a:ext cx="3714750" cy="304800"/>
          </a:xfrm>
          <a:prstGeom prst="rect">
            <a:avLst/>
          </a:prstGeom>
          <a:noFill/>
          <a:ln w="0">
            <a:noFill/>
            <a:prstDash val="solid"/>
          </a:ln>
        </p:spPr>
        <p:txBody>
          <a:bodyPr anchor="ctr"/>
          <a:lstStyle>
            <a:defPPr>
              <a:defRPr sz="1200" b="0">
                <a:solidFill>
                  <a:srgbClr val="D9E2EC"/>
                </a:solidFill>
              </a:defRPr>
            </a:defPPr>
          </a:lstStyle>
          <a:p>
            <a:pPr>
              <a:defRPr sz="1200" b="0">
                <a:solidFill>
                  <a:srgbClr val="D9E2EC"/>
                </a:solidFill>
              </a:defRPr>
            </a:pPr>
            <a:r>
              <a:rPr sz="1200" b="0">
                <a:solidFill>
                  <a:srgbClr val="D9E2EC"/>
                </a:solidFill>
              </a:rPr>
              <a:t>Solar output falls as evening demand rises</a:t>
            </a:r>
          </a:p>
        </p:txBody>
      </p:sp>
    </p:spTree>
    <p:extLst>
      <p:ext uri="{BB962C8B-B14F-4D97-AF65-F5344CB8AC3E}">
        <p14:creationId xmlns:p14="http://schemas.microsoft.com/office/powerpoint/2010/main" val="163747142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7FAFC"/>
        </a:solidFill>
        <a:effectLst/>
      </p:bgPr>
    </p:bg>
    <p:spTree>
      <p:nvGrpSpPr>
        <p:cNvPr id="1" name=""/>
        <p:cNvGrpSpPr/>
        <p:nvPr/>
      </p:nvGrpSpPr>
      <p:grpSpPr>
        <a:xfrm>
          <a:off x="0" y="0"/>
          <a:ext cx="0" cy="0"/>
          <a:chOff x="0" y="0"/>
          <a:chExt cx="0" cy="0"/>
        </a:xfrm>
      </p:grpSpPr>
      <p:sp>
        <p:nvSpPr>
          <p:cNvPr id="14" name="Rectangle 13">
            <a:extLst>
              <a:ext uri="{FF2B5EF4-FFF2-40B4-BE49-F238E27FC236}">
                <a16:creationId xmlns:a16="http://schemas.microsoft.com/office/drawing/2014/main" id="{1658257E-2508-4B68-8C61-8FAEDBD9C88E}"/>
              </a:ext>
            </a:extLst>
          </p:cNvPr>
          <p:cNvSpPr>
            <a:spLocks noGrp="1"/>
          </p:cNvSpPr>
          <p:nvPr/>
        </p:nvSpPr>
        <p:spPr>
          <a:xfrm>
            <a:off x="685800" y="400050"/>
            <a:ext cx="457200" cy="285750"/>
          </a:xfrm>
          <a:prstGeom prst="rect">
            <a:avLst/>
          </a:prstGeom>
          <a:noFill/>
          <a:ln w="0">
            <a:noFill/>
            <a:prstDash val="solid"/>
          </a:ln>
        </p:spPr>
        <p:txBody>
          <a:bodyPr anchor="ctr"/>
          <a:lstStyle>
            <a:defPPr>
              <a:defRPr sz="1050" b="1">
                <a:solidFill>
                  <a:srgbClr val="00A6A6"/>
                </a:solidFill>
              </a:defRPr>
            </a:defPPr>
          </a:lstStyle>
          <a:p>
            <a:pPr>
              <a:defRPr sz="1050" b="1">
                <a:solidFill>
                  <a:srgbClr val="00A6A6"/>
                </a:solidFill>
              </a:defRPr>
            </a:pPr>
            <a:r>
              <a:rPr sz="1050" b="1">
                <a:solidFill>
                  <a:srgbClr val="00A6A6"/>
                </a:solidFill>
              </a:rPr>
              <a:t>02</a:t>
            </a:r>
          </a:p>
        </p:txBody>
      </p:sp>
      <p:sp>
        <p:nvSpPr>
          <p:cNvPr id="2" name="Rectangle 1">
            <a:extLst>
              <a:ext uri="{FF2B5EF4-FFF2-40B4-BE49-F238E27FC236}">
                <a16:creationId xmlns:a16="http://schemas.microsoft.com/office/drawing/2014/main" id="{94AEC9FE-BBE4-41D2-8CE3-589D68C62273}"/>
              </a:ext>
            </a:extLst>
          </p:cNvPr>
          <p:cNvSpPr>
            <a:spLocks noGrp="1"/>
          </p:cNvSpPr>
          <p:nvPr/>
        </p:nvSpPr>
        <p:spPr>
          <a:xfrm>
            <a:off x="685800" y="714375"/>
            <a:ext cx="10668000" cy="533400"/>
          </a:xfrm>
          <a:prstGeom prst="rect">
            <a:avLst/>
          </a:prstGeom>
          <a:noFill/>
          <a:ln w="0">
            <a:noFill/>
            <a:prstDash val="solid"/>
          </a:ln>
        </p:spPr>
        <p:txBody>
          <a:bodyPr anchor="ctr"/>
          <a:lstStyle>
            <a:defPPr>
              <a:defRPr sz="2400" b="1">
                <a:solidFill>
                  <a:srgbClr val="102A43"/>
                </a:solidFill>
              </a:defRPr>
            </a:defPPr>
          </a:lstStyle>
          <a:p>
            <a:pPr>
              <a:defRPr sz="2400" b="1">
                <a:solidFill>
                  <a:srgbClr val="102A43"/>
                </a:solidFill>
              </a:defRPr>
            </a:pPr>
            <a:r>
              <a:rPr sz="2400" b="1">
                <a:solidFill>
                  <a:srgbClr val="102A43"/>
                </a:solidFill>
              </a:rPr>
              <a:t>The missing meter creates an operational blind spot</a:t>
            </a:r>
          </a:p>
        </p:txBody>
      </p:sp>
      <p:sp>
        <p:nvSpPr>
          <p:cNvPr id="3" name="Rectangle 2">
            <a:extLst>
              <a:ext uri="{FF2B5EF4-FFF2-40B4-BE49-F238E27FC236}">
                <a16:creationId xmlns:a16="http://schemas.microsoft.com/office/drawing/2014/main" id="{87BE9B07-495B-4EA3-8CDA-66E7E979B225}"/>
              </a:ext>
            </a:extLst>
          </p:cNvPr>
          <p:cNvSpPr>
            <a:spLocks noGrp="1"/>
          </p:cNvSpPr>
          <p:nvPr/>
        </p:nvSpPr>
        <p:spPr>
          <a:xfrm>
            <a:off x="685800" y="1266825"/>
            <a:ext cx="10668000" cy="304800"/>
          </a:xfrm>
          <a:prstGeom prst="rect">
            <a:avLst/>
          </a:prstGeom>
          <a:noFill/>
          <a:ln w="0">
            <a:noFill/>
            <a:prstDash val="solid"/>
          </a:ln>
        </p:spPr>
        <p:txBody>
          <a:bodyPr anchor="ctr"/>
          <a:lstStyle>
            <a:defPPr>
              <a:defRPr sz="1200" b="0">
                <a:solidFill>
                  <a:srgbClr val="52606D"/>
                </a:solidFill>
              </a:defRPr>
            </a:defPPr>
          </a:lstStyle>
          <a:p>
            <a:pPr>
              <a:defRPr sz="1200" b="0">
                <a:solidFill>
                  <a:srgbClr val="52606D"/>
                </a:solidFill>
              </a:defRPr>
            </a:pPr>
            <a:r>
              <a:rPr sz="1200" b="0">
                <a:solidFill>
                  <a:srgbClr val="52606D"/>
                </a:solidFill>
              </a:rPr>
              <a:t>A monthly total explains the size of the bill, but it cannot reveal the timing or source of an evening demand spike.</a:t>
            </a:r>
          </a:p>
        </p:txBody>
      </p:sp>
      <p:sp>
        <p:nvSpPr>
          <p:cNvPr id="4" name="Rectangle 3">
            <a:extLst>
              <a:ext uri="{FF2B5EF4-FFF2-40B4-BE49-F238E27FC236}">
                <a16:creationId xmlns:a16="http://schemas.microsoft.com/office/drawing/2014/main" id="{8E5420E7-F4FE-46FA-B7EE-6BB41B060E72}"/>
              </a:ext>
            </a:extLst>
          </p:cNvPr>
          <p:cNvSpPr>
            <a:spLocks noGrp="1"/>
          </p:cNvSpPr>
          <p:nvPr/>
        </p:nvSpPr>
        <p:spPr>
          <a:xfrm>
            <a:off x="685800" y="1695450"/>
            <a:ext cx="10820400" cy="19050"/>
          </a:xfrm>
          <a:prstGeom prst="rect">
            <a:avLst/>
          </a:prstGeom>
          <a:solidFill>
            <a:srgbClr val="D9E2EC"/>
          </a:solidFill>
          <a:ln w="0">
            <a:noFill/>
            <a:prstDash val="solid"/>
          </a:ln>
        </p:spPr>
      </p:sp>
      <p:sp>
        <p:nvSpPr>
          <p:cNvPr id="5" name="Rectangle 4">
            <a:extLst>
              <a:ext uri="{FF2B5EF4-FFF2-40B4-BE49-F238E27FC236}">
                <a16:creationId xmlns:a16="http://schemas.microsoft.com/office/drawing/2014/main" id="{52F8B83E-604D-42B3-8853-6E874DF55EEF}"/>
              </a:ext>
            </a:extLst>
          </p:cNvPr>
          <p:cNvSpPr>
            <a:spLocks noGrp="1"/>
          </p:cNvSpPr>
          <p:nvPr/>
        </p:nvSpPr>
        <p:spPr>
          <a:xfrm>
            <a:off x="685800" y="2190750"/>
            <a:ext cx="4476750" cy="323850"/>
          </a:xfrm>
          <a:prstGeom prst="rect">
            <a:avLst/>
          </a:prstGeom>
          <a:noFill/>
          <a:ln w="0">
            <a:noFill/>
            <a:prstDash val="solid"/>
          </a:ln>
        </p:spPr>
        <p:txBody>
          <a:bodyPr anchor="ctr"/>
          <a:lstStyle>
            <a:defPPr>
              <a:defRPr sz="1650" b="1">
                <a:solidFill>
                  <a:srgbClr val="102A43"/>
                </a:solidFill>
              </a:defRPr>
            </a:defPPr>
          </a:lstStyle>
          <a:p>
            <a:pPr>
              <a:defRPr sz="1650" b="1">
                <a:solidFill>
                  <a:srgbClr val="102A43"/>
                </a:solidFill>
              </a:defRPr>
            </a:pPr>
            <a:r>
              <a:rPr sz="1650" b="1">
                <a:solidFill>
                  <a:srgbClr val="102A43"/>
                </a:solidFill>
              </a:rPr>
              <a:t>What facilities teams see today</a:t>
            </a:r>
          </a:p>
        </p:txBody>
      </p:sp>
      <p:sp>
        <p:nvSpPr>
          <p:cNvPr id="6" name="Rectangle 5">
            <a:extLst>
              <a:ext uri="{FF2B5EF4-FFF2-40B4-BE49-F238E27FC236}">
                <a16:creationId xmlns:a16="http://schemas.microsoft.com/office/drawing/2014/main" id="{267C18AA-6EB7-46FA-88BD-B4061626A7F9}"/>
              </a:ext>
            </a:extLst>
          </p:cNvPr>
          <p:cNvSpPr>
            <a:spLocks noGrp="1"/>
          </p:cNvSpPr>
          <p:nvPr/>
        </p:nvSpPr>
        <p:spPr>
          <a:xfrm>
            <a:off x="685800" y="2686050"/>
            <a:ext cx="4000500" cy="1809750"/>
          </a:xfrm>
          <a:prstGeom prst="rect">
            <a:avLst/>
          </a:prstGeom>
          <a:noFill/>
          <a:ln w="0">
            <a:noFill/>
            <a:prstDash val="solid"/>
          </a:ln>
        </p:spPr>
        <p:txBody>
          <a:bodyPr anchor="ctr"/>
          <a:lstStyle>
            <a:defPPr>
              <a:defRPr sz="1575" b="0">
                <a:solidFill>
                  <a:srgbClr val="1F2933"/>
                </a:solidFill>
              </a:defRPr>
            </a:defPPr>
          </a:lstStyle>
          <a:p>
            <a:pPr>
              <a:defRPr sz="1575" b="0">
                <a:solidFill>
                  <a:srgbClr val="1F2933"/>
                </a:solidFill>
              </a:defRPr>
            </a:pPr>
            <a:r>
              <a:rPr sz="1575" b="0">
                <a:solidFill>
                  <a:srgbClr val="1F2933"/>
                </a:solidFill>
              </a:rPr>
              <a:t>Metered buildings</a:t>
            </a:r>
          </a:p>
          <a:p>
            <a:pPr>
              <a:defRPr sz="1575" b="0">
                <a:solidFill>
                  <a:srgbClr val="1F2933"/>
                </a:solidFill>
              </a:defRPr>
            </a:pPr>
            <a:r>
              <a:rPr sz="1575" b="0">
                <a:solidFill>
                  <a:srgbClr val="1F2933"/>
                </a:solidFill>
              </a:rPr>
              <a:t>Hourly readings reveal daily load shape</a:t>
            </a:r>
          </a:p>
          <a:p>
            <a:endParaRPr sz="1575" b="0">
              <a:solidFill>
                <a:srgbClr val="1F2933"/>
              </a:solidFill>
            </a:endParaRPr>
          </a:p>
          <a:p>
            <a:pPr>
              <a:defRPr sz="1575" b="0">
                <a:solidFill>
                  <a:srgbClr val="1F2933"/>
                </a:solidFill>
              </a:defRPr>
            </a:pPr>
            <a:r>
              <a:rPr sz="1575" b="0">
                <a:solidFill>
                  <a:srgbClr val="1F2933"/>
                </a:solidFill>
              </a:rPr>
              <a:t>Missing-meter buildings</a:t>
            </a:r>
          </a:p>
          <a:p>
            <a:pPr>
              <a:defRPr sz="1575" b="0">
                <a:solidFill>
                  <a:srgbClr val="1F2933"/>
                </a:solidFill>
              </a:defRPr>
            </a:pPr>
            <a:r>
              <a:rPr sz="1575" b="0">
                <a:solidFill>
                  <a:srgbClr val="1F2933"/>
                </a:solidFill>
              </a:rPr>
              <a:t>One monthly total, with no peak-hour trace</a:t>
            </a:r>
          </a:p>
        </p:txBody>
      </p:sp>
      <p:sp>
        <p:nvSpPr>
          <p:cNvPr id="7" name="Rectangle 6">
            <a:extLst>
              <a:ext uri="{FF2B5EF4-FFF2-40B4-BE49-F238E27FC236}">
                <a16:creationId xmlns:a16="http://schemas.microsoft.com/office/drawing/2014/main" id="{A8F0B4F0-BF1D-4721-B58C-A425812E4C90}"/>
              </a:ext>
            </a:extLst>
          </p:cNvPr>
          <p:cNvSpPr>
            <a:spLocks noGrp="1"/>
          </p:cNvSpPr>
          <p:nvPr/>
        </p:nvSpPr>
        <p:spPr>
          <a:xfrm>
            <a:off x="6858000" y="2190750"/>
            <a:ext cx="3905250" cy="323850"/>
          </a:xfrm>
          <a:prstGeom prst="rect">
            <a:avLst/>
          </a:prstGeom>
          <a:noFill/>
          <a:ln w="0">
            <a:noFill/>
            <a:prstDash val="solid"/>
          </a:ln>
        </p:spPr>
        <p:txBody>
          <a:bodyPr anchor="ctr"/>
          <a:lstStyle>
            <a:defPPr>
              <a:defRPr sz="1650" b="1">
                <a:solidFill>
                  <a:srgbClr val="102A43"/>
                </a:solidFill>
              </a:defRPr>
            </a:defPPr>
          </a:lstStyle>
          <a:p>
            <a:pPr>
              <a:defRPr sz="1650" b="1">
                <a:solidFill>
                  <a:srgbClr val="102A43"/>
                </a:solidFill>
              </a:defRPr>
            </a:pPr>
            <a:r>
              <a:rPr sz="1650" b="1">
                <a:solidFill>
                  <a:srgbClr val="102A43"/>
                </a:solidFill>
              </a:rPr>
              <a:t>What they need at 4–8 PM</a:t>
            </a:r>
          </a:p>
        </p:txBody>
      </p:sp>
      <p:sp>
        <p:nvSpPr>
          <p:cNvPr id="8" name="Rectangle 7">
            <a:extLst>
              <a:ext uri="{FF2B5EF4-FFF2-40B4-BE49-F238E27FC236}">
                <a16:creationId xmlns:a16="http://schemas.microsoft.com/office/drawing/2014/main" id="{E4D813E1-4953-48E3-B30F-D90D2378CE20}"/>
              </a:ext>
            </a:extLst>
          </p:cNvPr>
          <p:cNvSpPr>
            <a:spLocks noGrp="1"/>
          </p:cNvSpPr>
          <p:nvPr/>
        </p:nvSpPr>
        <p:spPr>
          <a:xfrm>
            <a:off x="6858000" y="2686050"/>
            <a:ext cx="4095750" cy="1238250"/>
          </a:xfrm>
          <a:prstGeom prst="rect">
            <a:avLst/>
          </a:prstGeom>
          <a:noFill/>
          <a:ln w="0">
            <a:noFill/>
            <a:prstDash val="solid"/>
          </a:ln>
        </p:spPr>
        <p:txBody>
          <a:bodyPr anchor="ctr"/>
          <a:lstStyle>
            <a:defPPr>
              <a:defRPr sz="1500" b="0">
                <a:solidFill>
                  <a:srgbClr val="1F2933"/>
                </a:solidFill>
              </a:defRPr>
            </a:defPPr>
          </a:lstStyle>
          <a:p>
            <a:pPr>
              <a:defRPr sz="1500" b="0">
                <a:solidFill>
                  <a:srgbClr val="1F2933"/>
                </a:solidFill>
              </a:defRPr>
            </a:pPr>
            <a:r>
              <a:rPr sz="1500" b="0">
                <a:solidFill>
                  <a:srgbClr val="1F2933"/>
                </a:solidFill>
              </a:rPr>
              <a:t>A building-level demand profile</a:t>
            </a:r>
          </a:p>
          <a:p>
            <a:pPr>
              <a:defRPr sz="1500" b="0">
                <a:solidFill>
                  <a:srgbClr val="1F2933"/>
                </a:solidFill>
              </a:defRPr>
            </a:pPr>
            <a:r>
              <a:rPr sz="1500" b="0">
                <a:solidFill>
                  <a:srgbClr val="1F2933"/>
                </a:solidFill>
              </a:rPr>
              <a:t>that identifies late-afternoon load</a:t>
            </a:r>
          </a:p>
          <a:p>
            <a:pPr>
              <a:defRPr sz="1500" b="0">
                <a:solidFill>
                  <a:srgbClr val="1F2933"/>
                </a:solidFill>
              </a:defRPr>
            </a:pPr>
            <a:r>
              <a:rPr sz="1500" b="0">
                <a:solidFill>
                  <a:srgbClr val="1F2933"/>
                </a:solidFill>
              </a:rPr>
              <a:t>and gives facilities a basis for targeted planning.</a:t>
            </a:r>
          </a:p>
        </p:txBody>
      </p:sp>
      <p:sp>
        <p:nvSpPr>
          <p:cNvPr id="9" name="Rectangle 8">
            <a:extLst>
              <a:ext uri="{FF2B5EF4-FFF2-40B4-BE49-F238E27FC236}">
                <a16:creationId xmlns:a16="http://schemas.microsoft.com/office/drawing/2014/main" id="{01D1C732-2791-4D60-8A66-D346AF12A2D2}"/>
              </a:ext>
            </a:extLst>
          </p:cNvPr>
          <p:cNvSpPr>
            <a:spLocks noGrp="1"/>
          </p:cNvSpPr>
          <p:nvPr/>
        </p:nvSpPr>
        <p:spPr>
          <a:xfrm>
            <a:off x="4536281" y="3584157"/>
            <a:ext cx="666750" cy="28575"/>
          </a:xfrm>
          <a:prstGeom prst="rect">
            <a:avLst/>
          </a:prstGeom>
          <a:solidFill>
            <a:srgbClr val="E05D5D"/>
          </a:solidFill>
          <a:ln w="0">
            <a:noFill/>
            <a:prstDash val="solid"/>
          </a:ln>
        </p:spPr>
      </p:sp>
      <p:sp>
        <p:nvSpPr>
          <p:cNvPr id="10" name="Rectangle 9">
            <a:extLst>
              <a:ext uri="{FF2B5EF4-FFF2-40B4-BE49-F238E27FC236}">
                <a16:creationId xmlns:a16="http://schemas.microsoft.com/office/drawing/2014/main" id="{30A519DF-A180-4EF0-9547-1B10930C3F38}"/>
              </a:ext>
            </a:extLst>
          </p:cNvPr>
          <p:cNvSpPr>
            <a:spLocks noGrp="1"/>
          </p:cNvSpPr>
          <p:nvPr/>
        </p:nvSpPr>
        <p:spPr>
          <a:xfrm>
            <a:off x="6191250" y="3590925"/>
            <a:ext cx="666750" cy="28575"/>
          </a:xfrm>
          <a:prstGeom prst="rect">
            <a:avLst/>
          </a:prstGeom>
          <a:solidFill>
            <a:srgbClr val="E05D5D"/>
          </a:solidFill>
          <a:ln w="0">
            <a:noFill/>
            <a:prstDash val="solid"/>
          </a:ln>
        </p:spPr>
      </p:sp>
      <p:sp>
        <p:nvSpPr>
          <p:cNvPr id="11" name="Rectangle 10">
            <a:extLst>
              <a:ext uri="{FF2B5EF4-FFF2-40B4-BE49-F238E27FC236}">
                <a16:creationId xmlns:a16="http://schemas.microsoft.com/office/drawing/2014/main" id="{0790E683-CF55-4D76-9EF0-AE4EAF5E8B12}"/>
              </a:ext>
            </a:extLst>
          </p:cNvPr>
          <p:cNvSpPr>
            <a:spLocks noGrp="1"/>
          </p:cNvSpPr>
          <p:nvPr/>
        </p:nvSpPr>
        <p:spPr>
          <a:xfrm>
            <a:off x="5194884" y="3419475"/>
            <a:ext cx="1619250" cy="342900"/>
          </a:xfrm>
          <a:prstGeom prst="rect">
            <a:avLst/>
          </a:prstGeom>
          <a:noFill/>
          <a:ln w="0">
            <a:noFill/>
            <a:prstDash val="solid"/>
          </a:ln>
        </p:spPr>
        <p:txBody>
          <a:bodyPr anchor="ctr"/>
          <a:lstStyle>
            <a:defPPr>
              <a:defRPr sz="1800" b="1">
                <a:solidFill>
                  <a:srgbClr val="E05D5D"/>
                </a:solidFill>
              </a:defRPr>
            </a:defPPr>
          </a:lstStyle>
          <a:p>
            <a:pPr>
              <a:defRPr sz="1800" b="1">
                <a:solidFill>
                  <a:srgbClr val="E05D5D"/>
                </a:solidFill>
              </a:defRPr>
            </a:pPr>
            <a:r>
              <a:rPr sz="1800" b="1" dirty="0">
                <a:solidFill>
                  <a:srgbClr val="E05D5D"/>
                </a:solidFill>
              </a:rPr>
              <a:t>The gap</a:t>
            </a:r>
          </a:p>
        </p:txBody>
      </p:sp>
      <p:sp>
        <p:nvSpPr>
          <p:cNvPr id="12" name="Rectangle 11">
            <a:extLst>
              <a:ext uri="{FF2B5EF4-FFF2-40B4-BE49-F238E27FC236}">
                <a16:creationId xmlns:a16="http://schemas.microsoft.com/office/drawing/2014/main" id="{70D10F36-26C0-41E4-8E31-52439E16F47D}"/>
              </a:ext>
            </a:extLst>
          </p:cNvPr>
          <p:cNvSpPr>
            <a:spLocks noGrp="1"/>
          </p:cNvSpPr>
          <p:nvPr/>
        </p:nvSpPr>
        <p:spPr>
          <a:xfrm>
            <a:off x="685800" y="6477000"/>
            <a:ext cx="5334000" cy="171450"/>
          </a:xfrm>
          <a:prstGeom prst="rect">
            <a:avLst/>
          </a:prstGeom>
          <a:noFill/>
          <a:ln w="0">
            <a:noFill/>
            <a:prstDash val="solid"/>
          </a:ln>
        </p:spPr>
        <p:txBody>
          <a:bodyPr anchor="ctr"/>
          <a:lstStyle>
            <a:defPPr>
              <a:defRPr sz="825" b="0">
                <a:solidFill>
                  <a:srgbClr val="52606D"/>
                </a:solidFill>
              </a:defRPr>
            </a:defPPr>
          </a:lstStyle>
          <a:p>
            <a:pPr>
              <a:defRPr sz="825" b="0">
                <a:solidFill>
                  <a:srgbClr val="52606D"/>
                </a:solidFill>
              </a:defRPr>
            </a:pPr>
            <a:r>
              <a:rPr sz="825" b="0">
                <a:solidFill>
                  <a:srgbClr val="52606D"/>
                </a:solidFill>
              </a:rPr>
              <a:t>AI Synergy Hackathon 2026  |  Campus Energy Prototype</a:t>
            </a:r>
          </a:p>
        </p:txBody>
      </p:sp>
      <p:sp>
        <p:nvSpPr>
          <p:cNvPr id="13" name="Rectangle 12">
            <a:extLst>
              <a:ext uri="{FF2B5EF4-FFF2-40B4-BE49-F238E27FC236}">
                <a16:creationId xmlns:a16="http://schemas.microsoft.com/office/drawing/2014/main" id="{7FBFD85D-8BF1-453A-AC4C-C94054EDF174}"/>
              </a:ext>
            </a:extLst>
          </p:cNvPr>
          <p:cNvSpPr>
            <a:spLocks noGrp="1"/>
          </p:cNvSpPr>
          <p:nvPr/>
        </p:nvSpPr>
        <p:spPr>
          <a:xfrm>
            <a:off x="10763250" y="6477000"/>
            <a:ext cx="742950" cy="171450"/>
          </a:xfrm>
          <a:prstGeom prst="rect">
            <a:avLst/>
          </a:prstGeom>
          <a:noFill/>
          <a:ln w="0">
            <a:noFill/>
            <a:prstDash val="solid"/>
          </a:ln>
        </p:spPr>
        <p:txBody>
          <a:bodyPr anchor="ctr"/>
          <a:lstStyle>
            <a:defPPr>
              <a:defRPr sz="825" b="0">
                <a:solidFill>
                  <a:srgbClr val="52606D"/>
                </a:solidFill>
              </a:defRPr>
            </a:defPPr>
          </a:lstStyle>
          <a:p>
            <a:pPr>
              <a:defRPr sz="825" b="0">
                <a:solidFill>
                  <a:srgbClr val="52606D"/>
                </a:solidFill>
              </a:defRPr>
            </a:pPr>
            <a:r>
              <a:rPr sz="825" b="0">
                <a:solidFill>
                  <a:srgbClr val="52606D"/>
                </a:solidFill>
              </a:rPr>
              <a:t>2 / 8</a:t>
            </a:r>
          </a:p>
        </p:txBody>
      </p:sp>
    </p:spTree>
    <p:extLst>
      <p:ext uri="{BB962C8B-B14F-4D97-AF65-F5344CB8AC3E}">
        <p14:creationId xmlns:p14="http://schemas.microsoft.com/office/powerpoint/2010/main" val="66601366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7FAFC"/>
        </a:solidFill>
        <a:effectLst/>
      </p:bgPr>
    </p:bg>
    <p:spTree>
      <p:nvGrpSpPr>
        <p:cNvPr id="1" name=""/>
        <p:cNvGrpSpPr/>
        <p:nvPr/>
      </p:nvGrpSpPr>
      <p:grpSpPr>
        <a:xfrm>
          <a:off x="0" y="0"/>
          <a:ext cx="0" cy="0"/>
          <a:chOff x="0" y="0"/>
          <a:chExt cx="0" cy="0"/>
        </a:xfrm>
      </p:grpSpPr>
      <p:sp>
        <p:nvSpPr>
          <p:cNvPr id="23" name="Rectangle 22">
            <a:extLst>
              <a:ext uri="{FF2B5EF4-FFF2-40B4-BE49-F238E27FC236}">
                <a16:creationId xmlns:a16="http://schemas.microsoft.com/office/drawing/2014/main" id="{CAA7DB71-D03D-4C57-97CB-9C1FF9E7ECD4}"/>
              </a:ext>
            </a:extLst>
          </p:cNvPr>
          <p:cNvSpPr>
            <a:spLocks noGrp="1"/>
          </p:cNvSpPr>
          <p:nvPr/>
        </p:nvSpPr>
        <p:spPr>
          <a:xfrm>
            <a:off x="685800" y="400050"/>
            <a:ext cx="457200" cy="285750"/>
          </a:xfrm>
          <a:prstGeom prst="rect">
            <a:avLst/>
          </a:prstGeom>
          <a:noFill/>
          <a:ln w="0">
            <a:noFill/>
            <a:prstDash val="solid"/>
          </a:ln>
        </p:spPr>
        <p:txBody>
          <a:bodyPr anchor="ctr"/>
          <a:lstStyle>
            <a:defPPr>
              <a:defRPr sz="1050" b="1">
                <a:solidFill>
                  <a:srgbClr val="00A6A6"/>
                </a:solidFill>
              </a:defRPr>
            </a:defPPr>
          </a:lstStyle>
          <a:p>
            <a:pPr>
              <a:defRPr sz="1050" b="1">
                <a:solidFill>
                  <a:srgbClr val="00A6A6"/>
                </a:solidFill>
              </a:defRPr>
            </a:pPr>
            <a:r>
              <a:rPr sz="1050" b="1">
                <a:solidFill>
                  <a:srgbClr val="00A6A6"/>
                </a:solidFill>
              </a:rPr>
              <a:t>03</a:t>
            </a:r>
          </a:p>
        </p:txBody>
      </p:sp>
      <p:sp>
        <p:nvSpPr>
          <p:cNvPr id="2" name="Rectangle 1">
            <a:extLst>
              <a:ext uri="{FF2B5EF4-FFF2-40B4-BE49-F238E27FC236}">
                <a16:creationId xmlns:a16="http://schemas.microsoft.com/office/drawing/2014/main" id="{B7D37E0A-385D-4490-8774-0E937D7F66E9}"/>
              </a:ext>
            </a:extLst>
          </p:cNvPr>
          <p:cNvSpPr>
            <a:spLocks noGrp="1"/>
          </p:cNvSpPr>
          <p:nvPr/>
        </p:nvSpPr>
        <p:spPr>
          <a:xfrm>
            <a:off x="685800" y="714375"/>
            <a:ext cx="10668000" cy="533400"/>
          </a:xfrm>
          <a:prstGeom prst="rect">
            <a:avLst/>
          </a:prstGeom>
          <a:noFill/>
          <a:ln w="0">
            <a:noFill/>
            <a:prstDash val="solid"/>
          </a:ln>
        </p:spPr>
        <p:txBody>
          <a:bodyPr anchor="ctr"/>
          <a:lstStyle>
            <a:defPPr>
              <a:defRPr sz="2400" b="1">
                <a:solidFill>
                  <a:srgbClr val="102A43"/>
                </a:solidFill>
              </a:defRPr>
            </a:defPPr>
          </a:lstStyle>
          <a:p>
            <a:pPr>
              <a:defRPr sz="2400" b="1">
                <a:solidFill>
                  <a:srgbClr val="102A43"/>
                </a:solidFill>
              </a:defRPr>
            </a:pPr>
            <a:r>
              <a:rPr sz="2400" b="1">
                <a:solidFill>
                  <a:srgbClr val="102A43"/>
                </a:solidFill>
              </a:rPr>
              <a:t>The prototype generates evidence for the 4–8 PM question</a:t>
            </a:r>
          </a:p>
        </p:txBody>
      </p:sp>
      <p:sp>
        <p:nvSpPr>
          <p:cNvPr id="3" name="Rectangle 2">
            <a:extLst>
              <a:ext uri="{FF2B5EF4-FFF2-40B4-BE49-F238E27FC236}">
                <a16:creationId xmlns:a16="http://schemas.microsoft.com/office/drawing/2014/main" id="{0D0BED46-61C2-4234-9DA1-DA70511DF676}"/>
              </a:ext>
            </a:extLst>
          </p:cNvPr>
          <p:cNvSpPr>
            <a:spLocks noGrp="1"/>
          </p:cNvSpPr>
          <p:nvPr/>
        </p:nvSpPr>
        <p:spPr>
          <a:xfrm>
            <a:off x="685800" y="1266825"/>
            <a:ext cx="10668000" cy="304800"/>
          </a:xfrm>
          <a:prstGeom prst="rect">
            <a:avLst/>
          </a:prstGeom>
          <a:noFill/>
          <a:ln w="0">
            <a:noFill/>
            <a:prstDash val="solid"/>
          </a:ln>
        </p:spPr>
        <p:txBody>
          <a:bodyPr anchor="ctr"/>
          <a:lstStyle>
            <a:defPPr>
              <a:defRPr sz="1200" b="0">
                <a:solidFill>
                  <a:srgbClr val="52606D"/>
                </a:solidFill>
              </a:defRPr>
            </a:defPPr>
          </a:lstStyle>
          <a:p>
            <a:pPr>
              <a:defRPr sz="1200" b="0">
                <a:solidFill>
                  <a:srgbClr val="52606D"/>
                </a:solidFill>
              </a:defRPr>
            </a:pPr>
            <a:r>
              <a:rPr sz="1200" b="0">
                <a:solidFill>
                  <a:srgbClr val="52606D"/>
                </a:solidFill>
              </a:rPr>
              <a:t>The repository provides a controlled test bed so the team can inspect missing data and peak timing before a campus pilot.</a:t>
            </a:r>
          </a:p>
        </p:txBody>
      </p:sp>
      <p:sp>
        <p:nvSpPr>
          <p:cNvPr id="4" name="Rectangle 3">
            <a:extLst>
              <a:ext uri="{FF2B5EF4-FFF2-40B4-BE49-F238E27FC236}">
                <a16:creationId xmlns:a16="http://schemas.microsoft.com/office/drawing/2014/main" id="{9031A752-FAB4-4B60-8A18-AC44CC754FF7}"/>
              </a:ext>
            </a:extLst>
          </p:cNvPr>
          <p:cNvSpPr>
            <a:spLocks noGrp="1"/>
          </p:cNvSpPr>
          <p:nvPr/>
        </p:nvSpPr>
        <p:spPr>
          <a:xfrm>
            <a:off x="685800" y="1695450"/>
            <a:ext cx="10820400" cy="19050"/>
          </a:xfrm>
          <a:prstGeom prst="rect">
            <a:avLst/>
          </a:prstGeom>
          <a:solidFill>
            <a:srgbClr val="D9E2EC"/>
          </a:solidFill>
          <a:ln w="0">
            <a:noFill/>
            <a:prstDash val="solid"/>
          </a:ln>
        </p:spPr>
      </p:sp>
      <p:sp>
        <p:nvSpPr>
          <p:cNvPr id="5" name="Rectangle 4">
            <a:extLst>
              <a:ext uri="{FF2B5EF4-FFF2-40B4-BE49-F238E27FC236}">
                <a16:creationId xmlns:a16="http://schemas.microsoft.com/office/drawing/2014/main" id="{63A19D0E-6934-46B8-AA16-1F8FFAA91017}"/>
              </a:ext>
            </a:extLst>
          </p:cNvPr>
          <p:cNvSpPr>
            <a:spLocks noGrp="1"/>
          </p:cNvSpPr>
          <p:nvPr/>
        </p:nvSpPr>
        <p:spPr>
          <a:xfrm>
            <a:off x="685800" y="2190750"/>
            <a:ext cx="3381375" cy="323850"/>
          </a:xfrm>
          <a:prstGeom prst="rect">
            <a:avLst/>
          </a:prstGeom>
          <a:noFill/>
          <a:ln w="0">
            <a:noFill/>
            <a:prstDash val="solid"/>
          </a:ln>
        </p:spPr>
        <p:txBody>
          <a:bodyPr anchor="ctr"/>
          <a:lstStyle>
            <a:defPPr>
              <a:defRPr sz="1650" b="1">
                <a:solidFill>
                  <a:srgbClr val="102A43"/>
                </a:solidFill>
              </a:defRPr>
            </a:defPPr>
          </a:lstStyle>
          <a:p>
            <a:pPr>
              <a:defRPr sz="1650" b="1">
                <a:solidFill>
                  <a:srgbClr val="102A43"/>
                </a:solidFill>
              </a:defRPr>
            </a:pPr>
            <a:r>
              <a:rPr sz="1650" b="1">
                <a:solidFill>
                  <a:srgbClr val="102A43"/>
                </a:solidFill>
              </a:rPr>
              <a:t>Synthetic data generator</a:t>
            </a:r>
          </a:p>
        </p:txBody>
      </p:sp>
      <p:sp>
        <p:nvSpPr>
          <p:cNvPr id="6" name="Rectangle 5">
            <a:extLst>
              <a:ext uri="{FF2B5EF4-FFF2-40B4-BE49-F238E27FC236}">
                <a16:creationId xmlns:a16="http://schemas.microsoft.com/office/drawing/2014/main" id="{610F3120-3B25-4CE7-A710-F4A7C8EE4FFE}"/>
              </a:ext>
            </a:extLst>
          </p:cNvPr>
          <p:cNvSpPr>
            <a:spLocks noGrp="1"/>
          </p:cNvSpPr>
          <p:nvPr/>
        </p:nvSpPr>
        <p:spPr>
          <a:xfrm>
            <a:off x="656760" y="2263579"/>
            <a:ext cx="4381500" cy="1666875"/>
          </a:xfrm>
          <a:prstGeom prst="rect">
            <a:avLst/>
          </a:prstGeom>
          <a:noFill/>
          <a:ln w="0">
            <a:noFill/>
            <a:prstDash val="solid"/>
          </a:ln>
        </p:spPr>
        <p:txBody>
          <a:bodyPr anchor="ctr"/>
          <a:lstStyle>
            <a:defPPr>
              <a:defRPr sz="1350" b="0">
                <a:solidFill>
                  <a:srgbClr val="1F2933"/>
                </a:solidFill>
              </a:defRPr>
            </a:defPPr>
          </a:lstStyle>
          <a:p>
            <a:pPr>
              <a:defRPr sz="1350" b="0">
                <a:solidFill>
                  <a:srgbClr val="1F2933"/>
                </a:solidFill>
              </a:defRPr>
            </a:pPr>
            <a:r>
              <a:rPr sz="1350" b="0" dirty="0" smtClean="0">
                <a:solidFill>
                  <a:srgbClr val="1F2933"/>
                </a:solidFill>
              </a:rPr>
              <a:t>src/generate_data.py</a:t>
            </a:r>
            <a:r>
              <a:rPr lang="en-US" sz="1350" b="0" dirty="0" smtClean="0">
                <a:solidFill>
                  <a:srgbClr val="1F2933"/>
                </a:solidFill>
              </a:rPr>
              <a:t> </a:t>
            </a:r>
            <a:endParaRPr sz="1350" b="0" dirty="0">
              <a:solidFill>
                <a:srgbClr val="1F2933"/>
              </a:solidFill>
            </a:endParaRPr>
          </a:p>
          <a:p>
            <a:pPr>
              <a:defRPr sz="1350" b="0">
                <a:solidFill>
                  <a:srgbClr val="1F2933"/>
                </a:solidFill>
              </a:defRPr>
            </a:pPr>
            <a:r>
              <a:rPr sz="1350" b="0" dirty="0" smtClean="0">
                <a:solidFill>
                  <a:srgbClr val="1F2933"/>
                </a:solidFill>
              </a:rPr>
              <a:t> </a:t>
            </a:r>
            <a:r>
              <a:rPr lang="en-US" sz="1350" b="0" dirty="0" smtClean="0">
                <a:solidFill>
                  <a:srgbClr val="1F2933"/>
                </a:solidFill>
              </a:rPr>
              <a:t>15 minute </a:t>
            </a:r>
            <a:r>
              <a:rPr sz="1350" b="0" dirty="0" smtClean="0">
                <a:solidFill>
                  <a:srgbClr val="1F2933"/>
                </a:solidFill>
              </a:rPr>
              <a:t>kWh </a:t>
            </a:r>
            <a:r>
              <a:rPr sz="1350" b="0" dirty="0">
                <a:solidFill>
                  <a:srgbClr val="1F2933"/>
                </a:solidFill>
              </a:rPr>
              <a:t>for five buildings across June–August</a:t>
            </a:r>
          </a:p>
          <a:p>
            <a:pPr>
              <a:defRPr sz="1350" b="0">
                <a:solidFill>
                  <a:srgbClr val="1F2933"/>
                </a:solidFill>
              </a:defRPr>
            </a:pPr>
            <a:r>
              <a:rPr sz="1350" b="0" dirty="0">
                <a:solidFill>
                  <a:srgbClr val="1F2933"/>
                </a:solidFill>
              </a:rPr>
              <a:t>Random multi-day gaps mimic incomplete feeds</a:t>
            </a:r>
          </a:p>
          <a:p>
            <a:pPr>
              <a:defRPr sz="1350" b="0">
                <a:solidFill>
                  <a:srgbClr val="1F2933"/>
                </a:solidFill>
              </a:defRPr>
            </a:pPr>
            <a:r>
              <a:rPr sz="1350" b="0" dirty="0">
                <a:solidFill>
                  <a:srgbClr val="1F2933"/>
                </a:solidFill>
              </a:rPr>
              <a:t>True monthly totals saved separately for checking</a:t>
            </a:r>
          </a:p>
        </p:txBody>
      </p:sp>
      <p:sp>
        <p:nvSpPr>
          <p:cNvPr id="7" name="Rectangle 6">
            <a:extLst>
              <a:ext uri="{FF2B5EF4-FFF2-40B4-BE49-F238E27FC236}">
                <a16:creationId xmlns:a16="http://schemas.microsoft.com/office/drawing/2014/main" id="{6BBB0991-866F-4BA9-B6D3-A67621253846}"/>
              </a:ext>
            </a:extLst>
          </p:cNvPr>
          <p:cNvSpPr>
            <a:spLocks noGrp="1"/>
          </p:cNvSpPr>
          <p:nvPr/>
        </p:nvSpPr>
        <p:spPr>
          <a:xfrm>
            <a:off x="7086600" y="2190750"/>
            <a:ext cx="3381375" cy="323850"/>
          </a:xfrm>
          <a:prstGeom prst="rect">
            <a:avLst/>
          </a:prstGeom>
          <a:noFill/>
          <a:ln w="0">
            <a:noFill/>
            <a:prstDash val="solid"/>
          </a:ln>
        </p:spPr>
        <p:txBody>
          <a:bodyPr anchor="ctr"/>
          <a:lstStyle>
            <a:defPPr>
              <a:defRPr sz="1650" b="1">
                <a:solidFill>
                  <a:srgbClr val="102A43"/>
                </a:solidFill>
              </a:defRPr>
            </a:defPPr>
          </a:lstStyle>
          <a:p>
            <a:pPr>
              <a:defRPr sz="1650" b="1">
                <a:solidFill>
                  <a:srgbClr val="102A43"/>
                </a:solidFill>
              </a:defRPr>
            </a:pPr>
            <a:r>
              <a:rPr sz="1650" b="1">
                <a:solidFill>
                  <a:srgbClr val="102A43"/>
                </a:solidFill>
              </a:rPr>
              <a:t>Baseline EDA notebook</a:t>
            </a:r>
          </a:p>
        </p:txBody>
      </p:sp>
      <p:sp>
        <p:nvSpPr>
          <p:cNvPr id="8" name="Rectangle 7">
            <a:extLst>
              <a:ext uri="{FF2B5EF4-FFF2-40B4-BE49-F238E27FC236}">
                <a16:creationId xmlns:a16="http://schemas.microsoft.com/office/drawing/2014/main" id="{89D470BF-356B-4FDB-8870-0286E6763656}"/>
              </a:ext>
            </a:extLst>
          </p:cNvPr>
          <p:cNvSpPr>
            <a:spLocks noGrp="1"/>
          </p:cNvSpPr>
          <p:nvPr/>
        </p:nvSpPr>
        <p:spPr>
          <a:xfrm>
            <a:off x="7086600" y="2212460"/>
            <a:ext cx="3905250" cy="1666875"/>
          </a:xfrm>
          <a:prstGeom prst="rect">
            <a:avLst/>
          </a:prstGeom>
          <a:noFill/>
          <a:ln w="0">
            <a:noFill/>
            <a:prstDash val="solid"/>
          </a:ln>
        </p:spPr>
        <p:txBody>
          <a:bodyPr anchor="ctr"/>
          <a:lstStyle>
            <a:defPPr>
              <a:defRPr sz="1350" b="0">
                <a:solidFill>
                  <a:srgbClr val="1F2933"/>
                </a:solidFill>
              </a:defRPr>
            </a:defPPr>
          </a:lstStyle>
          <a:p>
            <a:pPr>
              <a:defRPr sz="1350" b="0">
                <a:solidFill>
                  <a:srgbClr val="1F2933"/>
                </a:solidFill>
              </a:defRPr>
            </a:pPr>
            <a:r>
              <a:rPr sz="1350" b="0" dirty="0">
                <a:solidFill>
                  <a:srgbClr val="1F2933"/>
                </a:solidFill>
              </a:rPr>
              <a:t>notebooks/01_baseline_eda.ipynb</a:t>
            </a:r>
          </a:p>
          <a:p>
            <a:pPr>
              <a:defRPr sz="1350" b="0">
                <a:solidFill>
                  <a:srgbClr val="1F2933"/>
                </a:solidFill>
              </a:defRPr>
            </a:pPr>
            <a:r>
              <a:rPr sz="1350" b="0" dirty="0">
                <a:solidFill>
                  <a:srgbClr val="1F2933"/>
                </a:solidFill>
              </a:rPr>
              <a:t>Resamples the time series for inspection</a:t>
            </a:r>
          </a:p>
          <a:p>
            <a:pPr>
              <a:defRPr sz="1350" b="0">
                <a:solidFill>
                  <a:srgbClr val="1F2933"/>
                </a:solidFill>
              </a:defRPr>
            </a:pPr>
            <a:r>
              <a:rPr sz="1350" b="0" dirty="0">
                <a:solidFill>
                  <a:srgbClr val="1F2933"/>
                </a:solidFill>
              </a:rPr>
              <a:t>Focuses analysis on the 4–8 PM window</a:t>
            </a:r>
          </a:p>
          <a:p>
            <a:pPr>
              <a:defRPr sz="1350" b="0">
                <a:solidFill>
                  <a:srgbClr val="1F2933"/>
                </a:solidFill>
              </a:defRPr>
            </a:pPr>
            <a:r>
              <a:rPr sz="1350" b="0" dirty="0">
                <a:solidFill>
                  <a:srgbClr val="1F2933"/>
                </a:solidFill>
              </a:rPr>
              <a:t>Produces a demand-spike chart before modeling</a:t>
            </a:r>
          </a:p>
        </p:txBody>
      </p:sp>
      <p:sp>
        <p:nvSpPr>
          <p:cNvPr id="21" name="Rectangle 20">
            <a:extLst>
              <a:ext uri="{FF2B5EF4-FFF2-40B4-BE49-F238E27FC236}">
                <a16:creationId xmlns:a16="http://schemas.microsoft.com/office/drawing/2014/main" id="{D3B309FD-3D8D-4170-9597-9730730ED0A6}"/>
              </a:ext>
            </a:extLst>
          </p:cNvPr>
          <p:cNvSpPr>
            <a:spLocks noGrp="1"/>
          </p:cNvSpPr>
          <p:nvPr/>
        </p:nvSpPr>
        <p:spPr>
          <a:xfrm>
            <a:off x="685800" y="6477000"/>
            <a:ext cx="5334000" cy="171450"/>
          </a:xfrm>
          <a:prstGeom prst="rect">
            <a:avLst/>
          </a:prstGeom>
          <a:noFill/>
          <a:ln w="0">
            <a:noFill/>
            <a:prstDash val="solid"/>
          </a:ln>
        </p:spPr>
        <p:txBody>
          <a:bodyPr anchor="ctr"/>
          <a:lstStyle>
            <a:defPPr>
              <a:defRPr sz="825" b="0">
                <a:solidFill>
                  <a:srgbClr val="52606D"/>
                </a:solidFill>
              </a:defRPr>
            </a:defPPr>
          </a:lstStyle>
          <a:p>
            <a:pPr>
              <a:defRPr sz="825" b="0">
                <a:solidFill>
                  <a:srgbClr val="52606D"/>
                </a:solidFill>
              </a:defRPr>
            </a:pPr>
            <a:r>
              <a:rPr sz="825" b="0">
                <a:solidFill>
                  <a:srgbClr val="52606D"/>
                </a:solidFill>
              </a:rPr>
              <a:t>AI Synergy Hackathon 2026  |  Campus Energy Prototype</a:t>
            </a:r>
          </a:p>
        </p:txBody>
      </p:sp>
      <p:sp>
        <p:nvSpPr>
          <p:cNvPr id="22" name="Rectangle 21">
            <a:extLst>
              <a:ext uri="{FF2B5EF4-FFF2-40B4-BE49-F238E27FC236}">
                <a16:creationId xmlns:a16="http://schemas.microsoft.com/office/drawing/2014/main" id="{ADA3126C-F512-4428-BDB5-BD7380413DBC}"/>
              </a:ext>
            </a:extLst>
          </p:cNvPr>
          <p:cNvSpPr>
            <a:spLocks noGrp="1"/>
          </p:cNvSpPr>
          <p:nvPr/>
        </p:nvSpPr>
        <p:spPr>
          <a:xfrm>
            <a:off x="10763250" y="6477000"/>
            <a:ext cx="742950" cy="171450"/>
          </a:xfrm>
          <a:prstGeom prst="rect">
            <a:avLst/>
          </a:prstGeom>
          <a:noFill/>
          <a:ln w="0">
            <a:noFill/>
            <a:prstDash val="solid"/>
          </a:ln>
        </p:spPr>
        <p:txBody>
          <a:bodyPr anchor="ctr"/>
          <a:lstStyle>
            <a:defPPr>
              <a:defRPr sz="825" b="0">
                <a:solidFill>
                  <a:srgbClr val="52606D"/>
                </a:solidFill>
              </a:defRPr>
            </a:defPPr>
          </a:lstStyle>
          <a:p>
            <a:pPr>
              <a:defRPr sz="825" b="0">
                <a:solidFill>
                  <a:srgbClr val="52606D"/>
                </a:solidFill>
              </a:defRPr>
            </a:pPr>
            <a:r>
              <a:rPr sz="825" b="0">
                <a:solidFill>
                  <a:srgbClr val="52606D"/>
                </a:solidFill>
              </a:rPr>
              <a:t>3 / 8</a:t>
            </a:r>
          </a:p>
        </p:txBody>
      </p:sp>
      <p:pic>
        <p:nvPicPr>
          <p:cNvPr id="27" name="Picture 26"/>
          <p:cNvPicPr>
            <a:picLocks noChangeAspect="1"/>
          </p:cNvPicPr>
          <p:nvPr/>
        </p:nvPicPr>
        <p:blipFill>
          <a:blip r:embed="rId3"/>
          <a:stretch>
            <a:fillRect/>
          </a:stretch>
        </p:blipFill>
        <p:spPr>
          <a:xfrm>
            <a:off x="6617043" y="3748785"/>
            <a:ext cx="5593492" cy="1903854"/>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pic>
        <p:nvPicPr>
          <p:cNvPr id="28" name="Picture 27"/>
          <p:cNvPicPr>
            <a:picLocks noChangeAspect="1"/>
          </p:cNvPicPr>
          <p:nvPr/>
        </p:nvPicPr>
        <p:blipFill>
          <a:blip r:embed="rId4"/>
          <a:stretch>
            <a:fillRect/>
          </a:stretch>
        </p:blipFill>
        <p:spPr>
          <a:xfrm>
            <a:off x="3395326" y="3794321"/>
            <a:ext cx="3203182" cy="2277239"/>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pic>
        <p:nvPicPr>
          <p:cNvPr id="30" name="Picture 29"/>
          <p:cNvPicPr>
            <a:picLocks noChangeAspect="1"/>
          </p:cNvPicPr>
          <p:nvPr/>
        </p:nvPicPr>
        <p:blipFill>
          <a:blip r:embed="rId5"/>
          <a:stretch>
            <a:fillRect/>
          </a:stretch>
        </p:blipFill>
        <p:spPr>
          <a:xfrm>
            <a:off x="81912" y="3748785"/>
            <a:ext cx="3223695" cy="2394945"/>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1282881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7FAFC"/>
        </a:solidFill>
        <a:effectLst/>
      </p:bgPr>
    </p:bg>
    <p:spTree>
      <p:nvGrpSpPr>
        <p:cNvPr id="1" name=""/>
        <p:cNvGrpSpPr/>
        <p:nvPr/>
      </p:nvGrpSpPr>
      <p:grpSpPr>
        <a:xfrm>
          <a:off x="0" y="0"/>
          <a:ext cx="0" cy="0"/>
          <a:chOff x="0" y="0"/>
          <a:chExt cx="0" cy="0"/>
        </a:xfrm>
      </p:grpSpPr>
      <p:sp>
        <p:nvSpPr>
          <p:cNvPr id="30" name="Rectangle 29">
            <a:extLst>
              <a:ext uri="{FF2B5EF4-FFF2-40B4-BE49-F238E27FC236}">
                <a16:creationId xmlns:a16="http://schemas.microsoft.com/office/drawing/2014/main" id="{F63C3BE9-40CD-407A-BE0F-F136C6E12AC2}"/>
              </a:ext>
            </a:extLst>
          </p:cNvPr>
          <p:cNvSpPr>
            <a:spLocks noGrp="1"/>
          </p:cNvSpPr>
          <p:nvPr/>
        </p:nvSpPr>
        <p:spPr>
          <a:xfrm>
            <a:off x="685800" y="400050"/>
            <a:ext cx="457200" cy="285750"/>
          </a:xfrm>
          <a:prstGeom prst="rect">
            <a:avLst/>
          </a:prstGeom>
          <a:noFill/>
          <a:ln w="0">
            <a:noFill/>
            <a:prstDash val="solid"/>
          </a:ln>
        </p:spPr>
        <p:txBody>
          <a:bodyPr anchor="ctr"/>
          <a:lstStyle>
            <a:defPPr>
              <a:defRPr sz="1050" b="1">
                <a:solidFill>
                  <a:srgbClr val="00A6A6"/>
                </a:solidFill>
              </a:defRPr>
            </a:defPPr>
          </a:lstStyle>
          <a:p>
            <a:pPr>
              <a:defRPr sz="1050" b="1">
                <a:solidFill>
                  <a:srgbClr val="00A6A6"/>
                </a:solidFill>
              </a:defRPr>
            </a:pPr>
            <a:r>
              <a:rPr sz="1050" b="1">
                <a:solidFill>
                  <a:srgbClr val="00A6A6"/>
                </a:solidFill>
              </a:rPr>
              <a:t>04</a:t>
            </a:r>
          </a:p>
        </p:txBody>
      </p:sp>
      <p:sp>
        <p:nvSpPr>
          <p:cNvPr id="2" name="Rectangle 1">
            <a:extLst>
              <a:ext uri="{FF2B5EF4-FFF2-40B4-BE49-F238E27FC236}">
                <a16:creationId xmlns:a16="http://schemas.microsoft.com/office/drawing/2014/main" id="{D1AB4BE4-7E92-47D6-A1A2-E658F452F2BF}"/>
              </a:ext>
            </a:extLst>
          </p:cNvPr>
          <p:cNvSpPr>
            <a:spLocks noGrp="1"/>
          </p:cNvSpPr>
          <p:nvPr/>
        </p:nvSpPr>
        <p:spPr>
          <a:xfrm>
            <a:off x="685800" y="714375"/>
            <a:ext cx="10668000" cy="533400"/>
          </a:xfrm>
          <a:prstGeom prst="rect">
            <a:avLst/>
          </a:prstGeom>
          <a:noFill/>
          <a:ln w="0">
            <a:noFill/>
            <a:prstDash val="solid"/>
          </a:ln>
        </p:spPr>
        <p:txBody>
          <a:bodyPr anchor="ctr"/>
          <a:lstStyle>
            <a:defPPr>
              <a:defRPr sz="2400" b="1">
                <a:solidFill>
                  <a:srgbClr val="102A43"/>
                </a:solidFill>
              </a:defRPr>
            </a:defPPr>
          </a:lstStyle>
          <a:p>
            <a:pPr>
              <a:defRPr sz="2400" b="1">
                <a:solidFill>
                  <a:srgbClr val="102A43"/>
                </a:solidFill>
              </a:defRPr>
            </a:pPr>
            <a:r>
              <a:rPr sz="2400" b="1">
                <a:solidFill>
                  <a:srgbClr val="102A43"/>
                </a:solidFill>
              </a:rPr>
              <a:t>The engine aligns what is measured with what is billed</a:t>
            </a:r>
          </a:p>
        </p:txBody>
      </p:sp>
      <p:sp>
        <p:nvSpPr>
          <p:cNvPr id="3" name="Rectangle 2">
            <a:extLst>
              <a:ext uri="{FF2B5EF4-FFF2-40B4-BE49-F238E27FC236}">
                <a16:creationId xmlns:a16="http://schemas.microsoft.com/office/drawing/2014/main" id="{DE454B32-7224-43D4-B0F0-5D74E1018FF7}"/>
              </a:ext>
            </a:extLst>
          </p:cNvPr>
          <p:cNvSpPr>
            <a:spLocks noGrp="1"/>
          </p:cNvSpPr>
          <p:nvPr/>
        </p:nvSpPr>
        <p:spPr>
          <a:xfrm>
            <a:off x="685800" y="1266825"/>
            <a:ext cx="10668000" cy="304800"/>
          </a:xfrm>
          <a:prstGeom prst="rect">
            <a:avLst/>
          </a:prstGeom>
          <a:noFill/>
          <a:ln w="0">
            <a:noFill/>
            <a:prstDash val="solid"/>
          </a:ln>
        </p:spPr>
        <p:txBody>
          <a:bodyPr anchor="ctr"/>
          <a:lstStyle>
            <a:defPPr>
              <a:defRPr sz="1200" b="0">
                <a:solidFill>
                  <a:srgbClr val="52606D"/>
                </a:solidFill>
              </a:defRPr>
            </a:defPPr>
          </a:lstStyle>
          <a:p>
            <a:pPr>
              <a:defRPr sz="1200" b="0">
                <a:solidFill>
                  <a:srgbClr val="52606D"/>
                </a:solidFill>
              </a:defRPr>
            </a:pPr>
            <a:r>
              <a:rPr sz="1200" b="0">
                <a:solidFill>
                  <a:srgbClr val="52606D"/>
                </a:solidFill>
              </a:rPr>
              <a:t>The current prototype implements the input and analysis layer. The imputation model is a defined next step, not a claimed production result.</a:t>
            </a:r>
          </a:p>
        </p:txBody>
      </p:sp>
      <p:sp>
        <p:nvSpPr>
          <p:cNvPr id="4" name="Rectangle 3">
            <a:extLst>
              <a:ext uri="{FF2B5EF4-FFF2-40B4-BE49-F238E27FC236}">
                <a16:creationId xmlns:a16="http://schemas.microsoft.com/office/drawing/2014/main" id="{B1AE6775-15A1-4520-81DE-65FD76695657}"/>
              </a:ext>
            </a:extLst>
          </p:cNvPr>
          <p:cNvSpPr>
            <a:spLocks noGrp="1"/>
          </p:cNvSpPr>
          <p:nvPr/>
        </p:nvSpPr>
        <p:spPr>
          <a:xfrm>
            <a:off x="685800" y="1695450"/>
            <a:ext cx="10820400" cy="19050"/>
          </a:xfrm>
          <a:prstGeom prst="rect">
            <a:avLst/>
          </a:prstGeom>
          <a:solidFill>
            <a:srgbClr val="D9E2EC"/>
          </a:solidFill>
          <a:ln w="0">
            <a:noFill/>
            <a:prstDash val="solid"/>
          </a:ln>
        </p:spPr>
      </p:sp>
      <p:sp>
        <p:nvSpPr>
          <p:cNvPr id="5" name="Rounded Rectangle 4">
            <a:extLst>
              <a:ext uri="{FF2B5EF4-FFF2-40B4-BE49-F238E27FC236}">
                <a16:creationId xmlns:a16="http://schemas.microsoft.com/office/drawing/2014/main" id="{6D08A042-35EE-410C-A067-62ED9191ECF3}"/>
              </a:ext>
            </a:extLst>
          </p:cNvPr>
          <p:cNvSpPr>
            <a:spLocks noGrp="1"/>
          </p:cNvSpPr>
          <p:nvPr/>
        </p:nvSpPr>
        <p:spPr>
          <a:xfrm>
            <a:off x="685800" y="2524125"/>
            <a:ext cx="2190750" cy="1809750"/>
          </a:xfrm>
          <a:prstGeom prst="roundRect">
            <a:avLst>
              <a:gd name="adj" fmla="val 4211"/>
            </a:avLst>
          </a:prstGeom>
          <a:solidFill>
            <a:srgbClr val="FFFFFF"/>
          </a:solidFill>
          <a:ln w="0">
            <a:noFill/>
            <a:prstDash val="solid"/>
          </a:ln>
        </p:spPr>
      </p:sp>
      <p:sp>
        <p:nvSpPr>
          <p:cNvPr id="6" name="Rectangle 5">
            <a:extLst>
              <a:ext uri="{FF2B5EF4-FFF2-40B4-BE49-F238E27FC236}">
                <a16:creationId xmlns:a16="http://schemas.microsoft.com/office/drawing/2014/main" id="{7E62E49E-2C87-4402-86CB-B52D4DAE8857}"/>
              </a:ext>
            </a:extLst>
          </p:cNvPr>
          <p:cNvSpPr>
            <a:spLocks noGrp="1"/>
          </p:cNvSpPr>
          <p:nvPr/>
        </p:nvSpPr>
        <p:spPr>
          <a:xfrm>
            <a:off x="857250" y="2667000"/>
            <a:ext cx="304800" cy="266700"/>
          </a:xfrm>
          <a:prstGeom prst="rect">
            <a:avLst/>
          </a:prstGeom>
          <a:noFill/>
          <a:ln w="0">
            <a:noFill/>
            <a:prstDash val="solid"/>
          </a:ln>
        </p:spPr>
        <p:txBody>
          <a:bodyPr anchor="ctr"/>
          <a:lstStyle>
            <a:defPPr>
              <a:defRPr sz="1125" b="1">
                <a:solidFill>
                  <a:srgbClr val="00A6A6"/>
                </a:solidFill>
              </a:defRPr>
            </a:defPPr>
          </a:lstStyle>
          <a:p>
            <a:pPr>
              <a:defRPr sz="1125" b="1">
                <a:solidFill>
                  <a:srgbClr val="00A6A6"/>
                </a:solidFill>
              </a:defRPr>
            </a:pPr>
            <a:r>
              <a:rPr sz="1125" b="1">
                <a:solidFill>
                  <a:srgbClr val="00A6A6"/>
                </a:solidFill>
              </a:rPr>
              <a:t>1</a:t>
            </a:r>
          </a:p>
        </p:txBody>
      </p:sp>
      <p:sp>
        <p:nvSpPr>
          <p:cNvPr id="7" name="Rectangle 6">
            <a:extLst>
              <a:ext uri="{FF2B5EF4-FFF2-40B4-BE49-F238E27FC236}">
                <a16:creationId xmlns:a16="http://schemas.microsoft.com/office/drawing/2014/main" id="{5943B9BE-DCE3-4FCF-8CFF-7772B2B70059}"/>
              </a:ext>
            </a:extLst>
          </p:cNvPr>
          <p:cNvSpPr>
            <a:spLocks noGrp="1"/>
          </p:cNvSpPr>
          <p:nvPr/>
        </p:nvSpPr>
        <p:spPr>
          <a:xfrm>
            <a:off x="857250" y="3095625"/>
            <a:ext cx="1809750" cy="400050"/>
          </a:xfrm>
          <a:prstGeom prst="rect">
            <a:avLst/>
          </a:prstGeom>
          <a:noFill/>
          <a:ln w="0">
            <a:noFill/>
            <a:prstDash val="solid"/>
          </a:ln>
        </p:spPr>
        <p:txBody>
          <a:bodyPr anchor="ctr"/>
          <a:lstStyle>
            <a:defPPr>
              <a:defRPr sz="1650" b="1">
                <a:solidFill>
                  <a:srgbClr val="102A43"/>
                </a:solidFill>
              </a:defRPr>
            </a:defPPr>
          </a:lstStyle>
          <a:p>
            <a:pPr>
              <a:defRPr sz="1650" b="1">
                <a:solidFill>
                  <a:srgbClr val="102A43"/>
                </a:solidFill>
              </a:defRPr>
            </a:pPr>
            <a:r>
              <a:rPr sz="1650" b="1">
                <a:solidFill>
                  <a:srgbClr val="102A43"/>
                </a:solidFill>
              </a:rPr>
              <a:t>Interval readings</a:t>
            </a:r>
          </a:p>
        </p:txBody>
      </p:sp>
      <p:sp>
        <p:nvSpPr>
          <p:cNvPr id="8" name="Rectangle 7">
            <a:extLst>
              <a:ext uri="{FF2B5EF4-FFF2-40B4-BE49-F238E27FC236}">
                <a16:creationId xmlns:a16="http://schemas.microsoft.com/office/drawing/2014/main" id="{E2F54DD2-7021-48F3-8974-5DFC77DA858B}"/>
              </a:ext>
            </a:extLst>
          </p:cNvPr>
          <p:cNvSpPr>
            <a:spLocks noGrp="1"/>
          </p:cNvSpPr>
          <p:nvPr/>
        </p:nvSpPr>
        <p:spPr>
          <a:xfrm>
            <a:off x="857250" y="3619500"/>
            <a:ext cx="1790700" cy="495300"/>
          </a:xfrm>
          <a:prstGeom prst="rect">
            <a:avLst/>
          </a:prstGeom>
          <a:noFill/>
          <a:ln w="0">
            <a:noFill/>
            <a:prstDash val="solid"/>
          </a:ln>
        </p:spPr>
        <p:txBody>
          <a:bodyPr anchor="ctr"/>
          <a:lstStyle>
            <a:defPPr>
              <a:defRPr sz="1200" b="0">
                <a:solidFill>
                  <a:srgbClr val="52606D"/>
                </a:solidFill>
              </a:defRPr>
            </a:defPPr>
          </a:lstStyle>
          <a:p>
            <a:pPr>
              <a:defRPr sz="1200" b="0">
                <a:solidFill>
                  <a:srgbClr val="52606D"/>
                </a:solidFill>
              </a:defRPr>
            </a:pPr>
            <a:r>
              <a:rPr sz="1200" b="0">
                <a:solidFill>
                  <a:srgbClr val="52606D"/>
                </a:solidFill>
              </a:rPr>
              <a:t>Modern-meter buildings</a:t>
            </a:r>
          </a:p>
        </p:txBody>
      </p:sp>
      <p:sp>
        <p:nvSpPr>
          <p:cNvPr id="9" name="Rectangle 8">
            <a:extLst>
              <a:ext uri="{FF2B5EF4-FFF2-40B4-BE49-F238E27FC236}">
                <a16:creationId xmlns:a16="http://schemas.microsoft.com/office/drawing/2014/main" id="{E9699A11-2005-4ABB-B295-ACD614FCC4A7}"/>
              </a:ext>
            </a:extLst>
          </p:cNvPr>
          <p:cNvSpPr>
            <a:spLocks noGrp="1"/>
          </p:cNvSpPr>
          <p:nvPr/>
        </p:nvSpPr>
        <p:spPr>
          <a:xfrm>
            <a:off x="2876550" y="3209925"/>
            <a:ext cx="533400" cy="266700"/>
          </a:xfrm>
          <a:prstGeom prst="rect">
            <a:avLst/>
          </a:prstGeom>
          <a:noFill/>
          <a:ln w="0">
            <a:noFill/>
            <a:prstDash val="solid"/>
          </a:ln>
        </p:spPr>
        <p:txBody>
          <a:bodyPr anchor="ctr"/>
          <a:lstStyle>
            <a:defPPr>
              <a:defRPr sz="975" b="1">
                <a:solidFill>
                  <a:srgbClr val="00A6A6"/>
                </a:solidFill>
              </a:defRPr>
            </a:defPPr>
          </a:lstStyle>
          <a:p>
            <a:pPr>
              <a:defRPr sz="975" b="1">
                <a:solidFill>
                  <a:srgbClr val="00A6A6"/>
                </a:solidFill>
              </a:defRPr>
            </a:pPr>
            <a:r>
              <a:rPr sz="975" b="1" dirty="0">
                <a:solidFill>
                  <a:srgbClr val="00A6A6"/>
                </a:solidFill>
              </a:rPr>
              <a:t>then</a:t>
            </a:r>
          </a:p>
        </p:txBody>
      </p:sp>
      <p:sp>
        <p:nvSpPr>
          <p:cNvPr id="10" name="Rounded Rectangle 9">
            <a:extLst>
              <a:ext uri="{FF2B5EF4-FFF2-40B4-BE49-F238E27FC236}">
                <a16:creationId xmlns:a16="http://schemas.microsoft.com/office/drawing/2014/main" id="{6955E9E1-248E-42FC-A625-98F221C7411F}"/>
              </a:ext>
            </a:extLst>
          </p:cNvPr>
          <p:cNvSpPr>
            <a:spLocks noGrp="1"/>
          </p:cNvSpPr>
          <p:nvPr/>
        </p:nvSpPr>
        <p:spPr>
          <a:xfrm>
            <a:off x="3409950" y="2524125"/>
            <a:ext cx="2190750" cy="1809750"/>
          </a:xfrm>
          <a:prstGeom prst="roundRect">
            <a:avLst>
              <a:gd name="adj" fmla="val 4211"/>
            </a:avLst>
          </a:prstGeom>
          <a:solidFill>
            <a:srgbClr val="FFFFFF"/>
          </a:solidFill>
          <a:ln w="0">
            <a:noFill/>
            <a:prstDash val="solid"/>
          </a:ln>
        </p:spPr>
      </p:sp>
      <p:sp>
        <p:nvSpPr>
          <p:cNvPr id="11" name="Rectangle 10">
            <a:extLst>
              <a:ext uri="{FF2B5EF4-FFF2-40B4-BE49-F238E27FC236}">
                <a16:creationId xmlns:a16="http://schemas.microsoft.com/office/drawing/2014/main" id="{D5EBFD5E-1E25-40C2-AA86-7FF34C255BA1}"/>
              </a:ext>
            </a:extLst>
          </p:cNvPr>
          <p:cNvSpPr>
            <a:spLocks noGrp="1"/>
          </p:cNvSpPr>
          <p:nvPr/>
        </p:nvSpPr>
        <p:spPr>
          <a:xfrm>
            <a:off x="3581400" y="2667000"/>
            <a:ext cx="304800" cy="266700"/>
          </a:xfrm>
          <a:prstGeom prst="rect">
            <a:avLst/>
          </a:prstGeom>
          <a:noFill/>
          <a:ln w="0">
            <a:noFill/>
            <a:prstDash val="solid"/>
          </a:ln>
        </p:spPr>
        <p:txBody>
          <a:bodyPr anchor="ctr"/>
          <a:lstStyle>
            <a:defPPr>
              <a:defRPr sz="1125" b="1">
                <a:solidFill>
                  <a:srgbClr val="00A6A6"/>
                </a:solidFill>
              </a:defRPr>
            </a:defPPr>
          </a:lstStyle>
          <a:p>
            <a:pPr>
              <a:defRPr sz="1125" b="1">
                <a:solidFill>
                  <a:srgbClr val="00A6A6"/>
                </a:solidFill>
              </a:defRPr>
            </a:pPr>
            <a:r>
              <a:rPr sz="1125" b="1">
                <a:solidFill>
                  <a:srgbClr val="00A6A6"/>
                </a:solidFill>
              </a:rPr>
              <a:t>2</a:t>
            </a:r>
          </a:p>
        </p:txBody>
      </p:sp>
      <p:sp>
        <p:nvSpPr>
          <p:cNvPr id="12" name="Rectangle 11">
            <a:extLst>
              <a:ext uri="{FF2B5EF4-FFF2-40B4-BE49-F238E27FC236}">
                <a16:creationId xmlns:a16="http://schemas.microsoft.com/office/drawing/2014/main" id="{D3D1BBB3-F3ED-49A9-A36E-B24B4CFBDD49}"/>
              </a:ext>
            </a:extLst>
          </p:cNvPr>
          <p:cNvSpPr>
            <a:spLocks noGrp="1"/>
          </p:cNvSpPr>
          <p:nvPr/>
        </p:nvSpPr>
        <p:spPr>
          <a:xfrm>
            <a:off x="3581400" y="3095625"/>
            <a:ext cx="1809750" cy="400050"/>
          </a:xfrm>
          <a:prstGeom prst="rect">
            <a:avLst/>
          </a:prstGeom>
          <a:noFill/>
          <a:ln w="0">
            <a:noFill/>
            <a:prstDash val="solid"/>
          </a:ln>
        </p:spPr>
        <p:txBody>
          <a:bodyPr anchor="ctr"/>
          <a:lstStyle>
            <a:defPPr>
              <a:defRPr sz="1650" b="1">
                <a:solidFill>
                  <a:srgbClr val="102A43"/>
                </a:solidFill>
              </a:defRPr>
            </a:defPPr>
          </a:lstStyle>
          <a:p>
            <a:pPr>
              <a:defRPr sz="1650" b="1">
                <a:solidFill>
                  <a:srgbClr val="102A43"/>
                </a:solidFill>
              </a:defRPr>
            </a:pPr>
            <a:r>
              <a:rPr sz="1650" b="1">
                <a:solidFill>
                  <a:srgbClr val="102A43"/>
                </a:solidFill>
              </a:rPr>
              <a:t>Monthly totals</a:t>
            </a:r>
          </a:p>
        </p:txBody>
      </p:sp>
      <p:sp>
        <p:nvSpPr>
          <p:cNvPr id="13" name="Rectangle 12">
            <a:extLst>
              <a:ext uri="{FF2B5EF4-FFF2-40B4-BE49-F238E27FC236}">
                <a16:creationId xmlns:a16="http://schemas.microsoft.com/office/drawing/2014/main" id="{D0B88E34-1862-4396-A2DF-B610B5968419}"/>
              </a:ext>
            </a:extLst>
          </p:cNvPr>
          <p:cNvSpPr>
            <a:spLocks noGrp="1"/>
          </p:cNvSpPr>
          <p:nvPr/>
        </p:nvSpPr>
        <p:spPr>
          <a:xfrm>
            <a:off x="3581400" y="3619500"/>
            <a:ext cx="1790700" cy="495300"/>
          </a:xfrm>
          <a:prstGeom prst="rect">
            <a:avLst/>
          </a:prstGeom>
          <a:noFill/>
          <a:ln w="0">
            <a:noFill/>
            <a:prstDash val="solid"/>
          </a:ln>
        </p:spPr>
        <p:txBody>
          <a:bodyPr anchor="ctr"/>
          <a:lstStyle>
            <a:defPPr>
              <a:defRPr sz="1200" b="0">
                <a:solidFill>
                  <a:srgbClr val="52606D"/>
                </a:solidFill>
              </a:defRPr>
            </a:defPPr>
          </a:lstStyle>
          <a:p>
            <a:pPr>
              <a:defRPr sz="1200" b="0">
                <a:solidFill>
                  <a:srgbClr val="52606D"/>
                </a:solidFill>
              </a:defRPr>
            </a:pPr>
            <a:r>
              <a:rPr sz="1200" b="0">
                <a:solidFill>
                  <a:srgbClr val="52606D"/>
                </a:solidFill>
              </a:rPr>
              <a:t>Missing-meter buildings</a:t>
            </a:r>
          </a:p>
        </p:txBody>
      </p:sp>
      <p:sp>
        <p:nvSpPr>
          <p:cNvPr id="14" name="Rectangle 13">
            <a:extLst>
              <a:ext uri="{FF2B5EF4-FFF2-40B4-BE49-F238E27FC236}">
                <a16:creationId xmlns:a16="http://schemas.microsoft.com/office/drawing/2014/main" id="{9D122CE8-917D-4B6E-946B-CADA1BBB86D2}"/>
              </a:ext>
            </a:extLst>
          </p:cNvPr>
          <p:cNvSpPr>
            <a:spLocks noGrp="1"/>
          </p:cNvSpPr>
          <p:nvPr/>
        </p:nvSpPr>
        <p:spPr>
          <a:xfrm>
            <a:off x="5600700" y="3209925"/>
            <a:ext cx="495300" cy="266700"/>
          </a:xfrm>
          <a:prstGeom prst="rect">
            <a:avLst/>
          </a:prstGeom>
          <a:noFill/>
          <a:ln w="0">
            <a:noFill/>
            <a:prstDash val="solid"/>
          </a:ln>
        </p:spPr>
        <p:txBody>
          <a:bodyPr anchor="ctr"/>
          <a:lstStyle>
            <a:defPPr>
              <a:defRPr sz="975" b="1">
                <a:solidFill>
                  <a:srgbClr val="00A6A6"/>
                </a:solidFill>
              </a:defRPr>
            </a:defPPr>
          </a:lstStyle>
          <a:p>
            <a:pPr>
              <a:defRPr sz="975" b="1">
                <a:solidFill>
                  <a:srgbClr val="00A6A6"/>
                </a:solidFill>
              </a:defRPr>
            </a:pPr>
            <a:r>
              <a:rPr sz="975" b="1" dirty="0">
                <a:solidFill>
                  <a:srgbClr val="00A6A6"/>
                </a:solidFill>
              </a:rPr>
              <a:t>then</a:t>
            </a:r>
          </a:p>
        </p:txBody>
      </p:sp>
      <p:sp>
        <p:nvSpPr>
          <p:cNvPr id="15" name="Rounded Rectangle 14">
            <a:extLst>
              <a:ext uri="{FF2B5EF4-FFF2-40B4-BE49-F238E27FC236}">
                <a16:creationId xmlns:a16="http://schemas.microsoft.com/office/drawing/2014/main" id="{7E3D2A77-BA36-485E-982B-C0631E7A53FC}"/>
              </a:ext>
            </a:extLst>
          </p:cNvPr>
          <p:cNvSpPr>
            <a:spLocks noGrp="1"/>
          </p:cNvSpPr>
          <p:nvPr/>
        </p:nvSpPr>
        <p:spPr>
          <a:xfrm>
            <a:off x="6134100" y="2524125"/>
            <a:ext cx="2190750" cy="1809750"/>
          </a:xfrm>
          <a:prstGeom prst="roundRect">
            <a:avLst>
              <a:gd name="adj" fmla="val 4211"/>
            </a:avLst>
          </a:prstGeom>
          <a:solidFill>
            <a:srgbClr val="FFFFFF"/>
          </a:solidFill>
          <a:ln w="0">
            <a:noFill/>
            <a:prstDash val="solid"/>
          </a:ln>
        </p:spPr>
      </p:sp>
      <p:sp>
        <p:nvSpPr>
          <p:cNvPr id="16" name="Rectangle 15">
            <a:extLst>
              <a:ext uri="{FF2B5EF4-FFF2-40B4-BE49-F238E27FC236}">
                <a16:creationId xmlns:a16="http://schemas.microsoft.com/office/drawing/2014/main" id="{D8FFC7A3-1B08-4D8C-9C2F-EF4A4170B94C}"/>
              </a:ext>
            </a:extLst>
          </p:cNvPr>
          <p:cNvSpPr>
            <a:spLocks noGrp="1"/>
          </p:cNvSpPr>
          <p:nvPr/>
        </p:nvSpPr>
        <p:spPr>
          <a:xfrm>
            <a:off x="6305550" y="2667000"/>
            <a:ext cx="304800" cy="266700"/>
          </a:xfrm>
          <a:prstGeom prst="rect">
            <a:avLst/>
          </a:prstGeom>
          <a:noFill/>
          <a:ln w="0">
            <a:noFill/>
            <a:prstDash val="solid"/>
          </a:ln>
        </p:spPr>
        <p:txBody>
          <a:bodyPr anchor="ctr"/>
          <a:lstStyle>
            <a:defPPr>
              <a:defRPr sz="1125" b="1">
                <a:solidFill>
                  <a:srgbClr val="00A6A6"/>
                </a:solidFill>
              </a:defRPr>
            </a:defPPr>
          </a:lstStyle>
          <a:p>
            <a:pPr>
              <a:defRPr sz="1125" b="1">
                <a:solidFill>
                  <a:srgbClr val="00A6A6"/>
                </a:solidFill>
              </a:defRPr>
            </a:pPr>
            <a:r>
              <a:rPr sz="1125" b="1">
                <a:solidFill>
                  <a:srgbClr val="00A6A6"/>
                </a:solidFill>
              </a:rPr>
              <a:t>3</a:t>
            </a:r>
          </a:p>
        </p:txBody>
      </p:sp>
      <p:sp>
        <p:nvSpPr>
          <p:cNvPr id="17" name="Rectangle 16">
            <a:extLst>
              <a:ext uri="{FF2B5EF4-FFF2-40B4-BE49-F238E27FC236}">
                <a16:creationId xmlns:a16="http://schemas.microsoft.com/office/drawing/2014/main" id="{E946E3E7-B285-4FE0-BB9D-27D7FF58FC3F}"/>
              </a:ext>
            </a:extLst>
          </p:cNvPr>
          <p:cNvSpPr>
            <a:spLocks noGrp="1"/>
          </p:cNvSpPr>
          <p:nvPr/>
        </p:nvSpPr>
        <p:spPr>
          <a:xfrm>
            <a:off x="6305550" y="3095625"/>
            <a:ext cx="1809750" cy="400050"/>
          </a:xfrm>
          <a:prstGeom prst="rect">
            <a:avLst/>
          </a:prstGeom>
          <a:noFill/>
          <a:ln w="0">
            <a:noFill/>
            <a:prstDash val="solid"/>
          </a:ln>
        </p:spPr>
        <p:txBody>
          <a:bodyPr anchor="ctr"/>
          <a:lstStyle>
            <a:defPPr>
              <a:defRPr sz="1650" b="1">
                <a:solidFill>
                  <a:srgbClr val="102A43"/>
                </a:solidFill>
              </a:defRPr>
            </a:defPPr>
          </a:lstStyle>
          <a:p>
            <a:pPr>
              <a:defRPr sz="1650" b="1">
                <a:solidFill>
                  <a:srgbClr val="102A43"/>
                </a:solidFill>
              </a:defRPr>
            </a:pPr>
            <a:r>
              <a:rPr sz="1650" b="1">
                <a:solidFill>
                  <a:srgbClr val="102A43"/>
                </a:solidFill>
              </a:rPr>
              <a:t>Time and context</a:t>
            </a:r>
          </a:p>
        </p:txBody>
      </p:sp>
      <p:sp>
        <p:nvSpPr>
          <p:cNvPr id="18" name="Rectangle 17">
            <a:extLst>
              <a:ext uri="{FF2B5EF4-FFF2-40B4-BE49-F238E27FC236}">
                <a16:creationId xmlns:a16="http://schemas.microsoft.com/office/drawing/2014/main" id="{887DA035-7212-475F-973A-053D72D81197}"/>
              </a:ext>
            </a:extLst>
          </p:cNvPr>
          <p:cNvSpPr>
            <a:spLocks noGrp="1"/>
          </p:cNvSpPr>
          <p:nvPr/>
        </p:nvSpPr>
        <p:spPr>
          <a:xfrm>
            <a:off x="6305550" y="3619500"/>
            <a:ext cx="1790700" cy="495300"/>
          </a:xfrm>
          <a:prstGeom prst="rect">
            <a:avLst/>
          </a:prstGeom>
          <a:noFill/>
          <a:ln w="0">
            <a:noFill/>
            <a:prstDash val="solid"/>
          </a:ln>
        </p:spPr>
        <p:txBody>
          <a:bodyPr anchor="ctr"/>
          <a:lstStyle>
            <a:defPPr>
              <a:defRPr sz="1200" b="0">
                <a:solidFill>
                  <a:srgbClr val="52606D"/>
                </a:solidFill>
              </a:defRPr>
            </a:defPPr>
          </a:lstStyle>
          <a:p>
            <a:pPr>
              <a:defRPr sz="1200" b="0">
                <a:solidFill>
                  <a:srgbClr val="52606D"/>
                </a:solidFill>
              </a:defRPr>
            </a:pPr>
            <a:r>
              <a:rPr sz="1200" b="0">
                <a:solidFill>
                  <a:srgbClr val="52606D"/>
                </a:solidFill>
              </a:rPr>
              <a:t>Calendar, weather, typology</a:t>
            </a:r>
          </a:p>
        </p:txBody>
      </p:sp>
      <p:sp>
        <p:nvSpPr>
          <p:cNvPr id="19" name="Rectangle 18">
            <a:extLst>
              <a:ext uri="{FF2B5EF4-FFF2-40B4-BE49-F238E27FC236}">
                <a16:creationId xmlns:a16="http://schemas.microsoft.com/office/drawing/2014/main" id="{C82A69D0-CA9B-489F-BF7C-EED64787B0A1}"/>
              </a:ext>
            </a:extLst>
          </p:cNvPr>
          <p:cNvSpPr>
            <a:spLocks noGrp="1"/>
          </p:cNvSpPr>
          <p:nvPr/>
        </p:nvSpPr>
        <p:spPr>
          <a:xfrm>
            <a:off x="8324850" y="3209925"/>
            <a:ext cx="514350" cy="266700"/>
          </a:xfrm>
          <a:prstGeom prst="rect">
            <a:avLst/>
          </a:prstGeom>
          <a:noFill/>
          <a:ln w="0">
            <a:noFill/>
            <a:prstDash val="solid"/>
          </a:ln>
        </p:spPr>
        <p:txBody>
          <a:bodyPr anchor="ctr"/>
          <a:lstStyle>
            <a:defPPr>
              <a:defRPr sz="975" b="1">
                <a:solidFill>
                  <a:srgbClr val="00A6A6"/>
                </a:solidFill>
              </a:defRPr>
            </a:defPPr>
          </a:lstStyle>
          <a:p>
            <a:pPr>
              <a:defRPr sz="975" b="1">
                <a:solidFill>
                  <a:srgbClr val="00A6A6"/>
                </a:solidFill>
              </a:defRPr>
            </a:pPr>
            <a:r>
              <a:rPr sz="975" b="1" dirty="0">
                <a:solidFill>
                  <a:srgbClr val="00A6A6"/>
                </a:solidFill>
              </a:rPr>
              <a:t>then</a:t>
            </a:r>
          </a:p>
        </p:txBody>
      </p:sp>
      <p:sp>
        <p:nvSpPr>
          <p:cNvPr id="20" name="Rounded Rectangle 19">
            <a:extLst>
              <a:ext uri="{FF2B5EF4-FFF2-40B4-BE49-F238E27FC236}">
                <a16:creationId xmlns:a16="http://schemas.microsoft.com/office/drawing/2014/main" id="{3F056075-4861-4B2E-B3A3-467708BF397D}"/>
              </a:ext>
            </a:extLst>
          </p:cNvPr>
          <p:cNvSpPr>
            <a:spLocks noGrp="1"/>
          </p:cNvSpPr>
          <p:nvPr/>
        </p:nvSpPr>
        <p:spPr>
          <a:xfrm>
            <a:off x="8858250" y="2524125"/>
            <a:ext cx="2190750" cy="1809750"/>
          </a:xfrm>
          <a:prstGeom prst="roundRect">
            <a:avLst>
              <a:gd name="adj" fmla="val 4211"/>
            </a:avLst>
          </a:prstGeom>
          <a:solidFill>
            <a:srgbClr val="FFFFFF"/>
          </a:solidFill>
          <a:ln w="0">
            <a:noFill/>
            <a:prstDash val="solid"/>
          </a:ln>
        </p:spPr>
      </p:sp>
      <p:sp>
        <p:nvSpPr>
          <p:cNvPr id="21" name="Rectangle 20">
            <a:extLst>
              <a:ext uri="{FF2B5EF4-FFF2-40B4-BE49-F238E27FC236}">
                <a16:creationId xmlns:a16="http://schemas.microsoft.com/office/drawing/2014/main" id="{4F63FEC0-E36B-474B-BA5F-D5C3808F7466}"/>
              </a:ext>
            </a:extLst>
          </p:cNvPr>
          <p:cNvSpPr>
            <a:spLocks noGrp="1"/>
          </p:cNvSpPr>
          <p:nvPr/>
        </p:nvSpPr>
        <p:spPr>
          <a:xfrm>
            <a:off x="9029700" y="2667000"/>
            <a:ext cx="304800" cy="266700"/>
          </a:xfrm>
          <a:prstGeom prst="rect">
            <a:avLst/>
          </a:prstGeom>
          <a:noFill/>
          <a:ln w="0">
            <a:noFill/>
            <a:prstDash val="solid"/>
          </a:ln>
        </p:spPr>
        <p:txBody>
          <a:bodyPr anchor="ctr"/>
          <a:lstStyle>
            <a:defPPr>
              <a:defRPr sz="1125" b="1">
                <a:solidFill>
                  <a:srgbClr val="00A6A6"/>
                </a:solidFill>
              </a:defRPr>
            </a:defPPr>
          </a:lstStyle>
          <a:p>
            <a:pPr>
              <a:defRPr sz="1125" b="1">
                <a:solidFill>
                  <a:srgbClr val="00A6A6"/>
                </a:solidFill>
              </a:defRPr>
            </a:pPr>
            <a:r>
              <a:rPr sz="1125" b="1">
                <a:solidFill>
                  <a:srgbClr val="00A6A6"/>
                </a:solidFill>
              </a:rPr>
              <a:t>4</a:t>
            </a:r>
          </a:p>
        </p:txBody>
      </p:sp>
      <p:sp>
        <p:nvSpPr>
          <p:cNvPr id="22" name="Rectangle 21">
            <a:extLst>
              <a:ext uri="{FF2B5EF4-FFF2-40B4-BE49-F238E27FC236}">
                <a16:creationId xmlns:a16="http://schemas.microsoft.com/office/drawing/2014/main" id="{E4C95D2D-5800-4FDC-BD5D-5786AC679DDE}"/>
              </a:ext>
            </a:extLst>
          </p:cNvPr>
          <p:cNvSpPr>
            <a:spLocks noGrp="1"/>
          </p:cNvSpPr>
          <p:nvPr/>
        </p:nvSpPr>
        <p:spPr>
          <a:xfrm>
            <a:off x="9029700" y="3095625"/>
            <a:ext cx="1809750" cy="400050"/>
          </a:xfrm>
          <a:prstGeom prst="rect">
            <a:avLst/>
          </a:prstGeom>
          <a:noFill/>
          <a:ln w="0">
            <a:noFill/>
            <a:prstDash val="solid"/>
          </a:ln>
        </p:spPr>
        <p:txBody>
          <a:bodyPr anchor="ctr"/>
          <a:lstStyle>
            <a:defPPr>
              <a:defRPr sz="1650" b="1">
                <a:solidFill>
                  <a:srgbClr val="102A43"/>
                </a:solidFill>
              </a:defRPr>
            </a:defPPr>
          </a:lstStyle>
          <a:p>
            <a:pPr>
              <a:defRPr sz="1650" b="1">
                <a:solidFill>
                  <a:srgbClr val="102A43"/>
                </a:solidFill>
              </a:defRPr>
            </a:pPr>
            <a:r>
              <a:rPr sz="1650" b="1">
                <a:solidFill>
                  <a:srgbClr val="102A43"/>
                </a:solidFill>
              </a:rPr>
              <a:t>Estimated profile</a:t>
            </a:r>
          </a:p>
        </p:txBody>
      </p:sp>
      <p:sp>
        <p:nvSpPr>
          <p:cNvPr id="23" name="Rectangle 22">
            <a:extLst>
              <a:ext uri="{FF2B5EF4-FFF2-40B4-BE49-F238E27FC236}">
                <a16:creationId xmlns:a16="http://schemas.microsoft.com/office/drawing/2014/main" id="{2DCE9924-BEE0-4EE2-B62B-F9306523242A}"/>
              </a:ext>
            </a:extLst>
          </p:cNvPr>
          <p:cNvSpPr>
            <a:spLocks noGrp="1"/>
          </p:cNvSpPr>
          <p:nvPr/>
        </p:nvSpPr>
        <p:spPr>
          <a:xfrm>
            <a:off x="9029700" y="3619500"/>
            <a:ext cx="1790700" cy="495300"/>
          </a:xfrm>
          <a:prstGeom prst="rect">
            <a:avLst/>
          </a:prstGeom>
          <a:noFill/>
          <a:ln w="0">
            <a:noFill/>
            <a:prstDash val="solid"/>
          </a:ln>
        </p:spPr>
        <p:txBody>
          <a:bodyPr anchor="ctr"/>
          <a:lstStyle>
            <a:defPPr>
              <a:defRPr sz="1200" b="0">
                <a:solidFill>
                  <a:srgbClr val="52606D"/>
                </a:solidFill>
              </a:defRPr>
            </a:defPPr>
          </a:lstStyle>
          <a:p>
            <a:pPr>
              <a:defRPr sz="1200" b="0">
                <a:solidFill>
                  <a:srgbClr val="52606D"/>
                </a:solidFill>
              </a:defRPr>
            </a:pPr>
            <a:r>
              <a:rPr sz="1200" b="0">
                <a:solidFill>
                  <a:srgbClr val="52606D"/>
                </a:solidFill>
              </a:rPr>
              <a:t>Future imputation output</a:t>
            </a:r>
          </a:p>
        </p:txBody>
      </p:sp>
      <p:sp>
        <p:nvSpPr>
          <p:cNvPr id="24" name="Rectangle 23">
            <a:extLst>
              <a:ext uri="{FF2B5EF4-FFF2-40B4-BE49-F238E27FC236}">
                <a16:creationId xmlns:a16="http://schemas.microsoft.com/office/drawing/2014/main" id="{013BFE4E-018F-4906-A9AB-1E58D50325D7}"/>
              </a:ext>
            </a:extLst>
          </p:cNvPr>
          <p:cNvSpPr>
            <a:spLocks noGrp="1"/>
          </p:cNvSpPr>
          <p:nvPr/>
        </p:nvSpPr>
        <p:spPr>
          <a:xfrm>
            <a:off x="685800" y="5048250"/>
            <a:ext cx="1619250" cy="228600"/>
          </a:xfrm>
          <a:prstGeom prst="rect">
            <a:avLst/>
          </a:prstGeom>
          <a:noFill/>
          <a:ln w="0">
            <a:noFill/>
            <a:prstDash val="solid"/>
          </a:ln>
        </p:spPr>
        <p:txBody>
          <a:bodyPr anchor="ctr"/>
          <a:lstStyle>
            <a:defPPr>
              <a:defRPr sz="1200" b="1">
                <a:solidFill>
                  <a:srgbClr val="00A6A6"/>
                </a:solidFill>
              </a:defRPr>
            </a:defPPr>
          </a:lstStyle>
          <a:p>
            <a:pPr>
              <a:defRPr sz="1200" b="1">
                <a:solidFill>
                  <a:srgbClr val="00A6A6"/>
                </a:solidFill>
              </a:defRPr>
            </a:pPr>
            <a:r>
              <a:rPr sz="1200" b="1">
                <a:solidFill>
                  <a:srgbClr val="00A6A6"/>
                </a:solidFill>
              </a:rPr>
              <a:t>Implemented now</a:t>
            </a:r>
          </a:p>
        </p:txBody>
      </p:sp>
      <p:sp>
        <p:nvSpPr>
          <p:cNvPr id="25" name="Rectangle 24">
            <a:extLst>
              <a:ext uri="{FF2B5EF4-FFF2-40B4-BE49-F238E27FC236}">
                <a16:creationId xmlns:a16="http://schemas.microsoft.com/office/drawing/2014/main" id="{4C32B3C5-2888-434C-9119-673F6C4ABE81}"/>
              </a:ext>
            </a:extLst>
          </p:cNvPr>
          <p:cNvSpPr>
            <a:spLocks noGrp="1"/>
          </p:cNvSpPr>
          <p:nvPr/>
        </p:nvSpPr>
        <p:spPr>
          <a:xfrm>
            <a:off x="685800" y="5334000"/>
            <a:ext cx="4857750" cy="419100"/>
          </a:xfrm>
          <a:prstGeom prst="rect">
            <a:avLst/>
          </a:prstGeom>
          <a:noFill/>
          <a:ln w="0">
            <a:noFill/>
            <a:prstDash val="solid"/>
          </a:ln>
        </p:spPr>
        <p:txBody>
          <a:bodyPr anchor="ctr"/>
          <a:lstStyle>
            <a:defPPr>
              <a:defRPr sz="1350" b="0">
                <a:solidFill>
                  <a:srgbClr val="1F2933"/>
                </a:solidFill>
              </a:defRPr>
            </a:defPPr>
          </a:lstStyle>
          <a:p>
            <a:pPr>
              <a:defRPr sz="1350" b="0">
                <a:solidFill>
                  <a:srgbClr val="1F2933"/>
                </a:solidFill>
              </a:defRPr>
            </a:pPr>
            <a:r>
              <a:rPr sz="1350" b="0">
                <a:solidFill>
                  <a:srgbClr val="1F2933"/>
                </a:solidFill>
              </a:rPr>
              <a:t>Synthetic hourly inputs, missing spans, monthly-total reference, and 4–8 PM EDA</a:t>
            </a:r>
          </a:p>
        </p:txBody>
      </p:sp>
      <p:sp>
        <p:nvSpPr>
          <p:cNvPr id="26" name="Rectangle 25">
            <a:extLst>
              <a:ext uri="{FF2B5EF4-FFF2-40B4-BE49-F238E27FC236}">
                <a16:creationId xmlns:a16="http://schemas.microsoft.com/office/drawing/2014/main" id="{EDF46D04-3673-48A8-9B7F-7C76CACB6428}"/>
              </a:ext>
            </a:extLst>
          </p:cNvPr>
          <p:cNvSpPr>
            <a:spLocks noGrp="1"/>
          </p:cNvSpPr>
          <p:nvPr/>
        </p:nvSpPr>
        <p:spPr>
          <a:xfrm>
            <a:off x="7086600" y="5048250"/>
            <a:ext cx="1619250" cy="228600"/>
          </a:xfrm>
          <a:prstGeom prst="rect">
            <a:avLst/>
          </a:prstGeom>
          <a:noFill/>
          <a:ln w="0">
            <a:noFill/>
            <a:prstDash val="solid"/>
          </a:ln>
        </p:spPr>
        <p:txBody>
          <a:bodyPr anchor="ctr"/>
          <a:lstStyle>
            <a:defPPr>
              <a:defRPr sz="1200" b="1">
                <a:solidFill>
                  <a:srgbClr val="F2B134"/>
                </a:solidFill>
              </a:defRPr>
            </a:defPPr>
          </a:lstStyle>
          <a:p>
            <a:pPr>
              <a:defRPr sz="1200" b="1">
                <a:solidFill>
                  <a:srgbClr val="F2B134"/>
                </a:solidFill>
              </a:defRPr>
            </a:pPr>
            <a:r>
              <a:rPr sz="1200" b="1">
                <a:solidFill>
                  <a:srgbClr val="F2B134"/>
                </a:solidFill>
              </a:rPr>
              <a:t>Proposed next</a:t>
            </a:r>
          </a:p>
        </p:txBody>
      </p:sp>
      <p:sp>
        <p:nvSpPr>
          <p:cNvPr id="27" name="Rectangle 26">
            <a:extLst>
              <a:ext uri="{FF2B5EF4-FFF2-40B4-BE49-F238E27FC236}">
                <a16:creationId xmlns:a16="http://schemas.microsoft.com/office/drawing/2014/main" id="{9AF0DAB8-7A5C-4C16-8353-050380ACA2B4}"/>
              </a:ext>
            </a:extLst>
          </p:cNvPr>
          <p:cNvSpPr>
            <a:spLocks noGrp="1"/>
          </p:cNvSpPr>
          <p:nvPr/>
        </p:nvSpPr>
        <p:spPr>
          <a:xfrm>
            <a:off x="7086600" y="5334000"/>
            <a:ext cx="3905250" cy="419100"/>
          </a:xfrm>
          <a:prstGeom prst="rect">
            <a:avLst/>
          </a:prstGeom>
          <a:noFill/>
          <a:ln w="0">
            <a:noFill/>
            <a:prstDash val="solid"/>
          </a:ln>
        </p:spPr>
        <p:txBody>
          <a:bodyPr anchor="ctr"/>
          <a:lstStyle>
            <a:defPPr>
              <a:defRPr sz="1425" b="0">
                <a:solidFill>
                  <a:srgbClr val="1F2933"/>
                </a:solidFill>
              </a:defRPr>
            </a:defPPr>
          </a:lstStyle>
          <a:p>
            <a:pPr>
              <a:defRPr sz="1425" b="0">
                <a:solidFill>
                  <a:srgbClr val="1F2933"/>
                </a:solidFill>
              </a:defRPr>
            </a:pPr>
            <a:r>
              <a:rPr sz="1425" b="0">
                <a:solidFill>
                  <a:srgbClr val="1F2933"/>
                </a:solidFill>
              </a:rPr>
              <a:t>Train and validate an imputation model constrained by known billing totals</a:t>
            </a:r>
          </a:p>
        </p:txBody>
      </p:sp>
      <p:sp>
        <p:nvSpPr>
          <p:cNvPr id="28" name="Rectangle 27">
            <a:extLst>
              <a:ext uri="{FF2B5EF4-FFF2-40B4-BE49-F238E27FC236}">
                <a16:creationId xmlns:a16="http://schemas.microsoft.com/office/drawing/2014/main" id="{749DAF1C-4E87-49C1-B4DB-ED119D1BC575}"/>
              </a:ext>
            </a:extLst>
          </p:cNvPr>
          <p:cNvSpPr>
            <a:spLocks noGrp="1"/>
          </p:cNvSpPr>
          <p:nvPr/>
        </p:nvSpPr>
        <p:spPr>
          <a:xfrm>
            <a:off x="685800" y="6477000"/>
            <a:ext cx="5334000" cy="171450"/>
          </a:xfrm>
          <a:prstGeom prst="rect">
            <a:avLst/>
          </a:prstGeom>
          <a:noFill/>
          <a:ln w="0">
            <a:noFill/>
            <a:prstDash val="solid"/>
          </a:ln>
        </p:spPr>
        <p:txBody>
          <a:bodyPr anchor="ctr"/>
          <a:lstStyle>
            <a:defPPr>
              <a:defRPr sz="825" b="0">
                <a:solidFill>
                  <a:srgbClr val="52606D"/>
                </a:solidFill>
              </a:defRPr>
            </a:defPPr>
          </a:lstStyle>
          <a:p>
            <a:pPr>
              <a:defRPr sz="825" b="0">
                <a:solidFill>
                  <a:srgbClr val="52606D"/>
                </a:solidFill>
              </a:defRPr>
            </a:pPr>
            <a:r>
              <a:rPr sz="825" b="0">
                <a:solidFill>
                  <a:srgbClr val="52606D"/>
                </a:solidFill>
              </a:rPr>
              <a:t>AI Synergy Hackathon 2026  |  Campus Energy Prototype</a:t>
            </a:r>
          </a:p>
        </p:txBody>
      </p:sp>
      <p:sp>
        <p:nvSpPr>
          <p:cNvPr id="29" name="Rectangle 28">
            <a:extLst>
              <a:ext uri="{FF2B5EF4-FFF2-40B4-BE49-F238E27FC236}">
                <a16:creationId xmlns:a16="http://schemas.microsoft.com/office/drawing/2014/main" id="{1F63B3D3-3120-45D8-945D-2519BA88AABA}"/>
              </a:ext>
            </a:extLst>
          </p:cNvPr>
          <p:cNvSpPr>
            <a:spLocks noGrp="1"/>
          </p:cNvSpPr>
          <p:nvPr/>
        </p:nvSpPr>
        <p:spPr>
          <a:xfrm>
            <a:off x="10763250" y="6477000"/>
            <a:ext cx="742950" cy="171450"/>
          </a:xfrm>
          <a:prstGeom prst="rect">
            <a:avLst/>
          </a:prstGeom>
          <a:noFill/>
          <a:ln w="0">
            <a:noFill/>
            <a:prstDash val="solid"/>
          </a:ln>
        </p:spPr>
        <p:txBody>
          <a:bodyPr anchor="ctr"/>
          <a:lstStyle>
            <a:defPPr>
              <a:defRPr sz="825" b="0">
                <a:solidFill>
                  <a:srgbClr val="52606D"/>
                </a:solidFill>
              </a:defRPr>
            </a:defPPr>
          </a:lstStyle>
          <a:p>
            <a:pPr>
              <a:defRPr sz="825" b="0">
                <a:solidFill>
                  <a:srgbClr val="52606D"/>
                </a:solidFill>
              </a:defRPr>
            </a:pPr>
            <a:r>
              <a:rPr sz="825" b="0">
                <a:solidFill>
                  <a:srgbClr val="52606D"/>
                </a:solidFill>
              </a:rPr>
              <a:t>4 / 8</a:t>
            </a:r>
          </a:p>
        </p:txBody>
      </p:sp>
    </p:spTree>
    <p:extLst>
      <p:ext uri="{BB962C8B-B14F-4D97-AF65-F5344CB8AC3E}">
        <p14:creationId xmlns:p14="http://schemas.microsoft.com/office/powerpoint/2010/main" val="142677040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7FAFC"/>
        </a:solidFill>
        <a:effectLst/>
      </p:bgPr>
    </p:bg>
    <p:spTree>
      <p:nvGrpSpPr>
        <p:cNvPr id="1" name=""/>
        <p:cNvGrpSpPr/>
        <p:nvPr/>
      </p:nvGrpSpPr>
      <p:grpSpPr>
        <a:xfrm>
          <a:off x="0" y="0"/>
          <a:ext cx="0" cy="0"/>
          <a:chOff x="0" y="0"/>
          <a:chExt cx="0" cy="0"/>
        </a:xfrm>
      </p:grpSpPr>
      <p:sp>
        <p:nvSpPr>
          <p:cNvPr id="23" name="Rectangle 22">
            <a:extLst>
              <a:ext uri="{FF2B5EF4-FFF2-40B4-BE49-F238E27FC236}">
                <a16:creationId xmlns:a16="http://schemas.microsoft.com/office/drawing/2014/main" id="{DD871AE9-E5E1-4B6D-8FD4-3957E078F20F}"/>
              </a:ext>
            </a:extLst>
          </p:cNvPr>
          <p:cNvSpPr>
            <a:spLocks noGrp="1"/>
          </p:cNvSpPr>
          <p:nvPr/>
        </p:nvSpPr>
        <p:spPr>
          <a:xfrm>
            <a:off x="685800" y="400050"/>
            <a:ext cx="457200" cy="285750"/>
          </a:xfrm>
          <a:prstGeom prst="rect">
            <a:avLst/>
          </a:prstGeom>
          <a:noFill/>
          <a:ln w="0">
            <a:noFill/>
            <a:prstDash val="solid"/>
          </a:ln>
        </p:spPr>
        <p:txBody>
          <a:bodyPr anchor="ctr"/>
          <a:lstStyle>
            <a:defPPr>
              <a:defRPr sz="1050" b="1">
                <a:solidFill>
                  <a:srgbClr val="00A6A6"/>
                </a:solidFill>
              </a:defRPr>
            </a:defPPr>
          </a:lstStyle>
          <a:p>
            <a:pPr>
              <a:defRPr sz="1050" b="1">
                <a:solidFill>
                  <a:srgbClr val="00A6A6"/>
                </a:solidFill>
              </a:defRPr>
            </a:pPr>
            <a:r>
              <a:rPr sz="1050" b="1">
                <a:solidFill>
                  <a:srgbClr val="00A6A6"/>
                </a:solidFill>
              </a:rPr>
              <a:t>05</a:t>
            </a:r>
          </a:p>
        </p:txBody>
      </p:sp>
      <p:sp>
        <p:nvSpPr>
          <p:cNvPr id="2" name="Rectangle 1">
            <a:extLst>
              <a:ext uri="{FF2B5EF4-FFF2-40B4-BE49-F238E27FC236}">
                <a16:creationId xmlns:a16="http://schemas.microsoft.com/office/drawing/2014/main" id="{585DD805-ACA8-496E-8543-65E6AD61AAEA}"/>
              </a:ext>
            </a:extLst>
          </p:cNvPr>
          <p:cNvSpPr>
            <a:spLocks noGrp="1"/>
          </p:cNvSpPr>
          <p:nvPr/>
        </p:nvSpPr>
        <p:spPr>
          <a:xfrm>
            <a:off x="685800" y="714375"/>
            <a:ext cx="10668000" cy="533400"/>
          </a:xfrm>
          <a:prstGeom prst="rect">
            <a:avLst/>
          </a:prstGeom>
          <a:noFill/>
          <a:ln w="0">
            <a:noFill/>
            <a:prstDash val="solid"/>
          </a:ln>
        </p:spPr>
        <p:txBody>
          <a:bodyPr anchor="ctr"/>
          <a:lstStyle>
            <a:defPPr>
              <a:defRPr sz="2400" b="1">
                <a:solidFill>
                  <a:srgbClr val="102A43"/>
                </a:solidFill>
              </a:defRPr>
            </a:defPPr>
          </a:lstStyle>
          <a:p>
            <a:pPr>
              <a:defRPr sz="2400" b="1">
                <a:solidFill>
                  <a:srgbClr val="102A43"/>
                </a:solidFill>
              </a:defRPr>
            </a:pPr>
            <a:r>
              <a:rPr sz="2400" b="1">
                <a:solidFill>
                  <a:srgbClr val="102A43"/>
                </a:solidFill>
              </a:rPr>
              <a:t>A short demo proves the data path, then frames the decision</a:t>
            </a:r>
          </a:p>
        </p:txBody>
      </p:sp>
      <p:sp>
        <p:nvSpPr>
          <p:cNvPr id="3" name="Rectangle 2">
            <a:extLst>
              <a:ext uri="{FF2B5EF4-FFF2-40B4-BE49-F238E27FC236}">
                <a16:creationId xmlns:a16="http://schemas.microsoft.com/office/drawing/2014/main" id="{0A418BB6-AE3C-46BE-9D8D-7E0821F36B00}"/>
              </a:ext>
            </a:extLst>
          </p:cNvPr>
          <p:cNvSpPr>
            <a:spLocks noGrp="1"/>
          </p:cNvSpPr>
          <p:nvPr/>
        </p:nvSpPr>
        <p:spPr>
          <a:xfrm>
            <a:off x="685800" y="1266825"/>
            <a:ext cx="10668000" cy="304800"/>
          </a:xfrm>
          <a:prstGeom prst="rect">
            <a:avLst/>
          </a:prstGeom>
          <a:noFill/>
          <a:ln w="0">
            <a:noFill/>
            <a:prstDash val="solid"/>
          </a:ln>
        </p:spPr>
        <p:txBody>
          <a:bodyPr anchor="ctr"/>
          <a:lstStyle>
            <a:defPPr>
              <a:defRPr sz="1200" b="0">
                <a:solidFill>
                  <a:srgbClr val="52606D"/>
                </a:solidFill>
              </a:defRPr>
            </a:defPPr>
          </a:lstStyle>
          <a:p>
            <a:pPr>
              <a:defRPr sz="1200" b="0">
                <a:solidFill>
                  <a:srgbClr val="52606D"/>
                </a:solidFill>
              </a:defRPr>
            </a:pPr>
            <a:endParaRPr sz="1200" b="0" dirty="0">
              <a:solidFill>
                <a:srgbClr val="52606D"/>
              </a:solidFill>
            </a:endParaRPr>
          </a:p>
        </p:txBody>
      </p:sp>
      <p:sp>
        <p:nvSpPr>
          <p:cNvPr id="4" name="Rectangle 3">
            <a:extLst>
              <a:ext uri="{FF2B5EF4-FFF2-40B4-BE49-F238E27FC236}">
                <a16:creationId xmlns:a16="http://schemas.microsoft.com/office/drawing/2014/main" id="{DCB82417-313C-4759-9A41-9BB30768A3CD}"/>
              </a:ext>
            </a:extLst>
          </p:cNvPr>
          <p:cNvSpPr>
            <a:spLocks noGrp="1"/>
          </p:cNvSpPr>
          <p:nvPr/>
        </p:nvSpPr>
        <p:spPr>
          <a:xfrm>
            <a:off x="685800" y="1695450"/>
            <a:ext cx="10820400" cy="19050"/>
          </a:xfrm>
          <a:prstGeom prst="rect">
            <a:avLst/>
          </a:prstGeom>
          <a:solidFill>
            <a:srgbClr val="D9E2EC"/>
          </a:solidFill>
          <a:ln w="0">
            <a:noFill/>
            <a:prstDash val="solid"/>
          </a:ln>
        </p:spPr>
      </p:sp>
      <p:sp>
        <p:nvSpPr>
          <p:cNvPr id="5" name="Rectangle 4">
            <a:extLst>
              <a:ext uri="{FF2B5EF4-FFF2-40B4-BE49-F238E27FC236}">
                <a16:creationId xmlns:a16="http://schemas.microsoft.com/office/drawing/2014/main" id="{B2151C2A-6486-4391-B144-80BD24B0BAE6}"/>
              </a:ext>
            </a:extLst>
          </p:cNvPr>
          <p:cNvSpPr>
            <a:spLocks noGrp="1"/>
          </p:cNvSpPr>
          <p:nvPr/>
        </p:nvSpPr>
        <p:spPr>
          <a:xfrm>
            <a:off x="685800" y="2143125"/>
            <a:ext cx="2571750" cy="285750"/>
          </a:xfrm>
          <a:prstGeom prst="rect">
            <a:avLst/>
          </a:prstGeom>
          <a:noFill/>
          <a:ln w="0">
            <a:noFill/>
            <a:prstDash val="solid"/>
          </a:ln>
        </p:spPr>
        <p:txBody>
          <a:bodyPr anchor="ctr"/>
          <a:lstStyle>
            <a:defPPr>
              <a:defRPr sz="1650" b="1">
                <a:solidFill>
                  <a:srgbClr val="102A43"/>
                </a:solidFill>
              </a:defRPr>
            </a:defPPr>
          </a:lstStyle>
          <a:p>
            <a:pPr>
              <a:defRPr sz="1650" b="1">
                <a:solidFill>
                  <a:srgbClr val="102A43"/>
                </a:solidFill>
              </a:defRPr>
            </a:pPr>
            <a:r>
              <a:rPr sz="1650" b="1">
                <a:solidFill>
                  <a:srgbClr val="102A43"/>
                </a:solidFill>
              </a:rPr>
              <a:t>Live demo sequence</a:t>
            </a:r>
          </a:p>
        </p:txBody>
      </p:sp>
      <p:sp>
        <p:nvSpPr>
          <p:cNvPr id="6" name="Rectangle 5">
            <a:extLst>
              <a:ext uri="{FF2B5EF4-FFF2-40B4-BE49-F238E27FC236}">
                <a16:creationId xmlns:a16="http://schemas.microsoft.com/office/drawing/2014/main" id="{8548FC2B-9F48-4162-A654-ED32CB453E9C}"/>
              </a:ext>
            </a:extLst>
          </p:cNvPr>
          <p:cNvSpPr>
            <a:spLocks noGrp="1"/>
          </p:cNvSpPr>
          <p:nvPr/>
        </p:nvSpPr>
        <p:spPr>
          <a:xfrm>
            <a:off x="685800" y="2647950"/>
            <a:ext cx="476250" cy="228600"/>
          </a:xfrm>
          <a:prstGeom prst="rect">
            <a:avLst/>
          </a:prstGeom>
          <a:noFill/>
          <a:ln w="0">
            <a:noFill/>
            <a:prstDash val="solid"/>
          </a:ln>
        </p:spPr>
        <p:txBody>
          <a:bodyPr anchor="ctr"/>
          <a:lstStyle>
            <a:defPPr>
              <a:defRPr sz="1200" b="1">
                <a:solidFill>
                  <a:srgbClr val="00A6A6"/>
                </a:solidFill>
              </a:defRPr>
            </a:defPPr>
          </a:lstStyle>
          <a:p>
            <a:pPr>
              <a:defRPr sz="1200" b="1">
                <a:solidFill>
                  <a:srgbClr val="00A6A6"/>
                </a:solidFill>
              </a:defRPr>
            </a:pPr>
            <a:r>
              <a:rPr sz="1200" b="1">
                <a:solidFill>
                  <a:srgbClr val="00A6A6"/>
                </a:solidFill>
              </a:rPr>
              <a:t>01</a:t>
            </a:r>
          </a:p>
        </p:txBody>
      </p:sp>
      <p:sp>
        <p:nvSpPr>
          <p:cNvPr id="7" name="Rectangle 6">
            <a:extLst>
              <a:ext uri="{FF2B5EF4-FFF2-40B4-BE49-F238E27FC236}">
                <a16:creationId xmlns:a16="http://schemas.microsoft.com/office/drawing/2014/main" id="{2C8590CA-11B7-453B-AD00-77D3DE14D768}"/>
              </a:ext>
            </a:extLst>
          </p:cNvPr>
          <p:cNvSpPr>
            <a:spLocks noGrp="1"/>
          </p:cNvSpPr>
          <p:nvPr/>
        </p:nvSpPr>
        <p:spPr>
          <a:xfrm>
            <a:off x="1314450" y="2647950"/>
            <a:ext cx="2095500" cy="228600"/>
          </a:xfrm>
          <a:prstGeom prst="rect">
            <a:avLst/>
          </a:prstGeom>
          <a:noFill/>
          <a:ln w="0">
            <a:noFill/>
            <a:prstDash val="solid"/>
          </a:ln>
        </p:spPr>
        <p:txBody>
          <a:bodyPr anchor="ctr"/>
          <a:lstStyle>
            <a:defPPr>
              <a:defRPr sz="1425" b="1">
                <a:solidFill>
                  <a:srgbClr val="1F2933"/>
                </a:solidFill>
              </a:defRPr>
            </a:defPPr>
          </a:lstStyle>
          <a:p>
            <a:pPr>
              <a:defRPr sz="1425" b="1">
                <a:solidFill>
                  <a:srgbClr val="1F2933"/>
                </a:solidFill>
              </a:defRPr>
            </a:pPr>
            <a:r>
              <a:rPr sz="1425" b="1">
                <a:solidFill>
                  <a:srgbClr val="1F2933"/>
                </a:solidFill>
              </a:rPr>
              <a:t>Run generator</a:t>
            </a:r>
          </a:p>
        </p:txBody>
      </p:sp>
      <p:sp>
        <p:nvSpPr>
          <p:cNvPr id="8" name="Rectangle 7">
            <a:extLst>
              <a:ext uri="{FF2B5EF4-FFF2-40B4-BE49-F238E27FC236}">
                <a16:creationId xmlns:a16="http://schemas.microsoft.com/office/drawing/2014/main" id="{7D57EC4C-2879-4D20-A379-E356B52A6D66}"/>
              </a:ext>
            </a:extLst>
          </p:cNvPr>
          <p:cNvSpPr>
            <a:spLocks noGrp="1"/>
          </p:cNvSpPr>
          <p:nvPr/>
        </p:nvSpPr>
        <p:spPr>
          <a:xfrm>
            <a:off x="3600450" y="2647950"/>
            <a:ext cx="2762250" cy="228600"/>
          </a:xfrm>
          <a:prstGeom prst="rect">
            <a:avLst/>
          </a:prstGeom>
          <a:noFill/>
          <a:ln w="0">
            <a:noFill/>
            <a:prstDash val="solid"/>
          </a:ln>
        </p:spPr>
        <p:txBody>
          <a:bodyPr anchor="ctr"/>
          <a:lstStyle>
            <a:defPPr>
              <a:defRPr sz="1275" b="0">
                <a:solidFill>
                  <a:srgbClr val="52606D"/>
                </a:solidFill>
              </a:defRPr>
            </a:defPPr>
          </a:lstStyle>
          <a:p>
            <a:pPr>
              <a:defRPr sz="1275" b="0">
                <a:solidFill>
                  <a:srgbClr val="52606D"/>
                </a:solidFill>
              </a:defRPr>
            </a:pPr>
            <a:r>
              <a:rPr sz="1275" b="0">
                <a:solidFill>
                  <a:srgbClr val="52606D"/>
                </a:solidFill>
              </a:rPr>
              <a:t>Creates raw CSV inputs</a:t>
            </a:r>
          </a:p>
        </p:txBody>
      </p:sp>
      <p:sp>
        <p:nvSpPr>
          <p:cNvPr id="9" name="Rectangle 8">
            <a:extLst>
              <a:ext uri="{FF2B5EF4-FFF2-40B4-BE49-F238E27FC236}">
                <a16:creationId xmlns:a16="http://schemas.microsoft.com/office/drawing/2014/main" id="{666DFFB9-72D8-4117-935A-E0AC5035D900}"/>
              </a:ext>
            </a:extLst>
          </p:cNvPr>
          <p:cNvSpPr>
            <a:spLocks noGrp="1"/>
          </p:cNvSpPr>
          <p:nvPr/>
        </p:nvSpPr>
        <p:spPr>
          <a:xfrm>
            <a:off x="685800" y="3314700"/>
            <a:ext cx="476250" cy="228600"/>
          </a:xfrm>
          <a:prstGeom prst="rect">
            <a:avLst/>
          </a:prstGeom>
          <a:noFill/>
          <a:ln w="0">
            <a:noFill/>
            <a:prstDash val="solid"/>
          </a:ln>
        </p:spPr>
        <p:txBody>
          <a:bodyPr anchor="ctr"/>
          <a:lstStyle>
            <a:defPPr>
              <a:defRPr sz="1200" b="1">
                <a:solidFill>
                  <a:srgbClr val="00A6A6"/>
                </a:solidFill>
              </a:defRPr>
            </a:defPPr>
          </a:lstStyle>
          <a:p>
            <a:pPr>
              <a:defRPr sz="1200" b="1">
                <a:solidFill>
                  <a:srgbClr val="00A6A6"/>
                </a:solidFill>
              </a:defRPr>
            </a:pPr>
            <a:r>
              <a:rPr sz="1200" b="1">
                <a:solidFill>
                  <a:srgbClr val="00A6A6"/>
                </a:solidFill>
              </a:rPr>
              <a:t>02</a:t>
            </a:r>
          </a:p>
        </p:txBody>
      </p:sp>
      <p:sp>
        <p:nvSpPr>
          <p:cNvPr id="10" name="Rectangle 9">
            <a:extLst>
              <a:ext uri="{FF2B5EF4-FFF2-40B4-BE49-F238E27FC236}">
                <a16:creationId xmlns:a16="http://schemas.microsoft.com/office/drawing/2014/main" id="{F4F36988-B3A8-429B-9BAA-4A85B2B466AE}"/>
              </a:ext>
            </a:extLst>
          </p:cNvPr>
          <p:cNvSpPr>
            <a:spLocks noGrp="1"/>
          </p:cNvSpPr>
          <p:nvPr/>
        </p:nvSpPr>
        <p:spPr>
          <a:xfrm>
            <a:off x="1314450" y="3314700"/>
            <a:ext cx="2095500" cy="228600"/>
          </a:xfrm>
          <a:prstGeom prst="rect">
            <a:avLst/>
          </a:prstGeom>
          <a:noFill/>
          <a:ln w="0">
            <a:noFill/>
            <a:prstDash val="solid"/>
          </a:ln>
        </p:spPr>
        <p:txBody>
          <a:bodyPr anchor="ctr"/>
          <a:lstStyle>
            <a:defPPr>
              <a:defRPr sz="1425" b="1">
                <a:solidFill>
                  <a:srgbClr val="1F2933"/>
                </a:solidFill>
              </a:defRPr>
            </a:defPPr>
          </a:lstStyle>
          <a:p>
            <a:pPr>
              <a:defRPr sz="1425" b="1">
                <a:solidFill>
                  <a:srgbClr val="1F2933"/>
                </a:solidFill>
              </a:defRPr>
            </a:pPr>
            <a:r>
              <a:rPr sz="1425" b="1">
                <a:solidFill>
                  <a:srgbClr val="1F2933"/>
                </a:solidFill>
              </a:rPr>
              <a:t>Open notebook</a:t>
            </a:r>
          </a:p>
        </p:txBody>
      </p:sp>
      <p:sp>
        <p:nvSpPr>
          <p:cNvPr id="11" name="Rectangle 10">
            <a:extLst>
              <a:ext uri="{FF2B5EF4-FFF2-40B4-BE49-F238E27FC236}">
                <a16:creationId xmlns:a16="http://schemas.microsoft.com/office/drawing/2014/main" id="{20D4A63B-F1B4-426F-BB59-AEE7E75902A5}"/>
              </a:ext>
            </a:extLst>
          </p:cNvPr>
          <p:cNvSpPr>
            <a:spLocks noGrp="1"/>
          </p:cNvSpPr>
          <p:nvPr/>
        </p:nvSpPr>
        <p:spPr>
          <a:xfrm>
            <a:off x="3600450" y="3314700"/>
            <a:ext cx="2762250" cy="228600"/>
          </a:xfrm>
          <a:prstGeom prst="rect">
            <a:avLst/>
          </a:prstGeom>
          <a:noFill/>
          <a:ln w="0">
            <a:noFill/>
            <a:prstDash val="solid"/>
          </a:ln>
        </p:spPr>
        <p:txBody>
          <a:bodyPr anchor="ctr"/>
          <a:lstStyle>
            <a:defPPr>
              <a:defRPr sz="1275" b="0">
                <a:solidFill>
                  <a:srgbClr val="52606D"/>
                </a:solidFill>
              </a:defRPr>
            </a:defPPr>
          </a:lstStyle>
          <a:p>
            <a:pPr>
              <a:defRPr sz="1275" b="0">
                <a:solidFill>
                  <a:srgbClr val="52606D"/>
                </a:solidFill>
              </a:defRPr>
            </a:pPr>
            <a:r>
              <a:rPr sz="1275" b="0" dirty="0">
                <a:solidFill>
                  <a:srgbClr val="52606D"/>
                </a:solidFill>
              </a:rPr>
              <a:t>Resample and inspect demand</a:t>
            </a:r>
          </a:p>
        </p:txBody>
      </p:sp>
      <p:sp>
        <p:nvSpPr>
          <p:cNvPr id="12" name="Rectangle 11">
            <a:extLst>
              <a:ext uri="{FF2B5EF4-FFF2-40B4-BE49-F238E27FC236}">
                <a16:creationId xmlns:a16="http://schemas.microsoft.com/office/drawing/2014/main" id="{C2E17ED9-5F3E-4D9D-AF1F-A9748537C97B}"/>
              </a:ext>
            </a:extLst>
          </p:cNvPr>
          <p:cNvSpPr>
            <a:spLocks noGrp="1"/>
          </p:cNvSpPr>
          <p:nvPr/>
        </p:nvSpPr>
        <p:spPr>
          <a:xfrm>
            <a:off x="685800" y="3981450"/>
            <a:ext cx="476250" cy="228600"/>
          </a:xfrm>
          <a:prstGeom prst="rect">
            <a:avLst/>
          </a:prstGeom>
          <a:noFill/>
          <a:ln w="0">
            <a:noFill/>
            <a:prstDash val="solid"/>
          </a:ln>
        </p:spPr>
        <p:txBody>
          <a:bodyPr anchor="ctr"/>
          <a:lstStyle>
            <a:defPPr>
              <a:defRPr sz="1200" b="1">
                <a:solidFill>
                  <a:srgbClr val="00A6A6"/>
                </a:solidFill>
              </a:defRPr>
            </a:defPPr>
          </a:lstStyle>
          <a:p>
            <a:pPr>
              <a:defRPr sz="1200" b="1">
                <a:solidFill>
                  <a:srgbClr val="00A6A6"/>
                </a:solidFill>
              </a:defRPr>
            </a:pPr>
            <a:r>
              <a:rPr sz="1200" b="1">
                <a:solidFill>
                  <a:srgbClr val="00A6A6"/>
                </a:solidFill>
              </a:rPr>
              <a:t>03</a:t>
            </a:r>
          </a:p>
        </p:txBody>
      </p:sp>
      <p:sp>
        <p:nvSpPr>
          <p:cNvPr id="13" name="Rectangle 12">
            <a:extLst>
              <a:ext uri="{FF2B5EF4-FFF2-40B4-BE49-F238E27FC236}">
                <a16:creationId xmlns:a16="http://schemas.microsoft.com/office/drawing/2014/main" id="{3A505579-C194-4EB4-9481-46F9CDB561FB}"/>
              </a:ext>
            </a:extLst>
          </p:cNvPr>
          <p:cNvSpPr>
            <a:spLocks noGrp="1"/>
          </p:cNvSpPr>
          <p:nvPr/>
        </p:nvSpPr>
        <p:spPr>
          <a:xfrm>
            <a:off x="1314450" y="3981450"/>
            <a:ext cx="2095500" cy="228600"/>
          </a:xfrm>
          <a:prstGeom prst="rect">
            <a:avLst/>
          </a:prstGeom>
          <a:noFill/>
          <a:ln w="0">
            <a:noFill/>
            <a:prstDash val="solid"/>
          </a:ln>
        </p:spPr>
        <p:txBody>
          <a:bodyPr anchor="ctr"/>
          <a:lstStyle>
            <a:defPPr>
              <a:defRPr sz="1425" b="1">
                <a:solidFill>
                  <a:srgbClr val="1F2933"/>
                </a:solidFill>
              </a:defRPr>
            </a:defPPr>
          </a:lstStyle>
          <a:p>
            <a:pPr>
              <a:defRPr sz="1425" b="1">
                <a:solidFill>
                  <a:srgbClr val="1F2933"/>
                </a:solidFill>
              </a:defRPr>
            </a:pPr>
            <a:r>
              <a:rPr sz="1425" b="1">
                <a:solidFill>
                  <a:srgbClr val="1F2933"/>
                </a:solidFill>
              </a:rPr>
              <a:t>Focus on 4–8 PM</a:t>
            </a:r>
          </a:p>
        </p:txBody>
      </p:sp>
      <p:sp>
        <p:nvSpPr>
          <p:cNvPr id="14" name="Rectangle 13">
            <a:extLst>
              <a:ext uri="{FF2B5EF4-FFF2-40B4-BE49-F238E27FC236}">
                <a16:creationId xmlns:a16="http://schemas.microsoft.com/office/drawing/2014/main" id="{D7AA0293-0806-4A7E-97FC-69ECFF3B9D09}"/>
              </a:ext>
            </a:extLst>
          </p:cNvPr>
          <p:cNvSpPr>
            <a:spLocks noGrp="1"/>
          </p:cNvSpPr>
          <p:nvPr/>
        </p:nvSpPr>
        <p:spPr>
          <a:xfrm>
            <a:off x="3600450" y="3981450"/>
            <a:ext cx="2762250" cy="228600"/>
          </a:xfrm>
          <a:prstGeom prst="rect">
            <a:avLst/>
          </a:prstGeom>
          <a:noFill/>
          <a:ln w="0">
            <a:noFill/>
            <a:prstDash val="solid"/>
          </a:ln>
        </p:spPr>
        <p:txBody>
          <a:bodyPr anchor="ctr"/>
          <a:lstStyle>
            <a:defPPr>
              <a:defRPr sz="1275" b="0">
                <a:solidFill>
                  <a:srgbClr val="52606D"/>
                </a:solidFill>
              </a:defRPr>
            </a:defPPr>
          </a:lstStyle>
          <a:p>
            <a:pPr>
              <a:defRPr sz="1275" b="0">
                <a:solidFill>
                  <a:srgbClr val="52606D"/>
                </a:solidFill>
              </a:defRPr>
            </a:pPr>
            <a:r>
              <a:rPr sz="1275" b="0">
                <a:solidFill>
                  <a:srgbClr val="52606D"/>
                </a:solidFill>
              </a:rPr>
              <a:t>Show the peak window</a:t>
            </a:r>
          </a:p>
        </p:txBody>
      </p:sp>
      <p:sp>
        <p:nvSpPr>
          <p:cNvPr id="15" name="Rectangle 14">
            <a:extLst>
              <a:ext uri="{FF2B5EF4-FFF2-40B4-BE49-F238E27FC236}">
                <a16:creationId xmlns:a16="http://schemas.microsoft.com/office/drawing/2014/main" id="{2CF8F7CE-B9E1-4F28-8D4A-42CB38101B40}"/>
              </a:ext>
            </a:extLst>
          </p:cNvPr>
          <p:cNvSpPr>
            <a:spLocks noGrp="1"/>
          </p:cNvSpPr>
          <p:nvPr/>
        </p:nvSpPr>
        <p:spPr>
          <a:xfrm>
            <a:off x="685800" y="4648200"/>
            <a:ext cx="476250" cy="228600"/>
          </a:xfrm>
          <a:prstGeom prst="rect">
            <a:avLst/>
          </a:prstGeom>
          <a:noFill/>
          <a:ln w="0">
            <a:noFill/>
            <a:prstDash val="solid"/>
          </a:ln>
        </p:spPr>
        <p:txBody>
          <a:bodyPr anchor="ctr"/>
          <a:lstStyle>
            <a:defPPr>
              <a:defRPr sz="1200" b="1">
                <a:solidFill>
                  <a:srgbClr val="00A6A6"/>
                </a:solidFill>
              </a:defRPr>
            </a:defPPr>
          </a:lstStyle>
          <a:p>
            <a:pPr>
              <a:defRPr sz="1200" b="1">
                <a:solidFill>
                  <a:srgbClr val="00A6A6"/>
                </a:solidFill>
              </a:defRPr>
            </a:pPr>
            <a:r>
              <a:rPr sz="1200" b="1">
                <a:solidFill>
                  <a:srgbClr val="00A6A6"/>
                </a:solidFill>
              </a:rPr>
              <a:t>04</a:t>
            </a:r>
          </a:p>
        </p:txBody>
      </p:sp>
      <p:sp>
        <p:nvSpPr>
          <p:cNvPr id="16" name="Rectangle 15">
            <a:extLst>
              <a:ext uri="{FF2B5EF4-FFF2-40B4-BE49-F238E27FC236}">
                <a16:creationId xmlns:a16="http://schemas.microsoft.com/office/drawing/2014/main" id="{3F5C09C2-9CE0-49CF-B01B-EE6E5D74CE8E}"/>
              </a:ext>
            </a:extLst>
          </p:cNvPr>
          <p:cNvSpPr>
            <a:spLocks noGrp="1"/>
          </p:cNvSpPr>
          <p:nvPr/>
        </p:nvSpPr>
        <p:spPr>
          <a:xfrm>
            <a:off x="1314450" y="4648200"/>
            <a:ext cx="2095500" cy="228600"/>
          </a:xfrm>
          <a:prstGeom prst="rect">
            <a:avLst/>
          </a:prstGeom>
          <a:noFill/>
          <a:ln w="0">
            <a:noFill/>
            <a:prstDash val="solid"/>
          </a:ln>
        </p:spPr>
        <p:txBody>
          <a:bodyPr anchor="ctr"/>
          <a:lstStyle>
            <a:defPPr>
              <a:defRPr sz="1425" b="1">
                <a:solidFill>
                  <a:srgbClr val="1F2933"/>
                </a:solidFill>
              </a:defRPr>
            </a:defPPr>
          </a:lstStyle>
          <a:p>
            <a:pPr>
              <a:defRPr sz="1425" b="1">
                <a:solidFill>
                  <a:srgbClr val="1F2933"/>
                </a:solidFill>
              </a:defRPr>
            </a:pPr>
            <a:r>
              <a:rPr sz="1425" b="1">
                <a:solidFill>
                  <a:srgbClr val="1F2933"/>
                </a:solidFill>
              </a:rPr>
              <a:t>Explain next model step</a:t>
            </a:r>
          </a:p>
        </p:txBody>
      </p:sp>
      <p:sp>
        <p:nvSpPr>
          <p:cNvPr id="17" name="Rectangle 16">
            <a:extLst>
              <a:ext uri="{FF2B5EF4-FFF2-40B4-BE49-F238E27FC236}">
                <a16:creationId xmlns:a16="http://schemas.microsoft.com/office/drawing/2014/main" id="{65575C71-CCA9-4721-8051-9C681CEA9307}"/>
              </a:ext>
            </a:extLst>
          </p:cNvPr>
          <p:cNvSpPr>
            <a:spLocks noGrp="1"/>
          </p:cNvSpPr>
          <p:nvPr/>
        </p:nvSpPr>
        <p:spPr>
          <a:xfrm>
            <a:off x="3600450" y="4648200"/>
            <a:ext cx="2762250" cy="228600"/>
          </a:xfrm>
          <a:prstGeom prst="rect">
            <a:avLst/>
          </a:prstGeom>
          <a:noFill/>
          <a:ln w="0">
            <a:noFill/>
            <a:prstDash val="solid"/>
          </a:ln>
        </p:spPr>
        <p:txBody>
          <a:bodyPr anchor="ctr"/>
          <a:lstStyle>
            <a:defPPr>
              <a:defRPr sz="1275" b="0">
                <a:solidFill>
                  <a:srgbClr val="52606D"/>
                </a:solidFill>
              </a:defRPr>
            </a:defPPr>
          </a:lstStyle>
          <a:p>
            <a:pPr>
              <a:defRPr sz="1275" b="0">
                <a:solidFill>
                  <a:srgbClr val="52606D"/>
                </a:solidFill>
              </a:defRPr>
            </a:pPr>
            <a:r>
              <a:rPr sz="1275" b="0">
                <a:solidFill>
                  <a:srgbClr val="52606D"/>
                </a:solidFill>
              </a:rPr>
              <a:t>Infer missing intervals within billing constraints</a:t>
            </a:r>
          </a:p>
        </p:txBody>
      </p:sp>
      <p:sp>
        <p:nvSpPr>
          <p:cNvPr id="18" name="Rounded Rectangle 17">
            <a:extLst>
              <a:ext uri="{FF2B5EF4-FFF2-40B4-BE49-F238E27FC236}">
                <a16:creationId xmlns:a16="http://schemas.microsoft.com/office/drawing/2014/main" id="{4B3B7929-1515-4E54-AE06-47A365D14F99}"/>
              </a:ext>
            </a:extLst>
          </p:cNvPr>
          <p:cNvSpPr>
            <a:spLocks noGrp="1"/>
          </p:cNvSpPr>
          <p:nvPr/>
        </p:nvSpPr>
        <p:spPr>
          <a:xfrm>
            <a:off x="7239000" y="2900613"/>
            <a:ext cx="3619500" cy="2857500"/>
          </a:xfrm>
          <a:prstGeom prst="roundRect">
            <a:avLst>
              <a:gd name="adj" fmla="val 2667"/>
            </a:avLst>
          </a:prstGeom>
          <a:solidFill>
            <a:srgbClr val="FFFFFF"/>
          </a:solidFill>
          <a:ln w="0">
            <a:noFill/>
            <a:prstDash val="solid"/>
          </a:ln>
        </p:spPr>
      </p:sp>
      <p:sp>
        <p:nvSpPr>
          <p:cNvPr id="19" name="Rectangle 18">
            <a:extLst>
              <a:ext uri="{FF2B5EF4-FFF2-40B4-BE49-F238E27FC236}">
                <a16:creationId xmlns:a16="http://schemas.microsoft.com/office/drawing/2014/main" id="{78CF47C9-113D-4610-9529-B0C9C3400C0E}"/>
              </a:ext>
            </a:extLst>
          </p:cNvPr>
          <p:cNvSpPr>
            <a:spLocks noGrp="1"/>
          </p:cNvSpPr>
          <p:nvPr/>
        </p:nvSpPr>
        <p:spPr>
          <a:xfrm>
            <a:off x="7543800" y="2476500"/>
            <a:ext cx="3009900" cy="266700"/>
          </a:xfrm>
          <a:prstGeom prst="rect">
            <a:avLst/>
          </a:prstGeom>
          <a:noFill/>
          <a:ln w="0">
            <a:noFill/>
            <a:prstDash val="solid"/>
          </a:ln>
        </p:spPr>
        <p:txBody>
          <a:bodyPr anchor="ctr"/>
          <a:lstStyle>
            <a:defPPr>
              <a:defRPr sz="1500" b="1">
                <a:solidFill>
                  <a:srgbClr val="102A43"/>
                </a:solidFill>
              </a:defRPr>
            </a:defPPr>
          </a:lstStyle>
          <a:p>
            <a:pPr>
              <a:defRPr sz="1500" b="1">
                <a:solidFill>
                  <a:srgbClr val="102A43"/>
                </a:solidFill>
              </a:defRPr>
            </a:pPr>
            <a:endParaRPr sz="1500" b="1" dirty="0">
              <a:solidFill>
                <a:srgbClr val="102A43"/>
              </a:solidFill>
            </a:endParaRPr>
          </a:p>
        </p:txBody>
      </p:sp>
      <p:sp>
        <p:nvSpPr>
          <p:cNvPr id="20" name="Rectangle 19">
            <a:extLst>
              <a:ext uri="{FF2B5EF4-FFF2-40B4-BE49-F238E27FC236}">
                <a16:creationId xmlns:a16="http://schemas.microsoft.com/office/drawing/2014/main" id="{311FEB47-C5B6-4414-8893-A26FA60400BE}"/>
              </a:ext>
            </a:extLst>
          </p:cNvPr>
          <p:cNvSpPr>
            <a:spLocks noGrp="1"/>
          </p:cNvSpPr>
          <p:nvPr/>
        </p:nvSpPr>
        <p:spPr>
          <a:xfrm>
            <a:off x="7543800" y="3831055"/>
            <a:ext cx="3009900" cy="1428750"/>
          </a:xfrm>
          <a:prstGeom prst="rect">
            <a:avLst/>
          </a:prstGeom>
          <a:noFill/>
          <a:ln w="0">
            <a:noFill/>
            <a:prstDash val="solid"/>
          </a:ln>
        </p:spPr>
        <p:txBody>
          <a:bodyPr anchor="ctr"/>
          <a:lstStyle>
            <a:defPPr>
              <a:defRPr sz="1350" b="0">
                <a:solidFill>
                  <a:srgbClr val="1F2933"/>
                </a:solidFill>
              </a:defRPr>
            </a:defPPr>
          </a:lstStyle>
          <a:p>
            <a:pPr>
              <a:defRPr sz="1350" b="0">
                <a:solidFill>
                  <a:srgbClr val="1F2933"/>
                </a:solidFill>
              </a:defRPr>
            </a:pPr>
            <a:r>
              <a:rPr sz="1350" b="0" dirty="0">
                <a:solidFill>
                  <a:srgbClr val="1F2933"/>
                </a:solidFill>
              </a:rPr>
              <a:t>notebooks/01_baseline_eda.ipynb</a:t>
            </a:r>
          </a:p>
          <a:p>
            <a:endParaRPr sz="1350" b="0" dirty="0">
              <a:solidFill>
                <a:srgbClr val="1F2933"/>
              </a:solidFill>
            </a:endParaRPr>
          </a:p>
          <a:p>
            <a:pPr>
              <a:defRPr sz="1350" b="0">
                <a:solidFill>
                  <a:srgbClr val="1F2933"/>
                </a:solidFill>
              </a:defRPr>
            </a:pPr>
            <a:r>
              <a:rPr sz="1350" b="0" dirty="0">
                <a:solidFill>
                  <a:srgbClr val="1F2933"/>
                </a:solidFill>
              </a:rPr>
              <a:t>The actual 4–8 PM demand-spike chart</a:t>
            </a:r>
          </a:p>
          <a:p>
            <a:endParaRPr sz="1350" b="0" dirty="0">
              <a:solidFill>
                <a:srgbClr val="1F2933"/>
              </a:solidFill>
            </a:endParaRPr>
          </a:p>
          <a:p>
            <a:pPr>
              <a:defRPr sz="1350" b="0">
                <a:solidFill>
                  <a:srgbClr val="1F2933"/>
                </a:solidFill>
              </a:defRPr>
            </a:pPr>
            <a:r>
              <a:rPr sz="1350" b="0" dirty="0">
                <a:solidFill>
                  <a:srgbClr val="1F2933"/>
                </a:solidFill>
              </a:rPr>
              <a:t>Show the repository output, then point to</a:t>
            </a:r>
          </a:p>
          <a:p>
            <a:pPr>
              <a:defRPr sz="1350" b="0">
                <a:solidFill>
                  <a:srgbClr val="1F2933"/>
                </a:solidFill>
              </a:defRPr>
            </a:pPr>
            <a:r>
              <a:rPr sz="1350" b="0" dirty="0">
                <a:solidFill>
                  <a:srgbClr val="1F2933"/>
                </a:solidFill>
              </a:rPr>
              <a:t>missing spans that a future model will infer.</a:t>
            </a:r>
          </a:p>
        </p:txBody>
      </p:sp>
      <p:sp>
        <p:nvSpPr>
          <p:cNvPr id="21" name="Rectangle 20">
            <a:extLst>
              <a:ext uri="{FF2B5EF4-FFF2-40B4-BE49-F238E27FC236}">
                <a16:creationId xmlns:a16="http://schemas.microsoft.com/office/drawing/2014/main" id="{35F7B1B5-2AC8-477F-B1C2-96EEE32C9ACE}"/>
              </a:ext>
            </a:extLst>
          </p:cNvPr>
          <p:cNvSpPr>
            <a:spLocks noGrp="1"/>
          </p:cNvSpPr>
          <p:nvPr/>
        </p:nvSpPr>
        <p:spPr>
          <a:xfrm>
            <a:off x="685800" y="6477000"/>
            <a:ext cx="5334000" cy="171450"/>
          </a:xfrm>
          <a:prstGeom prst="rect">
            <a:avLst/>
          </a:prstGeom>
          <a:noFill/>
          <a:ln w="0">
            <a:noFill/>
            <a:prstDash val="solid"/>
          </a:ln>
        </p:spPr>
        <p:txBody>
          <a:bodyPr anchor="ctr"/>
          <a:lstStyle>
            <a:defPPr>
              <a:defRPr sz="825" b="0">
                <a:solidFill>
                  <a:srgbClr val="52606D"/>
                </a:solidFill>
              </a:defRPr>
            </a:defPPr>
          </a:lstStyle>
          <a:p>
            <a:pPr>
              <a:defRPr sz="825" b="0">
                <a:solidFill>
                  <a:srgbClr val="52606D"/>
                </a:solidFill>
              </a:defRPr>
            </a:pPr>
            <a:r>
              <a:rPr sz="825" b="0">
                <a:solidFill>
                  <a:srgbClr val="52606D"/>
                </a:solidFill>
              </a:rPr>
              <a:t>AI Synergy Hackathon 2026  |  Campus Energy Prototype</a:t>
            </a:r>
          </a:p>
        </p:txBody>
      </p:sp>
      <p:sp>
        <p:nvSpPr>
          <p:cNvPr id="22" name="Rectangle 21">
            <a:extLst>
              <a:ext uri="{FF2B5EF4-FFF2-40B4-BE49-F238E27FC236}">
                <a16:creationId xmlns:a16="http://schemas.microsoft.com/office/drawing/2014/main" id="{01653BDC-2278-4B22-BB5F-DBB4CD7B461E}"/>
              </a:ext>
            </a:extLst>
          </p:cNvPr>
          <p:cNvSpPr>
            <a:spLocks noGrp="1"/>
          </p:cNvSpPr>
          <p:nvPr/>
        </p:nvSpPr>
        <p:spPr>
          <a:xfrm>
            <a:off x="10763250" y="6477000"/>
            <a:ext cx="742950" cy="171450"/>
          </a:xfrm>
          <a:prstGeom prst="rect">
            <a:avLst/>
          </a:prstGeom>
          <a:noFill/>
          <a:ln w="0">
            <a:noFill/>
            <a:prstDash val="solid"/>
          </a:ln>
        </p:spPr>
        <p:txBody>
          <a:bodyPr anchor="ctr"/>
          <a:lstStyle>
            <a:defPPr>
              <a:defRPr sz="825" b="0">
                <a:solidFill>
                  <a:srgbClr val="52606D"/>
                </a:solidFill>
              </a:defRPr>
            </a:defPPr>
          </a:lstStyle>
          <a:p>
            <a:pPr>
              <a:defRPr sz="825" b="0">
                <a:solidFill>
                  <a:srgbClr val="52606D"/>
                </a:solidFill>
              </a:defRPr>
            </a:pPr>
            <a:r>
              <a:rPr sz="825" b="0">
                <a:solidFill>
                  <a:srgbClr val="52606D"/>
                </a:solidFill>
              </a:rPr>
              <a:t>5 / 8</a:t>
            </a:r>
          </a:p>
        </p:txBody>
      </p:sp>
      <p:pic>
        <p:nvPicPr>
          <p:cNvPr id="24" name="Picture 23"/>
          <p:cNvPicPr>
            <a:picLocks noChangeAspect="1"/>
          </p:cNvPicPr>
          <p:nvPr/>
        </p:nvPicPr>
        <p:blipFill>
          <a:blip r:embed="rId3"/>
          <a:stretch>
            <a:fillRect/>
          </a:stretch>
        </p:blipFill>
        <p:spPr>
          <a:xfrm>
            <a:off x="7285999" y="1677402"/>
            <a:ext cx="3525502" cy="1961346"/>
          </a:xfrm>
          <a:prstGeom prst="rect">
            <a:avLst/>
          </a:prstGeom>
        </p:spPr>
      </p:pic>
    </p:spTree>
    <p:extLst>
      <p:ext uri="{BB962C8B-B14F-4D97-AF65-F5344CB8AC3E}">
        <p14:creationId xmlns:p14="http://schemas.microsoft.com/office/powerpoint/2010/main" val="148513205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7FAFC"/>
        </a:solidFill>
        <a:effectLst/>
      </p:bgPr>
    </p:bg>
    <p:spTree>
      <p:nvGrpSpPr>
        <p:cNvPr id="1" name=""/>
        <p:cNvGrpSpPr/>
        <p:nvPr/>
      </p:nvGrpSpPr>
      <p:grpSpPr>
        <a:xfrm>
          <a:off x="0" y="0"/>
          <a:ext cx="0" cy="0"/>
          <a:chOff x="0" y="0"/>
          <a:chExt cx="0" cy="0"/>
        </a:xfrm>
      </p:grpSpPr>
      <p:sp>
        <p:nvSpPr>
          <p:cNvPr id="21" name="Rectangle 20">
            <a:extLst>
              <a:ext uri="{FF2B5EF4-FFF2-40B4-BE49-F238E27FC236}">
                <a16:creationId xmlns:a16="http://schemas.microsoft.com/office/drawing/2014/main" id="{31D3BE56-53E0-43EC-855B-AAD4DD951A04}"/>
              </a:ext>
            </a:extLst>
          </p:cNvPr>
          <p:cNvSpPr>
            <a:spLocks noGrp="1"/>
          </p:cNvSpPr>
          <p:nvPr/>
        </p:nvSpPr>
        <p:spPr>
          <a:xfrm>
            <a:off x="685800" y="400050"/>
            <a:ext cx="457200" cy="285750"/>
          </a:xfrm>
          <a:prstGeom prst="rect">
            <a:avLst/>
          </a:prstGeom>
          <a:noFill/>
          <a:ln w="0">
            <a:noFill/>
            <a:prstDash val="solid"/>
          </a:ln>
        </p:spPr>
        <p:txBody>
          <a:bodyPr anchor="ctr"/>
          <a:lstStyle>
            <a:defPPr>
              <a:defRPr sz="1050" b="1">
                <a:solidFill>
                  <a:srgbClr val="00A6A6"/>
                </a:solidFill>
              </a:defRPr>
            </a:defPPr>
          </a:lstStyle>
          <a:p>
            <a:pPr>
              <a:defRPr sz="1050" b="1">
                <a:solidFill>
                  <a:srgbClr val="00A6A6"/>
                </a:solidFill>
              </a:defRPr>
            </a:pPr>
            <a:r>
              <a:rPr sz="1050" b="1">
                <a:solidFill>
                  <a:srgbClr val="00A6A6"/>
                </a:solidFill>
              </a:rPr>
              <a:t>06</a:t>
            </a:r>
          </a:p>
        </p:txBody>
      </p:sp>
      <p:sp>
        <p:nvSpPr>
          <p:cNvPr id="2" name="Rectangle 1">
            <a:extLst>
              <a:ext uri="{FF2B5EF4-FFF2-40B4-BE49-F238E27FC236}">
                <a16:creationId xmlns:a16="http://schemas.microsoft.com/office/drawing/2014/main" id="{0086F843-B965-4F8D-8859-A3B636F725D9}"/>
              </a:ext>
            </a:extLst>
          </p:cNvPr>
          <p:cNvSpPr>
            <a:spLocks noGrp="1"/>
          </p:cNvSpPr>
          <p:nvPr/>
        </p:nvSpPr>
        <p:spPr>
          <a:xfrm>
            <a:off x="685800" y="714375"/>
            <a:ext cx="10668000" cy="533400"/>
          </a:xfrm>
          <a:prstGeom prst="rect">
            <a:avLst/>
          </a:prstGeom>
          <a:noFill/>
          <a:ln w="0">
            <a:noFill/>
            <a:prstDash val="solid"/>
          </a:ln>
        </p:spPr>
        <p:txBody>
          <a:bodyPr anchor="ctr"/>
          <a:lstStyle>
            <a:defPPr>
              <a:defRPr sz="2400" b="1">
                <a:solidFill>
                  <a:srgbClr val="102A43"/>
                </a:solidFill>
              </a:defRPr>
            </a:defPPr>
          </a:lstStyle>
          <a:p>
            <a:pPr>
              <a:defRPr sz="2400" b="1">
                <a:solidFill>
                  <a:srgbClr val="102A43"/>
                </a:solidFill>
              </a:defRPr>
            </a:pPr>
            <a:r>
              <a:rPr sz="2400" b="1">
                <a:solidFill>
                  <a:srgbClr val="102A43"/>
                </a:solidFill>
              </a:rPr>
              <a:t>The monthly bill acts as a guardrail for future AI estimates</a:t>
            </a:r>
          </a:p>
        </p:txBody>
      </p:sp>
      <p:sp>
        <p:nvSpPr>
          <p:cNvPr id="3" name="Rectangle 2">
            <a:extLst>
              <a:ext uri="{FF2B5EF4-FFF2-40B4-BE49-F238E27FC236}">
                <a16:creationId xmlns:a16="http://schemas.microsoft.com/office/drawing/2014/main" id="{2767F489-B4B1-43B7-B780-E07940A2126B}"/>
              </a:ext>
            </a:extLst>
          </p:cNvPr>
          <p:cNvSpPr>
            <a:spLocks noGrp="1"/>
          </p:cNvSpPr>
          <p:nvPr/>
        </p:nvSpPr>
        <p:spPr>
          <a:xfrm>
            <a:off x="685800" y="1266825"/>
            <a:ext cx="10668000" cy="304800"/>
          </a:xfrm>
          <a:prstGeom prst="rect">
            <a:avLst/>
          </a:prstGeom>
          <a:noFill/>
          <a:ln w="0">
            <a:noFill/>
            <a:prstDash val="solid"/>
          </a:ln>
        </p:spPr>
        <p:txBody>
          <a:bodyPr anchor="ctr"/>
          <a:lstStyle>
            <a:defPPr>
              <a:defRPr sz="1200" b="0">
                <a:solidFill>
                  <a:srgbClr val="52606D"/>
                </a:solidFill>
              </a:defRPr>
            </a:defPPr>
          </a:lstStyle>
          <a:p>
            <a:pPr>
              <a:defRPr sz="1200" b="0">
                <a:solidFill>
                  <a:srgbClr val="52606D"/>
                </a:solidFill>
              </a:defRPr>
            </a:pPr>
            <a:r>
              <a:rPr sz="1200" b="0" dirty="0">
                <a:solidFill>
                  <a:srgbClr val="52606D"/>
                </a:solidFill>
              </a:rPr>
              <a:t>Any estimated interval profile must reconcile to the known monthly total before facilities can use it for peak analysis.</a:t>
            </a:r>
          </a:p>
        </p:txBody>
      </p:sp>
      <p:sp>
        <p:nvSpPr>
          <p:cNvPr id="4" name="Rectangle 3">
            <a:extLst>
              <a:ext uri="{FF2B5EF4-FFF2-40B4-BE49-F238E27FC236}">
                <a16:creationId xmlns:a16="http://schemas.microsoft.com/office/drawing/2014/main" id="{640B2940-9ED5-4067-BF8F-A68FE386C58E}"/>
              </a:ext>
            </a:extLst>
          </p:cNvPr>
          <p:cNvSpPr>
            <a:spLocks noGrp="1"/>
          </p:cNvSpPr>
          <p:nvPr/>
        </p:nvSpPr>
        <p:spPr>
          <a:xfrm>
            <a:off x="685800" y="1695450"/>
            <a:ext cx="10820400" cy="19050"/>
          </a:xfrm>
          <a:prstGeom prst="rect">
            <a:avLst/>
          </a:prstGeom>
          <a:solidFill>
            <a:srgbClr val="D9E2EC"/>
          </a:solidFill>
          <a:ln w="0">
            <a:noFill/>
            <a:prstDash val="solid"/>
          </a:ln>
        </p:spPr>
      </p:sp>
      <p:sp>
        <p:nvSpPr>
          <p:cNvPr id="5" name="Rectangle 4">
            <a:extLst>
              <a:ext uri="{FF2B5EF4-FFF2-40B4-BE49-F238E27FC236}">
                <a16:creationId xmlns:a16="http://schemas.microsoft.com/office/drawing/2014/main" id="{03BB09B4-22D8-4479-BF71-AE2FF612C28E}"/>
              </a:ext>
            </a:extLst>
          </p:cNvPr>
          <p:cNvSpPr>
            <a:spLocks noGrp="1"/>
          </p:cNvSpPr>
          <p:nvPr/>
        </p:nvSpPr>
        <p:spPr>
          <a:xfrm>
            <a:off x="685800" y="2190750"/>
            <a:ext cx="2381250" cy="285750"/>
          </a:xfrm>
          <a:prstGeom prst="rect">
            <a:avLst/>
          </a:prstGeom>
          <a:noFill/>
          <a:ln w="0">
            <a:noFill/>
            <a:prstDash val="solid"/>
          </a:ln>
        </p:spPr>
        <p:txBody>
          <a:bodyPr anchor="ctr"/>
          <a:lstStyle>
            <a:defPPr>
              <a:defRPr sz="1650" b="1">
                <a:solidFill>
                  <a:srgbClr val="102A43"/>
                </a:solidFill>
              </a:defRPr>
            </a:defPPr>
          </a:lstStyle>
          <a:p>
            <a:pPr>
              <a:defRPr sz="1650" b="1">
                <a:solidFill>
                  <a:srgbClr val="102A43"/>
                </a:solidFill>
              </a:defRPr>
            </a:pPr>
            <a:r>
              <a:rPr sz="1650" b="1">
                <a:solidFill>
                  <a:srgbClr val="102A43"/>
                </a:solidFill>
              </a:rPr>
              <a:t>Inference principle</a:t>
            </a:r>
          </a:p>
        </p:txBody>
      </p:sp>
      <p:sp>
        <p:nvSpPr>
          <p:cNvPr id="6" name="Rectangle 5">
            <a:extLst>
              <a:ext uri="{FF2B5EF4-FFF2-40B4-BE49-F238E27FC236}">
                <a16:creationId xmlns:a16="http://schemas.microsoft.com/office/drawing/2014/main" id="{A892FD8A-C6D2-42CF-A8CA-1BB123B3C59C}"/>
              </a:ext>
            </a:extLst>
          </p:cNvPr>
          <p:cNvSpPr>
            <a:spLocks noGrp="1"/>
          </p:cNvSpPr>
          <p:nvPr/>
        </p:nvSpPr>
        <p:spPr>
          <a:xfrm>
            <a:off x="685800" y="2667000"/>
            <a:ext cx="4762500" cy="1571625"/>
          </a:xfrm>
          <a:prstGeom prst="rect">
            <a:avLst/>
          </a:prstGeom>
          <a:noFill/>
          <a:ln w="0">
            <a:noFill/>
            <a:prstDash val="solid"/>
          </a:ln>
        </p:spPr>
        <p:txBody>
          <a:bodyPr anchor="ctr"/>
          <a:lstStyle>
            <a:defPPr>
              <a:defRPr sz="1350" b="0">
                <a:solidFill>
                  <a:srgbClr val="1F2933"/>
                </a:solidFill>
              </a:defRPr>
            </a:defPPr>
          </a:lstStyle>
          <a:p>
            <a:pPr>
              <a:defRPr sz="1350" b="0">
                <a:solidFill>
                  <a:srgbClr val="1F2933"/>
                </a:solidFill>
              </a:defRPr>
            </a:pPr>
            <a:r>
              <a:rPr sz="1350" b="0">
                <a:solidFill>
                  <a:srgbClr val="1F2933"/>
                </a:solidFill>
              </a:rPr>
              <a:t>Learn daily load shapes from comparable metered buildings and shared context such as schedules, weather, and building type.</a:t>
            </a:r>
          </a:p>
          <a:p>
            <a:endParaRPr sz="1350" b="0">
              <a:solidFill>
                <a:srgbClr val="1F2933"/>
              </a:solidFill>
            </a:endParaRPr>
          </a:p>
          <a:p>
            <a:pPr>
              <a:defRPr sz="1350" b="0">
                <a:solidFill>
                  <a:srgbClr val="1F2933"/>
                </a:solidFill>
              </a:defRPr>
            </a:pPr>
            <a:r>
              <a:rPr sz="1350" b="0">
                <a:solidFill>
                  <a:srgbClr val="1F2933"/>
                </a:solidFill>
              </a:rPr>
              <a:t>Constrain every estimated profile so the completed month still matches the bill.</a:t>
            </a:r>
          </a:p>
        </p:txBody>
      </p:sp>
      <p:sp>
        <p:nvSpPr>
          <p:cNvPr id="7" name="Rectangle 6">
            <a:extLst>
              <a:ext uri="{FF2B5EF4-FFF2-40B4-BE49-F238E27FC236}">
                <a16:creationId xmlns:a16="http://schemas.microsoft.com/office/drawing/2014/main" id="{1CC06205-AD08-4B2F-BF29-78B5C2FD65F5}"/>
              </a:ext>
            </a:extLst>
          </p:cNvPr>
          <p:cNvSpPr>
            <a:spLocks noGrp="1"/>
          </p:cNvSpPr>
          <p:nvPr/>
        </p:nvSpPr>
        <p:spPr>
          <a:xfrm>
            <a:off x="6762750" y="2190750"/>
            <a:ext cx="2381250" cy="285750"/>
          </a:xfrm>
          <a:prstGeom prst="rect">
            <a:avLst/>
          </a:prstGeom>
          <a:noFill/>
          <a:ln w="0">
            <a:noFill/>
            <a:prstDash val="solid"/>
          </a:ln>
        </p:spPr>
        <p:txBody>
          <a:bodyPr anchor="ctr"/>
          <a:lstStyle>
            <a:defPPr>
              <a:defRPr sz="1650" b="1">
                <a:solidFill>
                  <a:srgbClr val="102A43"/>
                </a:solidFill>
              </a:defRPr>
            </a:defPPr>
          </a:lstStyle>
          <a:p>
            <a:pPr>
              <a:defRPr sz="1650" b="1">
                <a:solidFill>
                  <a:srgbClr val="102A43"/>
                </a:solidFill>
              </a:defRPr>
            </a:pPr>
            <a:r>
              <a:rPr sz="1650" b="1">
                <a:solidFill>
                  <a:srgbClr val="102A43"/>
                </a:solidFill>
              </a:rPr>
              <a:t>Validation plan</a:t>
            </a:r>
          </a:p>
        </p:txBody>
      </p:sp>
      <p:sp>
        <p:nvSpPr>
          <p:cNvPr id="8" name="Oval 7">
            <a:extLst>
              <a:ext uri="{FF2B5EF4-FFF2-40B4-BE49-F238E27FC236}">
                <a16:creationId xmlns:a16="http://schemas.microsoft.com/office/drawing/2014/main" id="{1455D711-E988-4FAC-BD9A-B946EEC0AB79}"/>
              </a:ext>
            </a:extLst>
          </p:cNvPr>
          <p:cNvSpPr>
            <a:spLocks noGrp="1"/>
          </p:cNvSpPr>
          <p:nvPr/>
        </p:nvSpPr>
        <p:spPr>
          <a:xfrm>
            <a:off x="6762750" y="2762250"/>
            <a:ext cx="228600" cy="228600"/>
          </a:xfrm>
          <a:prstGeom prst="ellipse">
            <a:avLst/>
          </a:prstGeom>
          <a:solidFill>
            <a:srgbClr val="D9F3EF"/>
          </a:solidFill>
          <a:ln w="0">
            <a:noFill/>
            <a:prstDash val="solid"/>
          </a:ln>
        </p:spPr>
      </p:sp>
      <p:sp>
        <p:nvSpPr>
          <p:cNvPr id="9" name="Rectangle 8">
            <a:extLst>
              <a:ext uri="{FF2B5EF4-FFF2-40B4-BE49-F238E27FC236}">
                <a16:creationId xmlns:a16="http://schemas.microsoft.com/office/drawing/2014/main" id="{5ED83137-D615-4767-BBC4-BBE39AA480B0}"/>
              </a:ext>
            </a:extLst>
          </p:cNvPr>
          <p:cNvSpPr>
            <a:spLocks noGrp="1"/>
          </p:cNvSpPr>
          <p:nvPr/>
        </p:nvSpPr>
        <p:spPr>
          <a:xfrm>
            <a:off x="6762750" y="2762250"/>
            <a:ext cx="228600" cy="228600"/>
          </a:xfrm>
          <a:prstGeom prst="rect">
            <a:avLst/>
          </a:prstGeom>
          <a:noFill/>
          <a:ln w="0">
            <a:noFill/>
            <a:prstDash val="solid"/>
          </a:ln>
        </p:spPr>
        <p:txBody>
          <a:bodyPr anchor="ctr"/>
          <a:lstStyle>
            <a:defPPr>
              <a:defRPr sz="975" b="1">
                <a:solidFill>
                  <a:srgbClr val="00A6A6"/>
                </a:solidFill>
              </a:defRPr>
            </a:defPPr>
          </a:lstStyle>
          <a:p>
            <a:pPr>
              <a:defRPr sz="975" b="1">
                <a:solidFill>
                  <a:srgbClr val="00A6A6"/>
                </a:solidFill>
              </a:defRPr>
            </a:pPr>
            <a:r>
              <a:rPr sz="975" b="1">
                <a:solidFill>
                  <a:srgbClr val="00A6A6"/>
                </a:solidFill>
              </a:rPr>
              <a:t>1</a:t>
            </a:r>
          </a:p>
        </p:txBody>
      </p:sp>
      <p:sp>
        <p:nvSpPr>
          <p:cNvPr id="10" name="Rectangle 9">
            <a:extLst>
              <a:ext uri="{FF2B5EF4-FFF2-40B4-BE49-F238E27FC236}">
                <a16:creationId xmlns:a16="http://schemas.microsoft.com/office/drawing/2014/main" id="{F4C792E3-B2BA-4F95-8AE3-03EDE8720DF0}"/>
              </a:ext>
            </a:extLst>
          </p:cNvPr>
          <p:cNvSpPr>
            <a:spLocks noGrp="1"/>
          </p:cNvSpPr>
          <p:nvPr/>
        </p:nvSpPr>
        <p:spPr>
          <a:xfrm>
            <a:off x="7143750" y="2743200"/>
            <a:ext cx="3905250" cy="285750"/>
          </a:xfrm>
          <a:prstGeom prst="rect">
            <a:avLst/>
          </a:prstGeom>
          <a:noFill/>
          <a:ln w="0">
            <a:noFill/>
            <a:prstDash val="solid"/>
          </a:ln>
        </p:spPr>
        <p:txBody>
          <a:bodyPr anchor="ctr"/>
          <a:lstStyle>
            <a:defPPr>
              <a:defRPr sz="1425" b="0">
                <a:solidFill>
                  <a:srgbClr val="1F2933"/>
                </a:solidFill>
              </a:defRPr>
            </a:defPPr>
          </a:lstStyle>
          <a:p>
            <a:pPr>
              <a:defRPr sz="1425" b="0">
                <a:solidFill>
                  <a:srgbClr val="1F2933"/>
                </a:solidFill>
              </a:defRPr>
            </a:pPr>
            <a:r>
              <a:rPr sz="1425" b="0">
                <a:solidFill>
                  <a:srgbClr val="1F2933"/>
                </a:solidFill>
              </a:rPr>
              <a:t>Hide known intervals and reconstruct them</a:t>
            </a:r>
          </a:p>
        </p:txBody>
      </p:sp>
      <p:sp>
        <p:nvSpPr>
          <p:cNvPr id="11" name="Oval 10">
            <a:extLst>
              <a:ext uri="{FF2B5EF4-FFF2-40B4-BE49-F238E27FC236}">
                <a16:creationId xmlns:a16="http://schemas.microsoft.com/office/drawing/2014/main" id="{B2C3436F-80A6-4CA5-8E4A-F0C6A331EC94}"/>
              </a:ext>
            </a:extLst>
          </p:cNvPr>
          <p:cNvSpPr>
            <a:spLocks noGrp="1"/>
          </p:cNvSpPr>
          <p:nvPr/>
        </p:nvSpPr>
        <p:spPr>
          <a:xfrm>
            <a:off x="6762750" y="3429000"/>
            <a:ext cx="228600" cy="228600"/>
          </a:xfrm>
          <a:prstGeom prst="ellipse">
            <a:avLst/>
          </a:prstGeom>
          <a:solidFill>
            <a:srgbClr val="D9F3EF"/>
          </a:solidFill>
          <a:ln w="0">
            <a:noFill/>
            <a:prstDash val="solid"/>
          </a:ln>
        </p:spPr>
      </p:sp>
      <p:sp>
        <p:nvSpPr>
          <p:cNvPr id="12" name="Rectangle 11">
            <a:extLst>
              <a:ext uri="{FF2B5EF4-FFF2-40B4-BE49-F238E27FC236}">
                <a16:creationId xmlns:a16="http://schemas.microsoft.com/office/drawing/2014/main" id="{935F32D0-454C-41DD-B075-83F8AEBADDFB}"/>
              </a:ext>
            </a:extLst>
          </p:cNvPr>
          <p:cNvSpPr>
            <a:spLocks noGrp="1"/>
          </p:cNvSpPr>
          <p:nvPr/>
        </p:nvSpPr>
        <p:spPr>
          <a:xfrm>
            <a:off x="6762750" y="3429000"/>
            <a:ext cx="228600" cy="228600"/>
          </a:xfrm>
          <a:prstGeom prst="rect">
            <a:avLst/>
          </a:prstGeom>
          <a:noFill/>
          <a:ln w="0">
            <a:noFill/>
            <a:prstDash val="solid"/>
          </a:ln>
        </p:spPr>
        <p:txBody>
          <a:bodyPr anchor="ctr"/>
          <a:lstStyle>
            <a:defPPr>
              <a:defRPr sz="975" b="1">
                <a:solidFill>
                  <a:srgbClr val="00A6A6"/>
                </a:solidFill>
              </a:defRPr>
            </a:defPPr>
          </a:lstStyle>
          <a:p>
            <a:pPr>
              <a:defRPr sz="975" b="1">
                <a:solidFill>
                  <a:srgbClr val="00A6A6"/>
                </a:solidFill>
              </a:defRPr>
            </a:pPr>
            <a:r>
              <a:rPr sz="975" b="1">
                <a:solidFill>
                  <a:srgbClr val="00A6A6"/>
                </a:solidFill>
              </a:rPr>
              <a:t>2</a:t>
            </a:r>
          </a:p>
        </p:txBody>
      </p:sp>
      <p:sp>
        <p:nvSpPr>
          <p:cNvPr id="13" name="Rectangle 12">
            <a:extLst>
              <a:ext uri="{FF2B5EF4-FFF2-40B4-BE49-F238E27FC236}">
                <a16:creationId xmlns:a16="http://schemas.microsoft.com/office/drawing/2014/main" id="{367F0A6A-71C8-4677-BAB8-407CD2678776}"/>
              </a:ext>
            </a:extLst>
          </p:cNvPr>
          <p:cNvSpPr>
            <a:spLocks noGrp="1"/>
          </p:cNvSpPr>
          <p:nvPr/>
        </p:nvSpPr>
        <p:spPr>
          <a:xfrm>
            <a:off x="7143750" y="3409950"/>
            <a:ext cx="3905250" cy="285750"/>
          </a:xfrm>
          <a:prstGeom prst="rect">
            <a:avLst/>
          </a:prstGeom>
          <a:noFill/>
          <a:ln w="0">
            <a:noFill/>
            <a:prstDash val="solid"/>
          </a:ln>
        </p:spPr>
        <p:txBody>
          <a:bodyPr anchor="ctr"/>
          <a:lstStyle>
            <a:defPPr>
              <a:defRPr sz="1425" b="0">
                <a:solidFill>
                  <a:srgbClr val="1F2933"/>
                </a:solidFill>
              </a:defRPr>
            </a:defPPr>
          </a:lstStyle>
          <a:p>
            <a:pPr>
              <a:defRPr sz="1425" b="0">
                <a:solidFill>
                  <a:srgbClr val="1F2933"/>
                </a:solidFill>
              </a:defRPr>
            </a:pPr>
            <a:r>
              <a:rPr sz="1425" b="0">
                <a:solidFill>
                  <a:srgbClr val="1F2933"/>
                </a:solidFill>
              </a:rPr>
              <a:t>Compare predictions with held-out meter data</a:t>
            </a:r>
          </a:p>
        </p:txBody>
      </p:sp>
      <p:sp>
        <p:nvSpPr>
          <p:cNvPr id="14" name="Oval 13">
            <a:extLst>
              <a:ext uri="{FF2B5EF4-FFF2-40B4-BE49-F238E27FC236}">
                <a16:creationId xmlns:a16="http://schemas.microsoft.com/office/drawing/2014/main" id="{C025FE00-46BE-4C8E-A820-C255ED8689F3}"/>
              </a:ext>
            </a:extLst>
          </p:cNvPr>
          <p:cNvSpPr>
            <a:spLocks noGrp="1"/>
          </p:cNvSpPr>
          <p:nvPr/>
        </p:nvSpPr>
        <p:spPr>
          <a:xfrm>
            <a:off x="6762750" y="4095750"/>
            <a:ext cx="228600" cy="228600"/>
          </a:xfrm>
          <a:prstGeom prst="ellipse">
            <a:avLst/>
          </a:prstGeom>
          <a:solidFill>
            <a:srgbClr val="D9F3EF"/>
          </a:solidFill>
          <a:ln w="0">
            <a:noFill/>
            <a:prstDash val="solid"/>
          </a:ln>
        </p:spPr>
      </p:sp>
      <p:sp>
        <p:nvSpPr>
          <p:cNvPr id="15" name="Rectangle 14">
            <a:extLst>
              <a:ext uri="{FF2B5EF4-FFF2-40B4-BE49-F238E27FC236}">
                <a16:creationId xmlns:a16="http://schemas.microsoft.com/office/drawing/2014/main" id="{FF255610-F87E-438D-B3B4-2E4D0ADECD03}"/>
              </a:ext>
            </a:extLst>
          </p:cNvPr>
          <p:cNvSpPr>
            <a:spLocks noGrp="1"/>
          </p:cNvSpPr>
          <p:nvPr/>
        </p:nvSpPr>
        <p:spPr>
          <a:xfrm>
            <a:off x="6762750" y="4095750"/>
            <a:ext cx="228600" cy="228600"/>
          </a:xfrm>
          <a:prstGeom prst="rect">
            <a:avLst/>
          </a:prstGeom>
          <a:noFill/>
          <a:ln w="0">
            <a:noFill/>
            <a:prstDash val="solid"/>
          </a:ln>
        </p:spPr>
        <p:txBody>
          <a:bodyPr anchor="ctr"/>
          <a:lstStyle>
            <a:defPPr>
              <a:defRPr sz="975" b="1">
                <a:solidFill>
                  <a:srgbClr val="00A6A6"/>
                </a:solidFill>
              </a:defRPr>
            </a:defPPr>
          </a:lstStyle>
          <a:p>
            <a:pPr>
              <a:defRPr sz="975" b="1">
                <a:solidFill>
                  <a:srgbClr val="00A6A6"/>
                </a:solidFill>
              </a:defRPr>
            </a:pPr>
            <a:r>
              <a:rPr sz="975" b="1">
                <a:solidFill>
                  <a:srgbClr val="00A6A6"/>
                </a:solidFill>
              </a:rPr>
              <a:t>3</a:t>
            </a:r>
          </a:p>
        </p:txBody>
      </p:sp>
      <p:sp>
        <p:nvSpPr>
          <p:cNvPr id="16" name="Rectangle 15">
            <a:extLst>
              <a:ext uri="{FF2B5EF4-FFF2-40B4-BE49-F238E27FC236}">
                <a16:creationId xmlns:a16="http://schemas.microsoft.com/office/drawing/2014/main" id="{80A31274-9B58-4D7E-A74D-73F28FF6AFA2}"/>
              </a:ext>
            </a:extLst>
          </p:cNvPr>
          <p:cNvSpPr>
            <a:spLocks noGrp="1"/>
          </p:cNvSpPr>
          <p:nvPr/>
        </p:nvSpPr>
        <p:spPr>
          <a:xfrm>
            <a:off x="7143750" y="4076700"/>
            <a:ext cx="3905250" cy="285750"/>
          </a:xfrm>
          <a:prstGeom prst="rect">
            <a:avLst/>
          </a:prstGeom>
          <a:noFill/>
          <a:ln w="0">
            <a:noFill/>
            <a:prstDash val="solid"/>
          </a:ln>
        </p:spPr>
        <p:txBody>
          <a:bodyPr anchor="ctr"/>
          <a:lstStyle>
            <a:defPPr>
              <a:defRPr sz="1425" b="0">
                <a:solidFill>
                  <a:srgbClr val="1F2933"/>
                </a:solidFill>
              </a:defRPr>
            </a:defPPr>
          </a:lstStyle>
          <a:p>
            <a:pPr>
              <a:defRPr sz="1425" b="0">
                <a:solidFill>
                  <a:srgbClr val="1F2933"/>
                </a:solidFill>
              </a:defRPr>
            </a:pPr>
            <a:r>
              <a:rPr sz="1425" b="0">
                <a:solidFill>
                  <a:srgbClr val="1F2933"/>
                </a:solidFill>
              </a:rPr>
              <a:t>Report error by building and peak window</a:t>
            </a:r>
          </a:p>
        </p:txBody>
      </p:sp>
      <p:sp>
        <p:nvSpPr>
          <p:cNvPr id="17" name="Rectangle 16">
            <a:extLst>
              <a:ext uri="{FF2B5EF4-FFF2-40B4-BE49-F238E27FC236}">
                <a16:creationId xmlns:a16="http://schemas.microsoft.com/office/drawing/2014/main" id="{90E10BF7-EFCF-4125-99CC-6536E58AC64B}"/>
              </a:ext>
            </a:extLst>
          </p:cNvPr>
          <p:cNvSpPr>
            <a:spLocks noGrp="1"/>
          </p:cNvSpPr>
          <p:nvPr/>
        </p:nvSpPr>
        <p:spPr>
          <a:xfrm>
            <a:off x="685800" y="5095875"/>
            <a:ext cx="10096500" cy="19050"/>
          </a:xfrm>
          <a:prstGeom prst="rect">
            <a:avLst/>
          </a:prstGeom>
          <a:solidFill>
            <a:srgbClr val="D9E2EC"/>
          </a:solidFill>
          <a:ln w="0">
            <a:noFill/>
            <a:prstDash val="solid"/>
          </a:ln>
        </p:spPr>
      </p:sp>
      <p:sp>
        <p:nvSpPr>
          <p:cNvPr id="18" name="Rectangle 17">
            <a:extLst>
              <a:ext uri="{FF2B5EF4-FFF2-40B4-BE49-F238E27FC236}">
                <a16:creationId xmlns:a16="http://schemas.microsoft.com/office/drawing/2014/main" id="{8E4A1FCE-EAF1-491D-B430-1EEBB0067E1C}"/>
              </a:ext>
            </a:extLst>
          </p:cNvPr>
          <p:cNvSpPr>
            <a:spLocks noGrp="1"/>
          </p:cNvSpPr>
          <p:nvPr/>
        </p:nvSpPr>
        <p:spPr>
          <a:xfrm>
            <a:off x="685800" y="5362575"/>
            <a:ext cx="10096500" cy="266700"/>
          </a:xfrm>
          <a:prstGeom prst="rect">
            <a:avLst/>
          </a:prstGeom>
          <a:noFill/>
          <a:ln w="0">
            <a:noFill/>
            <a:prstDash val="solid"/>
          </a:ln>
        </p:spPr>
        <p:txBody>
          <a:bodyPr anchor="ctr"/>
          <a:lstStyle>
            <a:defPPr>
              <a:defRPr sz="1275" b="1">
                <a:solidFill>
                  <a:srgbClr val="E05D5D"/>
                </a:solidFill>
              </a:defRPr>
            </a:defPPr>
          </a:lstStyle>
          <a:p>
            <a:pPr>
              <a:defRPr sz="1275" b="1">
                <a:solidFill>
                  <a:srgbClr val="E05D5D"/>
                </a:solidFill>
              </a:defRPr>
            </a:pPr>
            <a:r>
              <a:rPr sz="1275" b="1">
                <a:solidFill>
                  <a:srgbClr val="E05D5D"/>
                </a:solidFill>
              </a:rPr>
              <a:t>This is a validation protocol, not an accuracy result. The current repository contains no published model score.</a:t>
            </a:r>
          </a:p>
        </p:txBody>
      </p:sp>
      <p:sp>
        <p:nvSpPr>
          <p:cNvPr id="19" name="Rectangle 18">
            <a:extLst>
              <a:ext uri="{FF2B5EF4-FFF2-40B4-BE49-F238E27FC236}">
                <a16:creationId xmlns:a16="http://schemas.microsoft.com/office/drawing/2014/main" id="{973B3F03-9311-4790-8807-8EBDA39B907D}"/>
              </a:ext>
            </a:extLst>
          </p:cNvPr>
          <p:cNvSpPr>
            <a:spLocks noGrp="1"/>
          </p:cNvSpPr>
          <p:nvPr/>
        </p:nvSpPr>
        <p:spPr>
          <a:xfrm>
            <a:off x="685800" y="6477000"/>
            <a:ext cx="5334000" cy="171450"/>
          </a:xfrm>
          <a:prstGeom prst="rect">
            <a:avLst/>
          </a:prstGeom>
          <a:noFill/>
          <a:ln w="0">
            <a:noFill/>
            <a:prstDash val="solid"/>
          </a:ln>
        </p:spPr>
        <p:txBody>
          <a:bodyPr anchor="ctr"/>
          <a:lstStyle>
            <a:defPPr>
              <a:defRPr sz="825" b="0">
                <a:solidFill>
                  <a:srgbClr val="52606D"/>
                </a:solidFill>
              </a:defRPr>
            </a:defPPr>
          </a:lstStyle>
          <a:p>
            <a:pPr>
              <a:defRPr sz="825" b="0">
                <a:solidFill>
                  <a:srgbClr val="52606D"/>
                </a:solidFill>
              </a:defRPr>
            </a:pPr>
            <a:r>
              <a:rPr sz="825" b="0">
                <a:solidFill>
                  <a:srgbClr val="52606D"/>
                </a:solidFill>
              </a:rPr>
              <a:t>AI Synergy Hackathon 2026  |  Campus Energy Prototype</a:t>
            </a:r>
          </a:p>
        </p:txBody>
      </p:sp>
      <p:sp>
        <p:nvSpPr>
          <p:cNvPr id="20" name="Rectangle 19">
            <a:extLst>
              <a:ext uri="{FF2B5EF4-FFF2-40B4-BE49-F238E27FC236}">
                <a16:creationId xmlns:a16="http://schemas.microsoft.com/office/drawing/2014/main" id="{F29224DD-9BFB-401C-B3DA-5126CC92A543}"/>
              </a:ext>
            </a:extLst>
          </p:cNvPr>
          <p:cNvSpPr>
            <a:spLocks noGrp="1"/>
          </p:cNvSpPr>
          <p:nvPr/>
        </p:nvSpPr>
        <p:spPr>
          <a:xfrm>
            <a:off x="10763250" y="6477000"/>
            <a:ext cx="742950" cy="171450"/>
          </a:xfrm>
          <a:prstGeom prst="rect">
            <a:avLst/>
          </a:prstGeom>
          <a:noFill/>
          <a:ln w="0">
            <a:noFill/>
            <a:prstDash val="solid"/>
          </a:ln>
        </p:spPr>
        <p:txBody>
          <a:bodyPr anchor="ctr"/>
          <a:lstStyle>
            <a:defPPr>
              <a:defRPr sz="825" b="0">
                <a:solidFill>
                  <a:srgbClr val="52606D"/>
                </a:solidFill>
              </a:defRPr>
            </a:defPPr>
          </a:lstStyle>
          <a:p>
            <a:pPr>
              <a:defRPr sz="825" b="0">
                <a:solidFill>
                  <a:srgbClr val="52606D"/>
                </a:solidFill>
              </a:defRPr>
            </a:pPr>
            <a:r>
              <a:rPr sz="825" b="0">
                <a:solidFill>
                  <a:srgbClr val="52606D"/>
                </a:solidFill>
              </a:rPr>
              <a:t>6 / 8</a:t>
            </a:r>
          </a:p>
        </p:txBody>
      </p:sp>
    </p:spTree>
    <p:extLst>
      <p:ext uri="{BB962C8B-B14F-4D97-AF65-F5344CB8AC3E}">
        <p14:creationId xmlns:p14="http://schemas.microsoft.com/office/powerpoint/2010/main" val="102895420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7FAFC"/>
        </a:solidFill>
        <a:effectLst/>
      </p:bgPr>
    </p:bg>
    <p:spTree>
      <p:nvGrpSpPr>
        <p:cNvPr id="1" name=""/>
        <p:cNvGrpSpPr/>
        <p:nvPr/>
      </p:nvGrpSpPr>
      <p:grpSpPr>
        <a:xfrm>
          <a:off x="0" y="0"/>
          <a:ext cx="0" cy="0"/>
          <a:chOff x="0" y="0"/>
          <a:chExt cx="0" cy="0"/>
        </a:xfrm>
      </p:grpSpPr>
      <p:sp>
        <p:nvSpPr>
          <p:cNvPr id="17" name="Rectangle 16">
            <a:extLst>
              <a:ext uri="{FF2B5EF4-FFF2-40B4-BE49-F238E27FC236}">
                <a16:creationId xmlns:a16="http://schemas.microsoft.com/office/drawing/2014/main" id="{B5C438E5-6D6D-42AC-BE36-338B569A3C36}"/>
              </a:ext>
            </a:extLst>
          </p:cNvPr>
          <p:cNvSpPr>
            <a:spLocks noGrp="1"/>
          </p:cNvSpPr>
          <p:nvPr/>
        </p:nvSpPr>
        <p:spPr>
          <a:xfrm>
            <a:off x="685800" y="400050"/>
            <a:ext cx="457200" cy="285750"/>
          </a:xfrm>
          <a:prstGeom prst="rect">
            <a:avLst/>
          </a:prstGeom>
          <a:noFill/>
          <a:ln w="0">
            <a:noFill/>
            <a:prstDash val="solid"/>
          </a:ln>
        </p:spPr>
        <p:txBody>
          <a:bodyPr anchor="ctr"/>
          <a:lstStyle>
            <a:defPPr>
              <a:defRPr sz="1050" b="1">
                <a:solidFill>
                  <a:srgbClr val="00A6A6"/>
                </a:solidFill>
              </a:defRPr>
            </a:defPPr>
          </a:lstStyle>
          <a:p>
            <a:pPr>
              <a:defRPr sz="1050" b="1">
                <a:solidFill>
                  <a:srgbClr val="00A6A6"/>
                </a:solidFill>
              </a:defRPr>
            </a:pPr>
            <a:r>
              <a:rPr sz="1050" b="1">
                <a:solidFill>
                  <a:srgbClr val="00A6A6"/>
                </a:solidFill>
              </a:rPr>
              <a:t>07</a:t>
            </a:r>
          </a:p>
        </p:txBody>
      </p:sp>
      <p:sp>
        <p:nvSpPr>
          <p:cNvPr id="2" name="Rectangle 1">
            <a:extLst>
              <a:ext uri="{FF2B5EF4-FFF2-40B4-BE49-F238E27FC236}">
                <a16:creationId xmlns:a16="http://schemas.microsoft.com/office/drawing/2014/main" id="{BB5B55D7-64E8-4909-A90F-174B1D8AF3C1}"/>
              </a:ext>
            </a:extLst>
          </p:cNvPr>
          <p:cNvSpPr>
            <a:spLocks noGrp="1"/>
          </p:cNvSpPr>
          <p:nvPr/>
        </p:nvSpPr>
        <p:spPr>
          <a:xfrm>
            <a:off x="685800" y="714375"/>
            <a:ext cx="10668000" cy="533400"/>
          </a:xfrm>
          <a:prstGeom prst="rect">
            <a:avLst/>
          </a:prstGeom>
          <a:noFill/>
          <a:ln w="0">
            <a:noFill/>
            <a:prstDash val="solid"/>
          </a:ln>
        </p:spPr>
        <p:txBody>
          <a:bodyPr anchor="ctr"/>
          <a:lstStyle>
            <a:defPPr>
              <a:defRPr sz="2400" b="1">
                <a:solidFill>
                  <a:srgbClr val="102A43"/>
                </a:solidFill>
              </a:defRPr>
            </a:defPPr>
          </a:lstStyle>
          <a:p>
            <a:pPr>
              <a:defRPr sz="2400" b="1">
                <a:solidFill>
                  <a:srgbClr val="102A43"/>
                </a:solidFill>
              </a:defRPr>
            </a:pPr>
            <a:r>
              <a:rPr sz="2400" b="1">
                <a:solidFill>
                  <a:srgbClr val="102A43"/>
                </a:solidFill>
              </a:rPr>
              <a:t>Visibility supports better peak decisions before controls are automated</a:t>
            </a:r>
          </a:p>
        </p:txBody>
      </p:sp>
      <p:sp>
        <p:nvSpPr>
          <p:cNvPr id="3" name="Rectangle 2">
            <a:extLst>
              <a:ext uri="{FF2B5EF4-FFF2-40B4-BE49-F238E27FC236}">
                <a16:creationId xmlns:a16="http://schemas.microsoft.com/office/drawing/2014/main" id="{BC2448E3-B730-42D3-943B-80F166D1C4C0}"/>
              </a:ext>
            </a:extLst>
          </p:cNvPr>
          <p:cNvSpPr>
            <a:spLocks noGrp="1"/>
          </p:cNvSpPr>
          <p:nvPr/>
        </p:nvSpPr>
        <p:spPr>
          <a:xfrm>
            <a:off x="685800" y="1266825"/>
            <a:ext cx="10668000" cy="304800"/>
          </a:xfrm>
          <a:prstGeom prst="rect">
            <a:avLst/>
          </a:prstGeom>
          <a:noFill/>
          <a:ln w="0">
            <a:noFill/>
            <a:prstDash val="solid"/>
          </a:ln>
        </p:spPr>
        <p:txBody>
          <a:bodyPr anchor="ctr"/>
          <a:lstStyle>
            <a:defPPr>
              <a:defRPr sz="1200" b="0">
                <a:solidFill>
                  <a:srgbClr val="52606D"/>
                </a:solidFill>
              </a:defRPr>
            </a:defPPr>
          </a:lstStyle>
          <a:p>
            <a:pPr>
              <a:defRPr sz="1200" b="0">
                <a:solidFill>
                  <a:srgbClr val="52606D"/>
                </a:solidFill>
              </a:defRPr>
            </a:pPr>
            <a:r>
              <a:rPr sz="1200" b="0">
                <a:solidFill>
                  <a:srgbClr val="52606D"/>
                </a:solidFill>
              </a:rPr>
              <a:t>The immediate value is a defensible 4–8 PM building view. Any scheduling or control action remains subject to facilities approval.</a:t>
            </a:r>
          </a:p>
        </p:txBody>
      </p:sp>
      <p:sp>
        <p:nvSpPr>
          <p:cNvPr id="4" name="Rectangle 3">
            <a:extLst>
              <a:ext uri="{FF2B5EF4-FFF2-40B4-BE49-F238E27FC236}">
                <a16:creationId xmlns:a16="http://schemas.microsoft.com/office/drawing/2014/main" id="{326E5F64-F7FB-4C49-8525-201F90F47C9F}"/>
              </a:ext>
            </a:extLst>
          </p:cNvPr>
          <p:cNvSpPr>
            <a:spLocks noGrp="1"/>
          </p:cNvSpPr>
          <p:nvPr/>
        </p:nvSpPr>
        <p:spPr>
          <a:xfrm>
            <a:off x="685800" y="1695450"/>
            <a:ext cx="10820400" cy="19050"/>
          </a:xfrm>
          <a:prstGeom prst="rect">
            <a:avLst/>
          </a:prstGeom>
          <a:solidFill>
            <a:srgbClr val="D9E2EC"/>
          </a:solidFill>
          <a:ln w="0">
            <a:noFill/>
            <a:prstDash val="solid"/>
          </a:ln>
        </p:spPr>
      </p:sp>
      <p:sp>
        <p:nvSpPr>
          <p:cNvPr id="5" name="Rectangle 4">
            <a:extLst>
              <a:ext uri="{FF2B5EF4-FFF2-40B4-BE49-F238E27FC236}">
                <a16:creationId xmlns:a16="http://schemas.microsoft.com/office/drawing/2014/main" id="{D3C6076C-A4AA-4F58-8245-69714FDE3988}"/>
              </a:ext>
            </a:extLst>
          </p:cNvPr>
          <p:cNvSpPr>
            <a:spLocks noGrp="1"/>
          </p:cNvSpPr>
          <p:nvPr/>
        </p:nvSpPr>
        <p:spPr>
          <a:xfrm>
            <a:off x="685800" y="2476500"/>
            <a:ext cx="2762250" cy="285750"/>
          </a:xfrm>
          <a:prstGeom prst="rect">
            <a:avLst/>
          </a:prstGeom>
          <a:noFill/>
          <a:ln w="0">
            <a:noFill/>
            <a:prstDash val="solid"/>
          </a:ln>
        </p:spPr>
        <p:txBody>
          <a:bodyPr anchor="ctr"/>
          <a:lstStyle>
            <a:defPPr>
              <a:defRPr sz="1725" b="1">
                <a:solidFill>
                  <a:srgbClr val="102A43"/>
                </a:solidFill>
              </a:defRPr>
            </a:defPPr>
          </a:lstStyle>
          <a:p>
            <a:pPr>
              <a:defRPr sz="1725" b="1">
                <a:solidFill>
                  <a:srgbClr val="102A43"/>
                </a:solidFill>
              </a:defRPr>
            </a:pPr>
            <a:r>
              <a:rPr sz="1725" b="1">
                <a:solidFill>
                  <a:srgbClr val="102A43"/>
                </a:solidFill>
              </a:rPr>
              <a:t>Operations</a:t>
            </a:r>
          </a:p>
        </p:txBody>
      </p:sp>
      <p:sp>
        <p:nvSpPr>
          <p:cNvPr id="6" name="Rectangle 5">
            <a:extLst>
              <a:ext uri="{FF2B5EF4-FFF2-40B4-BE49-F238E27FC236}">
                <a16:creationId xmlns:a16="http://schemas.microsoft.com/office/drawing/2014/main" id="{8386DEDB-28CF-482D-BCC8-2B2CDB5FEFCA}"/>
              </a:ext>
            </a:extLst>
          </p:cNvPr>
          <p:cNvSpPr>
            <a:spLocks noGrp="1"/>
          </p:cNvSpPr>
          <p:nvPr/>
        </p:nvSpPr>
        <p:spPr>
          <a:xfrm>
            <a:off x="685800" y="2924175"/>
            <a:ext cx="2476500" cy="38100"/>
          </a:xfrm>
          <a:prstGeom prst="rect">
            <a:avLst/>
          </a:prstGeom>
          <a:solidFill>
            <a:srgbClr val="00A6A6"/>
          </a:solidFill>
          <a:ln w="0">
            <a:noFill/>
            <a:prstDash val="solid"/>
          </a:ln>
        </p:spPr>
      </p:sp>
      <p:sp>
        <p:nvSpPr>
          <p:cNvPr id="7" name="Rectangle 6">
            <a:extLst>
              <a:ext uri="{FF2B5EF4-FFF2-40B4-BE49-F238E27FC236}">
                <a16:creationId xmlns:a16="http://schemas.microsoft.com/office/drawing/2014/main" id="{36AC9AF3-77D1-4919-A670-668C2840F3B3}"/>
              </a:ext>
            </a:extLst>
          </p:cNvPr>
          <p:cNvSpPr>
            <a:spLocks noGrp="1"/>
          </p:cNvSpPr>
          <p:nvPr/>
        </p:nvSpPr>
        <p:spPr>
          <a:xfrm>
            <a:off x="685800" y="3190875"/>
            <a:ext cx="2762250" cy="857250"/>
          </a:xfrm>
          <a:prstGeom prst="rect">
            <a:avLst/>
          </a:prstGeom>
          <a:noFill/>
          <a:ln w="0">
            <a:noFill/>
            <a:prstDash val="solid"/>
          </a:ln>
        </p:spPr>
        <p:txBody>
          <a:bodyPr anchor="ctr"/>
          <a:lstStyle>
            <a:defPPr>
              <a:defRPr sz="1575" b="0">
                <a:solidFill>
                  <a:srgbClr val="1F2933"/>
                </a:solidFill>
              </a:defRPr>
            </a:defPPr>
          </a:lstStyle>
          <a:p>
            <a:pPr>
              <a:defRPr sz="1575" b="0">
                <a:solidFill>
                  <a:srgbClr val="1F2933"/>
                </a:solidFill>
              </a:defRPr>
            </a:pPr>
            <a:r>
              <a:rPr sz="1575" b="0">
                <a:solidFill>
                  <a:srgbClr val="1F2933"/>
                </a:solidFill>
              </a:rPr>
              <a:t>Locate buildings that likely drive the evening peak</a:t>
            </a:r>
          </a:p>
        </p:txBody>
      </p:sp>
      <p:sp>
        <p:nvSpPr>
          <p:cNvPr id="8" name="Rectangle 7">
            <a:extLst>
              <a:ext uri="{FF2B5EF4-FFF2-40B4-BE49-F238E27FC236}">
                <a16:creationId xmlns:a16="http://schemas.microsoft.com/office/drawing/2014/main" id="{F06D6A1A-0C8E-4074-BC8F-E7E6D1F3863F}"/>
              </a:ext>
            </a:extLst>
          </p:cNvPr>
          <p:cNvSpPr>
            <a:spLocks noGrp="1"/>
          </p:cNvSpPr>
          <p:nvPr/>
        </p:nvSpPr>
        <p:spPr>
          <a:xfrm>
            <a:off x="4210050" y="2476500"/>
            <a:ext cx="2762250" cy="285750"/>
          </a:xfrm>
          <a:prstGeom prst="rect">
            <a:avLst/>
          </a:prstGeom>
          <a:noFill/>
          <a:ln w="0">
            <a:noFill/>
            <a:prstDash val="solid"/>
          </a:ln>
        </p:spPr>
        <p:txBody>
          <a:bodyPr anchor="ctr"/>
          <a:lstStyle>
            <a:defPPr>
              <a:defRPr sz="1725" b="1">
                <a:solidFill>
                  <a:srgbClr val="102A43"/>
                </a:solidFill>
              </a:defRPr>
            </a:defPPr>
          </a:lstStyle>
          <a:p>
            <a:pPr>
              <a:defRPr sz="1725" b="1">
                <a:solidFill>
                  <a:srgbClr val="102A43"/>
                </a:solidFill>
              </a:defRPr>
            </a:pPr>
            <a:r>
              <a:rPr sz="1725" b="1">
                <a:solidFill>
                  <a:srgbClr val="102A43"/>
                </a:solidFill>
              </a:rPr>
              <a:t>Planning</a:t>
            </a:r>
          </a:p>
        </p:txBody>
      </p:sp>
      <p:sp>
        <p:nvSpPr>
          <p:cNvPr id="9" name="Rectangle 8">
            <a:extLst>
              <a:ext uri="{FF2B5EF4-FFF2-40B4-BE49-F238E27FC236}">
                <a16:creationId xmlns:a16="http://schemas.microsoft.com/office/drawing/2014/main" id="{92BC6B43-3A43-4300-80F0-9FF324F51DC6}"/>
              </a:ext>
            </a:extLst>
          </p:cNvPr>
          <p:cNvSpPr>
            <a:spLocks noGrp="1"/>
          </p:cNvSpPr>
          <p:nvPr/>
        </p:nvSpPr>
        <p:spPr>
          <a:xfrm>
            <a:off x="4210050" y="2924175"/>
            <a:ext cx="2476500" cy="38100"/>
          </a:xfrm>
          <a:prstGeom prst="rect">
            <a:avLst/>
          </a:prstGeom>
          <a:solidFill>
            <a:srgbClr val="00A6A6"/>
          </a:solidFill>
          <a:ln w="0">
            <a:noFill/>
            <a:prstDash val="solid"/>
          </a:ln>
        </p:spPr>
      </p:sp>
      <p:sp>
        <p:nvSpPr>
          <p:cNvPr id="10" name="Rectangle 9">
            <a:extLst>
              <a:ext uri="{FF2B5EF4-FFF2-40B4-BE49-F238E27FC236}">
                <a16:creationId xmlns:a16="http://schemas.microsoft.com/office/drawing/2014/main" id="{AC071209-875F-4F36-85D8-0B0A244FA390}"/>
              </a:ext>
            </a:extLst>
          </p:cNvPr>
          <p:cNvSpPr>
            <a:spLocks noGrp="1"/>
          </p:cNvSpPr>
          <p:nvPr/>
        </p:nvSpPr>
        <p:spPr>
          <a:xfrm>
            <a:off x="4210050" y="3190875"/>
            <a:ext cx="2762250" cy="857250"/>
          </a:xfrm>
          <a:prstGeom prst="rect">
            <a:avLst/>
          </a:prstGeom>
          <a:noFill/>
          <a:ln w="0">
            <a:noFill/>
            <a:prstDash val="solid"/>
          </a:ln>
        </p:spPr>
        <p:txBody>
          <a:bodyPr anchor="ctr"/>
          <a:lstStyle>
            <a:defPPr>
              <a:defRPr sz="1575" b="0">
                <a:solidFill>
                  <a:srgbClr val="1F2933"/>
                </a:solidFill>
              </a:defRPr>
            </a:defPPr>
          </a:lstStyle>
          <a:p>
            <a:pPr>
              <a:defRPr sz="1575" b="0">
                <a:solidFill>
                  <a:srgbClr val="1F2933"/>
                </a:solidFill>
              </a:defRPr>
            </a:pPr>
            <a:r>
              <a:rPr sz="1575" b="0">
                <a:solidFill>
                  <a:srgbClr val="1F2933"/>
                </a:solidFill>
              </a:rPr>
              <a:t>Prioritize audits, schedules, and metering upgrades</a:t>
            </a:r>
          </a:p>
        </p:txBody>
      </p:sp>
      <p:sp>
        <p:nvSpPr>
          <p:cNvPr id="11" name="Rectangle 10">
            <a:extLst>
              <a:ext uri="{FF2B5EF4-FFF2-40B4-BE49-F238E27FC236}">
                <a16:creationId xmlns:a16="http://schemas.microsoft.com/office/drawing/2014/main" id="{C96A109C-0CD1-40D6-992C-336700B01128}"/>
              </a:ext>
            </a:extLst>
          </p:cNvPr>
          <p:cNvSpPr>
            <a:spLocks noGrp="1"/>
          </p:cNvSpPr>
          <p:nvPr/>
        </p:nvSpPr>
        <p:spPr>
          <a:xfrm>
            <a:off x="7734300" y="2476500"/>
            <a:ext cx="2762250" cy="285750"/>
          </a:xfrm>
          <a:prstGeom prst="rect">
            <a:avLst/>
          </a:prstGeom>
          <a:noFill/>
          <a:ln w="0">
            <a:noFill/>
            <a:prstDash val="solid"/>
          </a:ln>
        </p:spPr>
        <p:txBody>
          <a:bodyPr anchor="ctr"/>
          <a:lstStyle>
            <a:defPPr>
              <a:defRPr sz="1725" b="1">
                <a:solidFill>
                  <a:srgbClr val="102A43"/>
                </a:solidFill>
              </a:defRPr>
            </a:defPPr>
          </a:lstStyle>
          <a:p>
            <a:pPr>
              <a:defRPr sz="1725" b="1">
                <a:solidFill>
                  <a:srgbClr val="102A43"/>
                </a:solidFill>
              </a:defRPr>
            </a:pPr>
            <a:r>
              <a:rPr sz="1725" b="1">
                <a:solidFill>
                  <a:srgbClr val="102A43"/>
                </a:solidFill>
              </a:rPr>
              <a:t>Future controls</a:t>
            </a:r>
          </a:p>
        </p:txBody>
      </p:sp>
      <p:sp>
        <p:nvSpPr>
          <p:cNvPr id="12" name="Rectangle 11">
            <a:extLst>
              <a:ext uri="{FF2B5EF4-FFF2-40B4-BE49-F238E27FC236}">
                <a16:creationId xmlns:a16="http://schemas.microsoft.com/office/drawing/2014/main" id="{C9864F2C-E480-4E2D-BBF4-AE28797A7096}"/>
              </a:ext>
            </a:extLst>
          </p:cNvPr>
          <p:cNvSpPr>
            <a:spLocks noGrp="1"/>
          </p:cNvSpPr>
          <p:nvPr/>
        </p:nvSpPr>
        <p:spPr>
          <a:xfrm>
            <a:off x="7734300" y="2924175"/>
            <a:ext cx="2476500" cy="38100"/>
          </a:xfrm>
          <a:prstGeom prst="rect">
            <a:avLst/>
          </a:prstGeom>
          <a:solidFill>
            <a:srgbClr val="F2B134"/>
          </a:solidFill>
          <a:ln w="0">
            <a:noFill/>
            <a:prstDash val="solid"/>
          </a:ln>
        </p:spPr>
      </p:sp>
      <p:sp>
        <p:nvSpPr>
          <p:cNvPr id="13" name="Rectangle 12">
            <a:extLst>
              <a:ext uri="{FF2B5EF4-FFF2-40B4-BE49-F238E27FC236}">
                <a16:creationId xmlns:a16="http://schemas.microsoft.com/office/drawing/2014/main" id="{76166141-A967-4F18-B89B-84FE4E305313}"/>
              </a:ext>
            </a:extLst>
          </p:cNvPr>
          <p:cNvSpPr>
            <a:spLocks noGrp="1"/>
          </p:cNvSpPr>
          <p:nvPr/>
        </p:nvSpPr>
        <p:spPr>
          <a:xfrm>
            <a:off x="7734300" y="3190875"/>
            <a:ext cx="2762250" cy="857250"/>
          </a:xfrm>
          <a:prstGeom prst="rect">
            <a:avLst/>
          </a:prstGeom>
          <a:noFill/>
          <a:ln w="0">
            <a:noFill/>
            <a:prstDash val="solid"/>
          </a:ln>
        </p:spPr>
        <p:txBody>
          <a:bodyPr anchor="ctr"/>
          <a:lstStyle>
            <a:defPPr>
              <a:defRPr sz="1575" b="0">
                <a:solidFill>
                  <a:srgbClr val="1F2933"/>
                </a:solidFill>
              </a:defRPr>
            </a:defPPr>
          </a:lstStyle>
          <a:p>
            <a:pPr>
              <a:defRPr sz="1575" b="0">
                <a:solidFill>
                  <a:srgbClr val="1F2933"/>
                </a:solidFill>
              </a:defRPr>
            </a:pPr>
            <a:r>
              <a:rPr sz="1575" b="0">
                <a:solidFill>
                  <a:srgbClr val="1F2933"/>
                </a:solidFill>
              </a:rPr>
              <a:t>Test load shifting only after validation and human review</a:t>
            </a:r>
          </a:p>
        </p:txBody>
      </p:sp>
      <p:sp>
        <p:nvSpPr>
          <p:cNvPr id="14" name="Rectangle 13">
            <a:extLst>
              <a:ext uri="{FF2B5EF4-FFF2-40B4-BE49-F238E27FC236}">
                <a16:creationId xmlns:a16="http://schemas.microsoft.com/office/drawing/2014/main" id="{60F4401B-2361-4F02-8B88-BD11607FC68A}"/>
              </a:ext>
            </a:extLst>
          </p:cNvPr>
          <p:cNvSpPr>
            <a:spLocks noGrp="1"/>
          </p:cNvSpPr>
          <p:nvPr/>
        </p:nvSpPr>
        <p:spPr>
          <a:xfrm>
            <a:off x="685800" y="5238750"/>
            <a:ext cx="10096500" cy="342900"/>
          </a:xfrm>
          <a:prstGeom prst="rect">
            <a:avLst/>
          </a:prstGeom>
          <a:noFill/>
          <a:ln w="0">
            <a:noFill/>
            <a:prstDash val="solid"/>
          </a:ln>
        </p:spPr>
        <p:txBody>
          <a:bodyPr anchor="ctr"/>
          <a:lstStyle>
            <a:defPPr>
              <a:defRPr sz="1350" b="1">
                <a:solidFill>
                  <a:srgbClr val="E05D5D"/>
                </a:solidFill>
              </a:defRPr>
            </a:defPPr>
          </a:lstStyle>
          <a:p>
            <a:pPr>
              <a:defRPr sz="1350" b="1">
                <a:solidFill>
                  <a:srgbClr val="E05D5D"/>
                </a:solidFill>
              </a:defRPr>
            </a:pPr>
            <a:r>
              <a:rPr sz="1350" b="1">
                <a:solidFill>
                  <a:srgbClr val="E05D5D"/>
                </a:solidFill>
              </a:rPr>
              <a:t>The prototype does not claim energy savings, automated load shedding, or a deployed campus control system.</a:t>
            </a:r>
          </a:p>
        </p:txBody>
      </p:sp>
      <p:sp>
        <p:nvSpPr>
          <p:cNvPr id="15" name="Rectangle 14">
            <a:extLst>
              <a:ext uri="{FF2B5EF4-FFF2-40B4-BE49-F238E27FC236}">
                <a16:creationId xmlns:a16="http://schemas.microsoft.com/office/drawing/2014/main" id="{DBD783FD-1C5C-4DED-B03F-564BAEE94787}"/>
              </a:ext>
            </a:extLst>
          </p:cNvPr>
          <p:cNvSpPr>
            <a:spLocks noGrp="1"/>
          </p:cNvSpPr>
          <p:nvPr/>
        </p:nvSpPr>
        <p:spPr>
          <a:xfrm>
            <a:off x="685800" y="6477000"/>
            <a:ext cx="5334000" cy="171450"/>
          </a:xfrm>
          <a:prstGeom prst="rect">
            <a:avLst/>
          </a:prstGeom>
          <a:noFill/>
          <a:ln w="0">
            <a:noFill/>
            <a:prstDash val="solid"/>
          </a:ln>
        </p:spPr>
        <p:txBody>
          <a:bodyPr anchor="ctr"/>
          <a:lstStyle>
            <a:defPPr>
              <a:defRPr sz="825" b="0">
                <a:solidFill>
                  <a:srgbClr val="52606D"/>
                </a:solidFill>
              </a:defRPr>
            </a:defPPr>
          </a:lstStyle>
          <a:p>
            <a:pPr>
              <a:defRPr sz="825" b="0">
                <a:solidFill>
                  <a:srgbClr val="52606D"/>
                </a:solidFill>
              </a:defRPr>
            </a:pPr>
            <a:r>
              <a:rPr sz="825" b="0">
                <a:solidFill>
                  <a:srgbClr val="52606D"/>
                </a:solidFill>
              </a:rPr>
              <a:t>AI Synergy Hackathon 2026  |  Campus Energy Prototype</a:t>
            </a:r>
          </a:p>
        </p:txBody>
      </p:sp>
      <p:sp>
        <p:nvSpPr>
          <p:cNvPr id="16" name="Rectangle 15">
            <a:extLst>
              <a:ext uri="{FF2B5EF4-FFF2-40B4-BE49-F238E27FC236}">
                <a16:creationId xmlns:a16="http://schemas.microsoft.com/office/drawing/2014/main" id="{B7B04C7F-7DCB-4FC1-A9CF-F70D51436BBB}"/>
              </a:ext>
            </a:extLst>
          </p:cNvPr>
          <p:cNvSpPr>
            <a:spLocks noGrp="1"/>
          </p:cNvSpPr>
          <p:nvPr/>
        </p:nvSpPr>
        <p:spPr>
          <a:xfrm>
            <a:off x="10763250" y="6477000"/>
            <a:ext cx="742950" cy="171450"/>
          </a:xfrm>
          <a:prstGeom prst="rect">
            <a:avLst/>
          </a:prstGeom>
          <a:noFill/>
          <a:ln w="0">
            <a:noFill/>
            <a:prstDash val="solid"/>
          </a:ln>
        </p:spPr>
        <p:txBody>
          <a:bodyPr anchor="ctr"/>
          <a:lstStyle>
            <a:defPPr>
              <a:defRPr sz="825" b="0">
                <a:solidFill>
                  <a:srgbClr val="52606D"/>
                </a:solidFill>
              </a:defRPr>
            </a:defPPr>
          </a:lstStyle>
          <a:p>
            <a:pPr>
              <a:defRPr sz="825" b="0">
                <a:solidFill>
                  <a:srgbClr val="52606D"/>
                </a:solidFill>
              </a:defRPr>
            </a:pPr>
            <a:r>
              <a:rPr sz="825" b="0">
                <a:solidFill>
                  <a:srgbClr val="52606D"/>
                </a:solidFill>
              </a:rPr>
              <a:t>7 / 8</a:t>
            </a:r>
          </a:p>
        </p:txBody>
      </p:sp>
    </p:spTree>
    <p:extLst>
      <p:ext uri="{BB962C8B-B14F-4D97-AF65-F5344CB8AC3E}">
        <p14:creationId xmlns:p14="http://schemas.microsoft.com/office/powerpoint/2010/main" val="153332006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102A43"/>
        </a:solidFill>
        <a:effectLst/>
      </p:bgPr>
    </p:bg>
    <p:spTree>
      <p:nvGrpSpPr>
        <p:cNvPr id="1" name=""/>
        <p:cNvGrpSpPr/>
        <p:nvPr/>
      </p:nvGrpSpPr>
      <p:grpSpPr>
        <a:xfrm>
          <a:off x="0" y="0"/>
          <a:ext cx="0" cy="0"/>
          <a:chOff x="0" y="0"/>
          <a:chExt cx="0" cy="0"/>
        </a:xfrm>
      </p:grpSpPr>
      <p:sp>
        <p:nvSpPr>
          <p:cNvPr id="17" name="Rectangle 16">
            <a:extLst>
              <a:ext uri="{FF2B5EF4-FFF2-40B4-BE49-F238E27FC236}">
                <a16:creationId xmlns:a16="http://schemas.microsoft.com/office/drawing/2014/main" id="{A386EB62-C290-4FAB-B314-D7364C28A540}"/>
              </a:ext>
            </a:extLst>
          </p:cNvPr>
          <p:cNvSpPr>
            <a:spLocks noGrp="1"/>
          </p:cNvSpPr>
          <p:nvPr/>
        </p:nvSpPr>
        <p:spPr>
          <a:xfrm>
            <a:off x="685800" y="685800"/>
            <a:ext cx="3429000" cy="438150"/>
          </a:xfrm>
          <a:prstGeom prst="rect">
            <a:avLst/>
          </a:prstGeom>
          <a:noFill/>
          <a:ln w="0">
            <a:noFill/>
            <a:prstDash val="solid"/>
          </a:ln>
        </p:spPr>
        <p:txBody>
          <a:bodyPr anchor="ctr"/>
          <a:lstStyle>
            <a:defPPr>
              <a:defRPr sz="2550" b="1">
                <a:solidFill>
                  <a:srgbClr val="FFFFFF"/>
                </a:solidFill>
              </a:defRPr>
            </a:defPPr>
          </a:lstStyle>
          <a:p>
            <a:pPr>
              <a:defRPr sz="2550" b="1">
                <a:solidFill>
                  <a:srgbClr val="FFFFFF"/>
                </a:solidFill>
              </a:defRPr>
            </a:pPr>
            <a:r>
              <a:rPr sz="2550" b="1">
                <a:solidFill>
                  <a:srgbClr val="FFFFFF"/>
                </a:solidFill>
              </a:rPr>
              <a:t>Next steps</a:t>
            </a:r>
          </a:p>
        </p:txBody>
      </p:sp>
      <p:sp>
        <p:nvSpPr>
          <p:cNvPr id="2" name="Rectangle 1">
            <a:extLst>
              <a:ext uri="{FF2B5EF4-FFF2-40B4-BE49-F238E27FC236}">
                <a16:creationId xmlns:a16="http://schemas.microsoft.com/office/drawing/2014/main" id="{CE72C252-C8FA-427B-AF2B-F30C72310306}"/>
              </a:ext>
            </a:extLst>
          </p:cNvPr>
          <p:cNvSpPr>
            <a:spLocks noGrp="1"/>
          </p:cNvSpPr>
          <p:nvPr/>
        </p:nvSpPr>
        <p:spPr>
          <a:xfrm>
            <a:off x="685800" y="1200150"/>
            <a:ext cx="8191500" cy="323850"/>
          </a:xfrm>
          <a:prstGeom prst="rect">
            <a:avLst/>
          </a:prstGeom>
          <a:noFill/>
          <a:ln w="0">
            <a:noFill/>
            <a:prstDash val="solid"/>
          </a:ln>
        </p:spPr>
        <p:txBody>
          <a:bodyPr anchor="ctr"/>
          <a:lstStyle>
            <a:defPPr>
              <a:defRPr sz="1500" b="0">
                <a:solidFill>
                  <a:srgbClr val="D9E2EC"/>
                </a:solidFill>
              </a:defRPr>
            </a:defPPr>
          </a:lstStyle>
          <a:p>
            <a:pPr>
              <a:defRPr sz="1500" b="0">
                <a:solidFill>
                  <a:srgbClr val="D9E2EC"/>
                </a:solidFill>
              </a:defRPr>
            </a:pPr>
            <a:r>
              <a:rPr sz="1500" b="0">
                <a:solidFill>
                  <a:srgbClr val="D9E2EC"/>
                </a:solidFill>
              </a:rPr>
              <a:t>Move from a synthetic test bed to a validated campus pilot with real meter and billing records</a:t>
            </a:r>
          </a:p>
        </p:txBody>
      </p:sp>
      <p:sp>
        <p:nvSpPr>
          <p:cNvPr id="3" name="Rectangle 2">
            <a:extLst>
              <a:ext uri="{FF2B5EF4-FFF2-40B4-BE49-F238E27FC236}">
                <a16:creationId xmlns:a16="http://schemas.microsoft.com/office/drawing/2014/main" id="{19347D74-5328-4154-9138-ED7DA32246D5}"/>
              </a:ext>
            </a:extLst>
          </p:cNvPr>
          <p:cNvSpPr>
            <a:spLocks noGrp="1"/>
          </p:cNvSpPr>
          <p:nvPr/>
        </p:nvSpPr>
        <p:spPr>
          <a:xfrm>
            <a:off x="685800" y="2305050"/>
            <a:ext cx="514350" cy="285750"/>
          </a:xfrm>
          <a:prstGeom prst="rect">
            <a:avLst/>
          </a:prstGeom>
          <a:noFill/>
          <a:ln w="0">
            <a:noFill/>
            <a:prstDash val="solid"/>
          </a:ln>
        </p:spPr>
        <p:txBody>
          <a:bodyPr anchor="ctr"/>
          <a:lstStyle>
            <a:defPPr>
              <a:defRPr sz="1350" b="1">
                <a:solidFill>
                  <a:srgbClr val="00A6A6"/>
                </a:solidFill>
              </a:defRPr>
            </a:defPPr>
          </a:lstStyle>
          <a:p>
            <a:pPr>
              <a:defRPr sz="1350" b="1">
                <a:solidFill>
                  <a:srgbClr val="00A6A6"/>
                </a:solidFill>
              </a:defRPr>
            </a:pPr>
            <a:r>
              <a:rPr sz="1350" b="1">
                <a:solidFill>
                  <a:srgbClr val="00A6A6"/>
                </a:solidFill>
              </a:rPr>
              <a:t>01</a:t>
            </a:r>
          </a:p>
        </p:txBody>
      </p:sp>
      <p:sp>
        <p:nvSpPr>
          <p:cNvPr id="4" name="Rectangle 3">
            <a:extLst>
              <a:ext uri="{FF2B5EF4-FFF2-40B4-BE49-F238E27FC236}">
                <a16:creationId xmlns:a16="http://schemas.microsoft.com/office/drawing/2014/main" id="{C7BC6664-945C-49D7-B8EE-BF67988ECD69}"/>
              </a:ext>
            </a:extLst>
          </p:cNvPr>
          <p:cNvSpPr>
            <a:spLocks noGrp="1"/>
          </p:cNvSpPr>
          <p:nvPr/>
        </p:nvSpPr>
        <p:spPr>
          <a:xfrm>
            <a:off x="1428750" y="2305050"/>
            <a:ext cx="2095500" cy="285750"/>
          </a:xfrm>
          <a:prstGeom prst="rect">
            <a:avLst/>
          </a:prstGeom>
          <a:noFill/>
          <a:ln w="0">
            <a:noFill/>
            <a:prstDash val="solid"/>
          </a:ln>
        </p:spPr>
        <p:txBody>
          <a:bodyPr anchor="ctr"/>
          <a:lstStyle>
            <a:defPPr>
              <a:defRPr sz="1800" b="1">
                <a:solidFill>
                  <a:srgbClr val="FFFFFF"/>
                </a:solidFill>
              </a:defRPr>
            </a:defPPr>
          </a:lstStyle>
          <a:p>
            <a:pPr>
              <a:defRPr sz="1800" b="1">
                <a:solidFill>
                  <a:srgbClr val="FFFFFF"/>
                </a:solidFill>
              </a:defRPr>
            </a:pPr>
            <a:r>
              <a:rPr sz="1800" b="1">
                <a:solidFill>
                  <a:srgbClr val="FFFFFF"/>
                </a:solidFill>
              </a:rPr>
              <a:t>Pilot inputs</a:t>
            </a:r>
          </a:p>
        </p:txBody>
      </p:sp>
      <p:sp>
        <p:nvSpPr>
          <p:cNvPr id="5" name="Rectangle 4">
            <a:extLst>
              <a:ext uri="{FF2B5EF4-FFF2-40B4-BE49-F238E27FC236}">
                <a16:creationId xmlns:a16="http://schemas.microsoft.com/office/drawing/2014/main" id="{90CA1483-49B6-43BD-A246-C1183DFC589E}"/>
              </a:ext>
            </a:extLst>
          </p:cNvPr>
          <p:cNvSpPr>
            <a:spLocks noGrp="1"/>
          </p:cNvSpPr>
          <p:nvPr/>
        </p:nvSpPr>
        <p:spPr>
          <a:xfrm>
            <a:off x="3810000" y="2305050"/>
            <a:ext cx="6191250" cy="523875"/>
          </a:xfrm>
          <a:prstGeom prst="rect">
            <a:avLst/>
          </a:prstGeom>
          <a:noFill/>
          <a:ln w="0">
            <a:noFill/>
            <a:prstDash val="solid"/>
          </a:ln>
        </p:spPr>
        <p:txBody>
          <a:bodyPr anchor="ctr"/>
          <a:lstStyle>
            <a:defPPr>
              <a:defRPr sz="1575" b="0">
                <a:solidFill>
                  <a:srgbClr val="D9E2EC"/>
                </a:solidFill>
              </a:defRPr>
            </a:defPPr>
          </a:lstStyle>
          <a:p>
            <a:pPr>
              <a:defRPr sz="1575" b="0">
                <a:solidFill>
                  <a:srgbClr val="D9E2EC"/>
                </a:solidFill>
              </a:defRPr>
            </a:pPr>
            <a:r>
              <a:rPr sz="1575" b="0">
                <a:solidFill>
                  <a:srgbClr val="D9E2EC"/>
                </a:solidFill>
              </a:rPr>
              <a:t>Secure interval data, bills, and building metadata</a:t>
            </a:r>
          </a:p>
        </p:txBody>
      </p:sp>
      <p:sp>
        <p:nvSpPr>
          <p:cNvPr id="6" name="Rectangle 5">
            <a:extLst>
              <a:ext uri="{FF2B5EF4-FFF2-40B4-BE49-F238E27FC236}">
                <a16:creationId xmlns:a16="http://schemas.microsoft.com/office/drawing/2014/main" id="{A6990CD5-1AC0-4A96-84C9-F935182C0E8B}"/>
              </a:ext>
            </a:extLst>
          </p:cNvPr>
          <p:cNvSpPr>
            <a:spLocks noGrp="1"/>
          </p:cNvSpPr>
          <p:nvPr/>
        </p:nvSpPr>
        <p:spPr>
          <a:xfrm>
            <a:off x="1428750" y="2952750"/>
            <a:ext cx="8572500" cy="19050"/>
          </a:xfrm>
          <a:prstGeom prst="rect">
            <a:avLst/>
          </a:prstGeom>
          <a:solidFill>
            <a:srgbClr val="294B5B"/>
          </a:solidFill>
          <a:ln w="0">
            <a:noFill/>
            <a:prstDash val="solid"/>
          </a:ln>
        </p:spPr>
      </p:sp>
      <p:sp>
        <p:nvSpPr>
          <p:cNvPr id="7" name="Rectangle 6">
            <a:extLst>
              <a:ext uri="{FF2B5EF4-FFF2-40B4-BE49-F238E27FC236}">
                <a16:creationId xmlns:a16="http://schemas.microsoft.com/office/drawing/2014/main" id="{9470CC77-D422-4628-9131-C428938D26C2}"/>
              </a:ext>
            </a:extLst>
          </p:cNvPr>
          <p:cNvSpPr>
            <a:spLocks noGrp="1"/>
          </p:cNvSpPr>
          <p:nvPr/>
        </p:nvSpPr>
        <p:spPr>
          <a:xfrm>
            <a:off x="685800" y="3305175"/>
            <a:ext cx="514350" cy="285750"/>
          </a:xfrm>
          <a:prstGeom prst="rect">
            <a:avLst/>
          </a:prstGeom>
          <a:noFill/>
          <a:ln w="0">
            <a:noFill/>
            <a:prstDash val="solid"/>
          </a:ln>
        </p:spPr>
        <p:txBody>
          <a:bodyPr anchor="ctr"/>
          <a:lstStyle>
            <a:defPPr>
              <a:defRPr sz="1350" b="1">
                <a:solidFill>
                  <a:srgbClr val="00A6A6"/>
                </a:solidFill>
              </a:defRPr>
            </a:defPPr>
          </a:lstStyle>
          <a:p>
            <a:pPr>
              <a:defRPr sz="1350" b="1">
                <a:solidFill>
                  <a:srgbClr val="00A6A6"/>
                </a:solidFill>
              </a:defRPr>
            </a:pPr>
            <a:r>
              <a:rPr sz="1350" b="1">
                <a:solidFill>
                  <a:srgbClr val="00A6A6"/>
                </a:solidFill>
              </a:rPr>
              <a:t>02</a:t>
            </a:r>
          </a:p>
        </p:txBody>
      </p:sp>
      <p:sp>
        <p:nvSpPr>
          <p:cNvPr id="8" name="Rectangle 7">
            <a:extLst>
              <a:ext uri="{FF2B5EF4-FFF2-40B4-BE49-F238E27FC236}">
                <a16:creationId xmlns:a16="http://schemas.microsoft.com/office/drawing/2014/main" id="{93E51E35-E1BC-41E1-8D6A-2A0B211F840E}"/>
              </a:ext>
            </a:extLst>
          </p:cNvPr>
          <p:cNvSpPr>
            <a:spLocks noGrp="1"/>
          </p:cNvSpPr>
          <p:nvPr/>
        </p:nvSpPr>
        <p:spPr>
          <a:xfrm>
            <a:off x="1428750" y="3305175"/>
            <a:ext cx="2095500" cy="285750"/>
          </a:xfrm>
          <a:prstGeom prst="rect">
            <a:avLst/>
          </a:prstGeom>
          <a:noFill/>
          <a:ln w="0">
            <a:noFill/>
            <a:prstDash val="solid"/>
          </a:ln>
        </p:spPr>
        <p:txBody>
          <a:bodyPr anchor="ctr"/>
          <a:lstStyle>
            <a:defPPr>
              <a:defRPr sz="1800" b="1">
                <a:solidFill>
                  <a:srgbClr val="FFFFFF"/>
                </a:solidFill>
              </a:defRPr>
            </a:defPPr>
          </a:lstStyle>
          <a:p>
            <a:pPr>
              <a:defRPr sz="1800" b="1">
                <a:solidFill>
                  <a:srgbClr val="FFFFFF"/>
                </a:solidFill>
              </a:defRPr>
            </a:pPr>
            <a:r>
              <a:rPr sz="1800" b="1">
                <a:solidFill>
                  <a:srgbClr val="FFFFFF"/>
                </a:solidFill>
              </a:rPr>
              <a:t>Model validation</a:t>
            </a:r>
          </a:p>
        </p:txBody>
      </p:sp>
      <p:sp>
        <p:nvSpPr>
          <p:cNvPr id="9" name="Rectangle 8">
            <a:extLst>
              <a:ext uri="{FF2B5EF4-FFF2-40B4-BE49-F238E27FC236}">
                <a16:creationId xmlns:a16="http://schemas.microsoft.com/office/drawing/2014/main" id="{EE5EE833-682D-4639-ABC7-2429BEA80E97}"/>
              </a:ext>
            </a:extLst>
          </p:cNvPr>
          <p:cNvSpPr>
            <a:spLocks noGrp="1"/>
          </p:cNvSpPr>
          <p:nvPr/>
        </p:nvSpPr>
        <p:spPr>
          <a:xfrm>
            <a:off x="3810000" y="3305175"/>
            <a:ext cx="6191250" cy="523875"/>
          </a:xfrm>
          <a:prstGeom prst="rect">
            <a:avLst/>
          </a:prstGeom>
          <a:noFill/>
          <a:ln w="0">
            <a:noFill/>
            <a:prstDash val="solid"/>
          </a:ln>
        </p:spPr>
        <p:txBody>
          <a:bodyPr anchor="ctr"/>
          <a:lstStyle>
            <a:defPPr>
              <a:defRPr sz="1575" b="0">
                <a:solidFill>
                  <a:srgbClr val="D9E2EC"/>
                </a:solidFill>
              </a:defRPr>
            </a:defPPr>
          </a:lstStyle>
          <a:p>
            <a:pPr>
              <a:defRPr sz="1575" b="0">
                <a:solidFill>
                  <a:srgbClr val="D9E2EC"/>
                </a:solidFill>
              </a:defRPr>
            </a:pPr>
            <a:r>
              <a:rPr sz="1575" b="0">
                <a:solidFill>
                  <a:srgbClr val="D9E2EC"/>
                </a:solidFill>
              </a:rPr>
              <a:t>Run held-out interval tests and billing reconciliation</a:t>
            </a:r>
          </a:p>
        </p:txBody>
      </p:sp>
      <p:sp>
        <p:nvSpPr>
          <p:cNvPr id="10" name="Rectangle 9">
            <a:extLst>
              <a:ext uri="{FF2B5EF4-FFF2-40B4-BE49-F238E27FC236}">
                <a16:creationId xmlns:a16="http://schemas.microsoft.com/office/drawing/2014/main" id="{AE858FBE-56C2-475D-AD18-0D4D572DBA15}"/>
              </a:ext>
            </a:extLst>
          </p:cNvPr>
          <p:cNvSpPr>
            <a:spLocks noGrp="1"/>
          </p:cNvSpPr>
          <p:nvPr/>
        </p:nvSpPr>
        <p:spPr>
          <a:xfrm>
            <a:off x="1428750" y="3952875"/>
            <a:ext cx="8572500" cy="19050"/>
          </a:xfrm>
          <a:prstGeom prst="rect">
            <a:avLst/>
          </a:prstGeom>
          <a:solidFill>
            <a:srgbClr val="294B5B"/>
          </a:solidFill>
          <a:ln w="0">
            <a:noFill/>
            <a:prstDash val="solid"/>
          </a:ln>
        </p:spPr>
      </p:sp>
      <p:sp>
        <p:nvSpPr>
          <p:cNvPr id="11" name="Rectangle 10">
            <a:extLst>
              <a:ext uri="{FF2B5EF4-FFF2-40B4-BE49-F238E27FC236}">
                <a16:creationId xmlns:a16="http://schemas.microsoft.com/office/drawing/2014/main" id="{F120623C-5DE3-4FC4-B084-24FC9FB2C64F}"/>
              </a:ext>
            </a:extLst>
          </p:cNvPr>
          <p:cNvSpPr>
            <a:spLocks noGrp="1"/>
          </p:cNvSpPr>
          <p:nvPr/>
        </p:nvSpPr>
        <p:spPr>
          <a:xfrm>
            <a:off x="685800" y="4305300"/>
            <a:ext cx="514350" cy="285750"/>
          </a:xfrm>
          <a:prstGeom prst="rect">
            <a:avLst/>
          </a:prstGeom>
          <a:noFill/>
          <a:ln w="0">
            <a:noFill/>
            <a:prstDash val="solid"/>
          </a:ln>
        </p:spPr>
        <p:txBody>
          <a:bodyPr anchor="ctr"/>
          <a:lstStyle>
            <a:defPPr>
              <a:defRPr sz="1350" b="1">
                <a:solidFill>
                  <a:srgbClr val="00A6A6"/>
                </a:solidFill>
              </a:defRPr>
            </a:defPPr>
          </a:lstStyle>
          <a:p>
            <a:pPr>
              <a:defRPr sz="1350" b="1">
                <a:solidFill>
                  <a:srgbClr val="00A6A6"/>
                </a:solidFill>
              </a:defRPr>
            </a:pPr>
            <a:r>
              <a:rPr sz="1350" b="1">
                <a:solidFill>
                  <a:srgbClr val="00A6A6"/>
                </a:solidFill>
              </a:rPr>
              <a:t>03</a:t>
            </a:r>
          </a:p>
        </p:txBody>
      </p:sp>
      <p:sp>
        <p:nvSpPr>
          <p:cNvPr id="12" name="Rectangle 11">
            <a:extLst>
              <a:ext uri="{FF2B5EF4-FFF2-40B4-BE49-F238E27FC236}">
                <a16:creationId xmlns:a16="http://schemas.microsoft.com/office/drawing/2014/main" id="{B769970A-F578-4EC9-9EC4-B056E965E639}"/>
              </a:ext>
            </a:extLst>
          </p:cNvPr>
          <p:cNvSpPr>
            <a:spLocks noGrp="1"/>
          </p:cNvSpPr>
          <p:nvPr/>
        </p:nvSpPr>
        <p:spPr>
          <a:xfrm>
            <a:off x="1428750" y="4305300"/>
            <a:ext cx="2095500" cy="285750"/>
          </a:xfrm>
          <a:prstGeom prst="rect">
            <a:avLst/>
          </a:prstGeom>
          <a:noFill/>
          <a:ln w="0">
            <a:noFill/>
            <a:prstDash val="solid"/>
          </a:ln>
        </p:spPr>
        <p:txBody>
          <a:bodyPr anchor="ctr"/>
          <a:lstStyle>
            <a:defPPr>
              <a:defRPr sz="1800" b="1">
                <a:solidFill>
                  <a:srgbClr val="FFFFFF"/>
                </a:solidFill>
              </a:defRPr>
            </a:defPPr>
          </a:lstStyle>
          <a:p>
            <a:pPr>
              <a:defRPr sz="1800" b="1">
                <a:solidFill>
                  <a:srgbClr val="FFFFFF"/>
                </a:solidFill>
              </a:defRPr>
            </a:pPr>
            <a:r>
              <a:rPr sz="1800" b="1">
                <a:solidFill>
                  <a:srgbClr val="FFFFFF"/>
                </a:solidFill>
              </a:rPr>
              <a:t>Facilities review</a:t>
            </a:r>
          </a:p>
        </p:txBody>
      </p:sp>
      <p:sp>
        <p:nvSpPr>
          <p:cNvPr id="13" name="Rectangle 12">
            <a:extLst>
              <a:ext uri="{FF2B5EF4-FFF2-40B4-BE49-F238E27FC236}">
                <a16:creationId xmlns:a16="http://schemas.microsoft.com/office/drawing/2014/main" id="{01257244-1879-4B26-B96F-07A2BC8A2739}"/>
              </a:ext>
            </a:extLst>
          </p:cNvPr>
          <p:cNvSpPr>
            <a:spLocks noGrp="1"/>
          </p:cNvSpPr>
          <p:nvPr/>
        </p:nvSpPr>
        <p:spPr>
          <a:xfrm>
            <a:off x="3810000" y="4305300"/>
            <a:ext cx="6191250" cy="523875"/>
          </a:xfrm>
          <a:prstGeom prst="rect">
            <a:avLst/>
          </a:prstGeom>
          <a:noFill/>
          <a:ln w="0">
            <a:noFill/>
            <a:prstDash val="solid"/>
          </a:ln>
        </p:spPr>
        <p:txBody>
          <a:bodyPr anchor="ctr"/>
          <a:lstStyle>
            <a:defPPr>
              <a:defRPr sz="1575" b="0">
                <a:solidFill>
                  <a:srgbClr val="D9E2EC"/>
                </a:solidFill>
              </a:defRPr>
            </a:defPPr>
          </a:lstStyle>
          <a:p>
            <a:pPr>
              <a:defRPr sz="1575" b="0">
                <a:solidFill>
                  <a:srgbClr val="D9E2EC"/>
                </a:solidFill>
              </a:defRPr>
            </a:pPr>
            <a:r>
              <a:rPr sz="1575" b="0">
                <a:solidFill>
                  <a:srgbClr val="D9E2EC"/>
                </a:solidFill>
              </a:rPr>
              <a:t>Translate validated peaks into approved operational trials</a:t>
            </a:r>
          </a:p>
        </p:txBody>
      </p:sp>
      <p:sp>
        <p:nvSpPr>
          <p:cNvPr id="14" name="Rectangle 13">
            <a:extLst>
              <a:ext uri="{FF2B5EF4-FFF2-40B4-BE49-F238E27FC236}">
                <a16:creationId xmlns:a16="http://schemas.microsoft.com/office/drawing/2014/main" id="{6EE54DCB-44F0-4E25-9831-7190E54E6B14}"/>
              </a:ext>
            </a:extLst>
          </p:cNvPr>
          <p:cNvSpPr>
            <a:spLocks noGrp="1"/>
          </p:cNvSpPr>
          <p:nvPr/>
        </p:nvSpPr>
        <p:spPr>
          <a:xfrm>
            <a:off x="1428750" y="4953000"/>
            <a:ext cx="8572500" cy="19050"/>
          </a:xfrm>
          <a:prstGeom prst="rect">
            <a:avLst/>
          </a:prstGeom>
          <a:solidFill>
            <a:srgbClr val="294B5B"/>
          </a:solidFill>
          <a:ln w="0">
            <a:noFill/>
            <a:prstDash val="solid"/>
          </a:ln>
        </p:spPr>
      </p:sp>
      <p:sp>
        <p:nvSpPr>
          <p:cNvPr id="15" name="Rectangle 14">
            <a:extLst>
              <a:ext uri="{FF2B5EF4-FFF2-40B4-BE49-F238E27FC236}">
                <a16:creationId xmlns:a16="http://schemas.microsoft.com/office/drawing/2014/main" id="{8B10E5F7-9062-4879-84C8-132CB282B356}"/>
              </a:ext>
            </a:extLst>
          </p:cNvPr>
          <p:cNvSpPr>
            <a:spLocks noGrp="1"/>
          </p:cNvSpPr>
          <p:nvPr/>
        </p:nvSpPr>
        <p:spPr>
          <a:xfrm>
            <a:off x="685800" y="5762625"/>
            <a:ext cx="10191750" cy="342900"/>
          </a:xfrm>
          <a:prstGeom prst="rect">
            <a:avLst/>
          </a:prstGeom>
          <a:noFill/>
          <a:ln w="0">
            <a:noFill/>
            <a:prstDash val="solid"/>
          </a:ln>
        </p:spPr>
        <p:txBody>
          <a:bodyPr anchor="ctr"/>
          <a:lstStyle>
            <a:defPPr>
              <a:defRPr sz="1650" b="1">
                <a:solidFill>
                  <a:srgbClr val="D9F3EF"/>
                </a:solidFill>
              </a:defRPr>
            </a:defPPr>
          </a:lstStyle>
          <a:p>
            <a:pPr>
              <a:defRPr sz="1650" b="1">
                <a:solidFill>
                  <a:srgbClr val="D9F3EF"/>
                </a:solidFill>
              </a:defRPr>
            </a:pPr>
            <a:r>
              <a:rPr sz="1650" b="1">
                <a:solidFill>
                  <a:srgbClr val="D9F3EF"/>
                </a:solidFill>
              </a:rPr>
              <a:t>Ask: help us validate missing-meter inference against real campus data before we recommend peak-shifting actions.</a:t>
            </a:r>
          </a:p>
        </p:txBody>
      </p:sp>
      <p:sp>
        <p:nvSpPr>
          <p:cNvPr id="16" name="Rectangle 15">
            <a:extLst>
              <a:ext uri="{FF2B5EF4-FFF2-40B4-BE49-F238E27FC236}">
                <a16:creationId xmlns:a16="http://schemas.microsoft.com/office/drawing/2014/main" id="{5988FE53-37EF-4528-A6B8-0E2F6CD1F9B5}"/>
              </a:ext>
            </a:extLst>
          </p:cNvPr>
          <p:cNvSpPr>
            <a:spLocks noGrp="1"/>
          </p:cNvSpPr>
          <p:nvPr/>
        </p:nvSpPr>
        <p:spPr>
          <a:xfrm>
            <a:off x="685800" y="6334125"/>
            <a:ext cx="1905000" cy="209550"/>
          </a:xfrm>
          <a:prstGeom prst="rect">
            <a:avLst/>
          </a:prstGeom>
          <a:noFill/>
          <a:ln w="0">
            <a:noFill/>
            <a:prstDash val="solid"/>
          </a:ln>
        </p:spPr>
        <p:txBody>
          <a:bodyPr anchor="ctr"/>
          <a:lstStyle>
            <a:defPPr>
              <a:defRPr sz="1125" b="1">
                <a:solidFill>
                  <a:srgbClr val="00A6A6"/>
                </a:solidFill>
              </a:defRPr>
            </a:defPPr>
          </a:lstStyle>
          <a:p>
            <a:pPr>
              <a:defRPr sz="1125" b="1">
                <a:solidFill>
                  <a:srgbClr val="00A6A6"/>
                </a:solidFill>
              </a:defRPr>
            </a:pPr>
            <a:r>
              <a:rPr sz="1125" b="1">
                <a:solidFill>
                  <a:srgbClr val="00A6A6"/>
                </a:solidFill>
              </a:rPr>
              <a:t>Thank you</a:t>
            </a:r>
          </a:p>
        </p:txBody>
      </p:sp>
    </p:spTree>
    <p:extLst>
      <p:ext uri="{BB962C8B-B14F-4D97-AF65-F5344CB8AC3E}">
        <p14:creationId xmlns:p14="http://schemas.microsoft.com/office/powerpoint/2010/main" val="1287225684"/>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53</TotalTime>
  <Words>758</Words>
  <Application>Microsoft Office PowerPoint</Application>
  <DocSecurity>0</DocSecurity>
  <PresentationFormat>Widescreen</PresentationFormat>
  <Paragraphs>148</Paragraphs>
  <Slides>8</Slides>
  <Notes>8</Notes>
  <HiddenSlides>0</HiddenSlides>
  <MMClips>0</MMClips>
  <ScaleCrop>false</ScaleCrop>
  <HeadingPairs>
    <vt:vector size="6" baseType="variant">
      <vt:variant>
        <vt:lpstr>Fonts Used</vt:lpstr>
      </vt:variant>
      <vt:variant>
        <vt:i4>1</vt:i4>
      </vt:variant>
      <vt:variant>
        <vt:lpstr>Theme</vt:lpstr>
      </vt:variant>
      <vt:variant>
        <vt:i4>1</vt:i4>
      </vt:variant>
      <vt:variant>
        <vt:lpstr>Slide Titles</vt:lpstr>
      </vt:variant>
      <vt:variant>
        <vt:i4>8</vt:i4>
      </vt:variant>
    </vt:vector>
  </HeadingPairs>
  <TitlesOfParts>
    <vt:vector size="10" baseType="lpstr">
      <vt:lpstr>Aptos</vt:lpstr>
      <vt:lpstr>ChatGPT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User</cp:lastModifiedBy>
  <cp:revision>6</cp:revision>
  <dcterms:created xsi:type="dcterms:W3CDTF">2026-10-12T18:09:24Z</dcterms:created>
  <dcterms:modified xsi:type="dcterms:W3CDTF">2026-10-14T14:17:07Z</dcterms:modified>
</cp:coreProperties>
</file>