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9815cf206a4c5d" /><Relationship Type="http://schemas.openxmlformats.org/officeDocument/2006/relationships/extended-properties" Target="/docProps/app.xml" Id="Rb2fe7a11f9404953" /><Relationship Type="http://schemas.openxmlformats.org/officeDocument/2006/relationships/officeDocument" Target="/ppt/presentation.xml" Id="R0a1cb419ec044c3c" /></Relationships>
</file>

<file path=ppt/presentation.xml><?xml version="1.0" encoding="utf-8"?>
<p:presentation xmlns:p="http://schemas.openxmlformats.org/presentationml/2006/main">
  <p:sldMasterIdLst>
    <p:sldMasterId xmlns:r="http://schemas.openxmlformats.org/officeDocument/2006/relationships" id="2147483648" r:id="R628964705f1c48b6"/>
  </p:sldMasterIdLst>
  <p:notesMasterIdLst>
    <p:notesMasterId xmlns:r="http://schemas.openxmlformats.org/officeDocument/2006/relationships" r:id="R54a83239dace4820"/>
  </p:notesMasterIdLst>
  <p:sldIdLst>
    <p:sldId xmlns:r="http://schemas.openxmlformats.org/officeDocument/2006/relationships" id="256" r:id="R0198af9def154acb"/>
    <p:sldId xmlns:r="http://schemas.openxmlformats.org/officeDocument/2006/relationships" id="257" r:id="R4f8afa84d4c64a5a"/>
    <p:sldId xmlns:r="http://schemas.openxmlformats.org/officeDocument/2006/relationships" id="258" r:id="Rb6cee362494a42b6"/>
    <p:sldId xmlns:r="http://schemas.openxmlformats.org/officeDocument/2006/relationships" id="259" r:id="R2164720ca9ba4b2a"/>
    <p:sldId xmlns:r="http://schemas.openxmlformats.org/officeDocument/2006/relationships" id="260" r:id="R1d7c9f560fdc4a85"/>
    <p:sldId xmlns:r="http://schemas.openxmlformats.org/officeDocument/2006/relationships" id="261" r:id="Rd64029a2d0104a6e"/>
    <p:sldId xmlns:r="http://schemas.openxmlformats.org/officeDocument/2006/relationships" id="262" r:id="Rc151abf0b83d4bac"/>
    <p:sldId xmlns:r="http://schemas.openxmlformats.org/officeDocument/2006/relationships" id="263" r:id="R0ea31332df384d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1b44297d1d4102" /><Relationship Type="http://schemas.openxmlformats.org/officeDocument/2006/relationships/slideMaster" Target="/ppt/slideMasters/slideMaster1.xml" Id="R628964705f1c48b6" /><Relationship Type="http://schemas.openxmlformats.org/officeDocument/2006/relationships/notesMaster" Target="/ppt/notesMasters/notesMaster1.xml" Id="R54a83239dace4820" /><Relationship Type="http://schemas.openxmlformats.org/officeDocument/2006/relationships/presProps" Target="/ppt/presProps.xml" Id="R266cd53d9bd6460d" /><Relationship Type="http://schemas.openxmlformats.org/officeDocument/2006/relationships/tableStyles" Target="/ppt/tableStyles.xml" Id="R573664bb8f8f4ac4" /><Relationship Type="http://schemas.openxmlformats.org/officeDocument/2006/relationships/slide" Target="/ppt/slides/slide1.xml" Id="R0198af9def154acb" /><Relationship Type="http://schemas.openxmlformats.org/officeDocument/2006/relationships/slide" Target="/ppt/slides/slide2.xml" Id="R4f8afa84d4c64a5a" /><Relationship Type="http://schemas.openxmlformats.org/officeDocument/2006/relationships/slide" Target="/ppt/slides/slide3.xml" Id="Rb6cee362494a42b6" /><Relationship Type="http://schemas.openxmlformats.org/officeDocument/2006/relationships/slide" Target="/ppt/slides/slide4.xml" Id="R2164720ca9ba4b2a" /><Relationship Type="http://schemas.openxmlformats.org/officeDocument/2006/relationships/slide" Target="/ppt/slides/slide5.xml" Id="R1d7c9f560fdc4a85" /><Relationship Type="http://schemas.openxmlformats.org/officeDocument/2006/relationships/slide" Target="/ppt/slides/slide6.xml" Id="Rd64029a2d0104a6e" /><Relationship Type="http://schemas.openxmlformats.org/officeDocument/2006/relationships/slide" Target="/ppt/slides/slide7.xml" Id="Rc151abf0b83d4bac" /><Relationship Type="http://schemas.openxmlformats.org/officeDocument/2006/relationships/slide" Target="/ppt/slides/slide8.xml" Id="R0ea31332df384d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2010b1c5f34c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485d05d4794c66" /><Relationship Type="http://schemas.openxmlformats.org/officeDocument/2006/relationships/notesMaster" Target="/ppt/notesMasters/notesMaster1.xml" Id="Rcadd4631e75647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68cad7dfc2499f" /><Relationship Type="http://schemas.openxmlformats.org/officeDocument/2006/relationships/notesMaster" Target="/ppt/notesMasters/notesMaster1.xml" Id="Ra37d928d262f46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f897b855384bd9" /><Relationship Type="http://schemas.openxmlformats.org/officeDocument/2006/relationships/notesMaster" Target="/ppt/notesMasters/notesMaster1.xml" Id="R3e83da5b1caa41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93045785ff45f2" /><Relationship Type="http://schemas.openxmlformats.org/officeDocument/2006/relationships/notesMaster" Target="/ppt/notesMasters/notesMaster1.xml" Id="R571fdd2fba3f4f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33541bf5094ebb" /><Relationship Type="http://schemas.openxmlformats.org/officeDocument/2006/relationships/notesMaster" Target="/ppt/notesMasters/notesMaster1.xml" Id="R574c7221be2946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8c9efa35f14cd4" /><Relationship Type="http://schemas.openxmlformats.org/officeDocument/2006/relationships/notesMaster" Target="/ppt/notesMasters/notesMaster1.xml" Id="R713aa28500bc4c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c305425d79424a" /><Relationship Type="http://schemas.openxmlformats.org/officeDocument/2006/relationships/notesMaster" Target="/ppt/notesMasters/notesMaster1.xml" Id="R124cf83a849e43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c410fc22f34c81" /><Relationship Type="http://schemas.openxmlformats.org/officeDocument/2006/relationships/notesMaster" Target="/ppt/notesMasters/notesMaster1.xml" Id="Ra873cd2437d94f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SCRIPT</a:t>
            </a:r>
            <a:br/>
            <a:r>
              <a:t>At 4 PM, campus demand starts rising while rooftop solar generation falls. Our prototype begins with incomplete building records and creates the evidence pipeline needed to understand the 4 to 8 PM window before anyone proposes an intervention.</a:t>
            </a:r>
          </a:p>
          <a:p xmlns:a="http://schemas.openxmlformats.org/drawingml/2006/main">
            <a:r>
              <a:t>JUDGE QUESTION PRE-EMPTED</a:t>
            </a:r>
            <a:br/>
            <a:r>
              <a:t>What problem are you solving, in one sentence?</a:t>
            </a:r>
          </a:p>
          <a:p xmlns:a="http://schemas.openxmlformats.org/drawingml/2006/main">
            <a:r>
              <a:t>SOURCE / DISCLOSURE</a:t>
            </a:r>
            <a:br/>
            <a:r>
              <a:t>Repository README: Campus Energy – Prototype 1; src/generate_data.py and notebooks/01_baseline_eda.ipynb are the implementation references. No model-accuracy or savings figures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SCRIPT</a:t>
            </a:r>
            <a:br/>
            <a:r>
              <a:t>A monthly bill can reconcile total energy used, but it cannot identify whether a hostel, lecture hall, or office causes demand at 4:15 PM. Without timing and building attribution, facilities cannot confidently target peak-management action.</a:t>
            </a:r>
          </a:p>
          <a:p xmlns:a="http://schemas.openxmlformats.org/drawingml/2006/main">
            <a:r>
              <a:t>JUDGE QUESTION PRE-EMPTED</a:t>
            </a:r>
            <a:br/>
            <a:r>
              <a:t>Why are monthly bills insufficient?</a:t>
            </a:r>
          </a:p>
          <a:p xmlns:a="http://schemas.openxmlformats.org/drawingml/2006/main">
            <a:r>
              <a:t>SOURCE / DISCLOSURE</a:t>
            </a:r>
            <a:br/>
            <a:r>
              <a:t>Repository README: Campus Energy – Prototype 1; src/generate_data.py and notebooks/01_baseline_eda.ipynb are the implementation references. No model-accuracy or savings figures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SCRIPT</a:t>
            </a:r>
            <a:br/>
            <a:r>
              <a:t>We built a controlled data pipeline first: five buildings, hourly readings across June to August, deliberate multi-day gaps, and separate true monthly totals. The baseline EDA notebook resamples that time series and makes the 4 to 8 PM spike the specific question the team can inspect.</a:t>
            </a:r>
          </a:p>
          <a:p xmlns:a="http://schemas.openxmlformats.org/drawingml/2006/main">
            <a:r>
              <a:t>JUDGE QUESTION PRE-EMPTED</a:t>
            </a:r>
            <a:br/>
            <a:r>
              <a:t>Is there real evidence behind the story, or only a concept?</a:t>
            </a:r>
          </a:p>
          <a:p xmlns:a="http://schemas.openxmlformats.org/drawingml/2006/main">
            <a:r>
              <a:t>SOURCE / DISCLOSURE</a:t>
            </a:r>
            <a:br/>
            <a:r>
              <a:t>Repository README: Campus Energy – Prototype 1; src/generate_data.py and notebooks/01_baseline_eda.ipynb are the implementation references. No model-accuracy or savings figures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SCRIPT</a:t>
            </a:r>
            <a:br/>
            <a:r>
              <a:t>Our design combines detailed interval data with monthly totals that anchor buildings without a modern meter. The repository currently implements synthetic data and baseline analysis; the model-based imputation block is deliberately presented as the next build step rather than a completed AI claim.</a:t>
            </a:r>
          </a:p>
          <a:p xmlns:a="http://schemas.openxmlformats.org/drawingml/2006/main">
            <a:r>
              <a:t>JUDGE QUESTION PRE-EMPTED</a:t>
            </a:r>
            <a:br/>
            <a:r>
              <a:t>Have you actually built the AI model?</a:t>
            </a:r>
          </a:p>
          <a:p xmlns:a="http://schemas.openxmlformats.org/drawingml/2006/main">
            <a:r>
              <a:t>SOURCE / DISCLOSURE</a:t>
            </a:r>
            <a:br/>
            <a:r>
              <a:t>Repository README: Campus Energy – Prototype 1; src/generate_data.py and notebooks/01_baseline_eda.ipynb are the implementation references. No model-accuracy or savings figures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SCRIPT</a:t>
            </a:r>
            <a:br/>
            <a:r>
              <a:t>The fastest credible demo follows the existing path: generate the synthetic raw CSV files, open the baseline notebook, and focus the audience on its 4 to 8 PM demand-spike view. Then point to the intentional missing spans and explain that the next model will infer an interval profile while respecting monthly billing totals.</a:t>
            </a:r>
          </a:p>
          <a:p xmlns:a="http://schemas.openxmlformats.org/drawingml/2006/main">
            <a:r>
              <a:t>JUDGE QUESTION PRE-EMPTED</a:t>
            </a:r>
            <a:br/>
            <a:r>
              <a:t>Can you demonstrate something working right now?</a:t>
            </a:r>
          </a:p>
          <a:p xmlns:a="http://schemas.openxmlformats.org/drawingml/2006/main">
            <a:r>
              <a:t>SOURCE / DISCLOSURE</a:t>
            </a:r>
            <a:br/>
            <a:r>
              <a:t>Repository README: Campus Energy – Prototype 1; src/generate_data.py and notebooks/01_baseline_eda.ipynb are the implementation references. No model-accuracy or savings figures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SCRIPT</a:t>
            </a:r>
            <a:br/>
            <a:r>
              <a:t>The bill is not discarded. It becomes a hard reconciliation check that prevents a plausible-looking daily profile from drifting away from known monthly consumption. We will test the method by hiding selected intervals from known meters, reconstructing them, and comparing the estimate with held-out meter readings by building and peak window.</a:t>
            </a:r>
          </a:p>
          <a:p xmlns:a="http://schemas.openxmlformats.org/drawingml/2006/main">
            <a:r>
              <a:t>JUDGE QUESTION PRE-EMPTED</a:t>
            </a:r>
            <a:br/>
            <a:r>
              <a:t>How will you know the AI is reliable?</a:t>
            </a:r>
          </a:p>
          <a:p xmlns:a="http://schemas.openxmlformats.org/drawingml/2006/main">
            <a:r>
              <a:t>SOURCE / DISCLOSURE</a:t>
            </a:r>
            <a:br/>
            <a:r>
              <a:t>Repository README: Campus Energy – Prototype 1; src/generate_data.py and notebooks/01_baseline_eda.ipynb are the implementation references. No model-accuracy or savings figures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SCRIPT</a:t>
            </a:r>
            <a:br/>
            <a:r>
              <a:t>The immediate product is a more defensible view of the peak, rather than automatic switching. A facilities team can use it to prioritize investigation, schedule reviews, and metering upgrades; any load-control trial belongs in a later stage with facilities approval.</a:t>
            </a:r>
          </a:p>
          <a:p xmlns:a="http://schemas.openxmlformats.org/drawingml/2006/main">
            <a:r>
              <a:t>JUDGE QUESTION PRE-EMPTED</a:t>
            </a:r>
            <a:br/>
            <a:r>
              <a:t>What value exists before deployment or automation?</a:t>
            </a:r>
          </a:p>
          <a:p xmlns:a="http://schemas.openxmlformats.org/drawingml/2006/main">
            <a:r>
              <a:t>SOURCE / DISCLOSURE</a:t>
            </a:r>
            <a:br/>
            <a:r>
              <a:t>Repository README: Campus Energy – Prototype 1; src/generate_data.py and notebooks/01_baseline_eda.ipynb are the implementation references. No model-accuracy or savings figures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SCRIPT</a:t>
            </a:r>
            <a:br/>
            <a:r>
              <a:t>The next milestone is not a bigger dashboard. It is a small, governed validation pilot that combines real interval readings, monthly bills, and building metadata. We are asking for the data access required to prove the inference before we recommend scheduling changes or other operational actions.</a:t>
            </a:r>
          </a:p>
          <a:p xmlns:a="http://schemas.openxmlformats.org/drawingml/2006/main">
            <a:r>
              <a:t>JUDGE QUESTION PRE-EMPTED</a:t>
            </a:r>
            <a:br/>
            <a:r>
              <a:t>What will you do after the hackathon, and what do you need?</a:t>
            </a:r>
          </a:p>
          <a:p xmlns:a="http://schemas.openxmlformats.org/drawingml/2006/main">
            <a:r>
              <a:t>SOURCE / DISCLOSURE</a:t>
            </a:r>
            <a:br/>
            <a:r>
              <a:t>Repository README: Campus Energy – Prototype 1; src/generate_data.py and notebooks/01_baseline_eda.ipynb are the implementation references. No model-accuracy or savings figures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add3b836064a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7e5bc1855b41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0fa31a6693340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3de74617c94f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be38c9c1a048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339a97a2ec45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5909B1-7FBE-4468-928B-BFA995B46A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C41BE8-DE69-44E2-8499-5B0BBF8FC19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582765-CCB2-4E5C-8AB3-E56A32243EE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5A092D-F51F-410A-BFA7-034FF1DA65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4AC9C7-D078-4CC4-B351-9996454A99E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0944C9-2B84-4A6A-8EBC-3A1366F278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7919CD-5014-4A6D-9218-7FA249C45C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7E81349-BCB7-4D76-A7B3-3A53677E5F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FD5544-FFA2-4295-AB9B-F7CBC73C43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3A0814-35F3-49A3-9B01-B6102AF93F0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e4f54938664dae" /><Relationship Type="http://schemas.openxmlformats.org/officeDocument/2006/relationships/slideLayout" Target="/ppt/slideLayouts/slideLayout1.xml" Id="Rba1484b2f71b4416" /><Relationship Type="http://schemas.openxmlformats.org/officeDocument/2006/relationships/slideLayout" Target="/ppt/slideLayouts/slideLayout2.xml" Id="R6acd1dbabc034026" /><Relationship Type="http://schemas.openxmlformats.org/officeDocument/2006/relationships/slideLayout" Target="/ppt/slideLayouts/slideLayout3.xml" Id="R22238f6c71de4be5" /><Relationship Type="http://schemas.openxmlformats.org/officeDocument/2006/relationships/slideLayout" Target="/ppt/slideLayouts/slideLayout4.xml" Id="R76e624446cf54a48" /><Relationship Type="http://schemas.openxmlformats.org/officeDocument/2006/relationships/slideLayout" Target="/ppt/slideLayouts/slideLayout5.xml" Id="R2ef34f6465fa4f00" /><Relationship Type="http://schemas.openxmlformats.org/officeDocument/2006/relationships/slideLayout" Target="/ppt/slideLayouts/slideLayout6.xml" Id="R386c0df4599e48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1484b2f71b4416"/>
    <p:sldLayoutId xmlns:r="http://schemas.openxmlformats.org/officeDocument/2006/relationships" id="2147483650" r:id="R6acd1dbabc034026"/>
    <p:sldLayoutId xmlns:r="http://schemas.openxmlformats.org/officeDocument/2006/relationships" id="2147483651" r:id="R22238f6c71de4be5"/>
    <p:sldLayoutId xmlns:r="http://schemas.openxmlformats.org/officeDocument/2006/relationships" id="2147483652" r:id="R76e624446cf54a48"/>
    <p:sldLayoutId xmlns:r="http://schemas.openxmlformats.org/officeDocument/2006/relationships" id="2147483653" r:id="R2ef34f6465fa4f00"/>
    <p:sldLayoutId xmlns:r="http://schemas.openxmlformats.org/officeDocument/2006/relationships" id="2147483654" r:id="R386c0df4599e48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5001ca766824048" /><Relationship Type="http://schemas.openxmlformats.org/officeDocument/2006/relationships/notesSlide" Target="/ppt/notesSlides/notesSlide1.xml" Id="R7b84a9a3181641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f0a8809b994635" /><Relationship Type="http://schemas.openxmlformats.org/officeDocument/2006/relationships/notesSlide" Target="/ppt/notesSlides/notesSlide2.xml" Id="R889822055cbb46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573c0e9c114e55" /><Relationship Type="http://schemas.openxmlformats.org/officeDocument/2006/relationships/notesSlide" Target="/ppt/notesSlides/notesSlide3.xml" Id="R8a12900b310b41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d816038ab64d88" /><Relationship Type="http://schemas.openxmlformats.org/officeDocument/2006/relationships/notesSlide" Target="/ppt/notesSlides/notesSlide4.xml" Id="Rc248781927fe43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3f200b41c794608" /><Relationship Type="http://schemas.openxmlformats.org/officeDocument/2006/relationships/notesSlide" Target="/ppt/notesSlides/notesSlide5.xml" Id="R3082f4bad00342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5511fcf3e6e4d86" /><Relationship Type="http://schemas.openxmlformats.org/officeDocument/2006/relationships/notesSlide" Target="/ppt/notesSlides/notesSlide6.xml" Id="Rf20ff5b6109e4c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25d65427b04c50" /><Relationship Type="http://schemas.openxmlformats.org/officeDocument/2006/relationships/notesSlide" Target="/ppt/notesSlides/notesSlide7.xml" Id="Rb5706fbe00ee4e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b437f86196a444f" /><Relationship Type="http://schemas.openxmlformats.org/officeDocument/2006/relationships/notesSlide" Target="/ppt/notesSlides/notesSlide8.xml" Id="R4f02b2a74a8745c0"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0F22895-DCE1-4DD5-AEF0-F303F3B6D5AF}"/>
              </a:ext>
            </a:extLst>
          </p:cNvPr>
          <p:cNvSpPr>
            <a:spLocks xmlns:a="http://schemas.openxmlformats.org/drawingml/2006/main" noGrp="1"/>
          </p:cNvSpPr>
          <p:nvPr/>
        </p:nvSpPr>
        <p:spPr>
          <a:xfrm xmlns:a="http://schemas.openxmlformats.org/drawingml/2006/main">
            <a:off x="685800" y="7620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00A6A6"/>
                </a:solidFill>
              </a:defRPr>
            </a:defPPr>
          </a:lstStyle>
          <a:p xmlns:a="http://schemas.openxmlformats.org/drawingml/2006/main">
            <a:pPr>
              <a:defRPr sz="1125" b="1">
                <a:solidFill>
                  <a:srgbClr val="00A6A6"/>
                </a:solidFill>
              </a:defRPr>
            </a:pPr>
            <a:r>
              <a:rPr sz="1125" b="1">
                <a:solidFill>
                  <a:srgbClr val="00A6A6"/>
                </a:solidFill>
              </a:rPr>
              <a:t>CAMPUS ENERGY</a:t>
            </a:r>
          </a:p>
        </p:txBody>
      </p:sp>
      <p:sp>
        <p:nvSpPr>
          <p:cNvPr id="2" name="">
            <a:extLst xmlns:a="http://schemas.openxmlformats.org/drawingml/2006/main">
              <a:ext uri="{FF2B5EF4-FFF2-40B4-BE49-F238E27FC236}">
                <a16:creationId xmlns:a16="http://schemas.microsoft.com/office/drawing/2014/main" id="{854A5D8D-9ABA-4CB3-B2DD-9236B70A34F6}"/>
              </a:ext>
            </a:extLst>
          </p:cNvPr>
          <p:cNvSpPr>
            <a:spLocks xmlns:a="http://schemas.openxmlformats.org/drawingml/2006/main" noGrp="1"/>
          </p:cNvSpPr>
          <p:nvPr/>
        </p:nvSpPr>
        <p:spPr>
          <a:xfrm xmlns:a="http://schemas.openxmlformats.org/drawingml/2006/main">
            <a:off x="685800" y="1333500"/>
            <a:ext cx="6858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050" b="1">
                <a:solidFill>
                  <a:srgbClr val="FFFFFF"/>
                </a:solidFill>
              </a:defRPr>
            </a:defPPr>
          </a:lstStyle>
          <a:p xmlns:a="http://schemas.openxmlformats.org/drawingml/2006/main">
            <a:pPr>
              <a:defRPr sz="4050" b="1">
                <a:solidFill>
                  <a:srgbClr val="FFFFFF"/>
                </a:solidFill>
              </a:defRPr>
            </a:pPr>
            <a:r>
              <a:rPr sz="4050" b="1">
                <a:solidFill>
                  <a:srgbClr val="FFFFFF"/>
                </a:solidFill>
              </a:rPr>
              <a:t>Make the 4 PM spike visible</a:t>
            </a:r>
          </a:p>
        </p:txBody>
      </p:sp>
      <p:sp>
        <p:nvSpPr>
          <p:cNvPr id="3" name="">
            <a:extLst xmlns:a="http://schemas.openxmlformats.org/drawingml/2006/main">
              <a:ext uri="{FF2B5EF4-FFF2-40B4-BE49-F238E27FC236}">
                <a16:creationId xmlns:a16="http://schemas.microsoft.com/office/drawing/2014/main" id="{A1CE2DC7-E395-4801-8973-7D54DA282A70}"/>
              </a:ext>
            </a:extLst>
          </p:cNvPr>
          <p:cNvSpPr>
            <a:spLocks xmlns:a="http://schemas.openxmlformats.org/drawingml/2006/main" noGrp="1"/>
          </p:cNvSpPr>
          <p:nvPr/>
        </p:nvSpPr>
        <p:spPr>
          <a:xfrm xmlns:a="http://schemas.openxmlformats.org/drawingml/2006/main">
            <a:off x="685800" y="2714625"/>
            <a:ext cx="619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D9E2EC"/>
                </a:solidFill>
              </a:defRPr>
            </a:defPPr>
          </a:lstStyle>
          <a:p xmlns:a="http://schemas.openxmlformats.org/drawingml/2006/main">
            <a:pPr>
              <a:defRPr sz="1800" b="0">
                <a:solidFill>
                  <a:srgbClr val="D9E2EC"/>
                </a:solidFill>
              </a:defRPr>
            </a:pPr>
            <a:r>
              <a:rPr sz="1800" b="0">
                <a:solidFill>
                  <a:srgbClr val="D9E2EC"/>
                </a:solidFill>
              </a:rPr>
              <a:t>A data-integration and load-imputation prototype that turns monthly-only building records into a testable view of the campus evening peak.</a:t>
            </a:r>
          </a:p>
        </p:txBody>
      </p:sp>
      <p:sp>
        <p:nvSpPr>
          <p:cNvPr id="4" name="">
            <a:extLst xmlns:a="http://schemas.openxmlformats.org/drawingml/2006/main">
              <a:ext uri="{FF2B5EF4-FFF2-40B4-BE49-F238E27FC236}">
                <a16:creationId xmlns:a16="http://schemas.microsoft.com/office/drawing/2014/main" id="{B0CBB661-5B60-44E7-8CD6-EAA5642F6DA0}"/>
              </a:ext>
            </a:extLst>
          </p:cNvPr>
          <p:cNvSpPr>
            <a:spLocks xmlns:a="http://schemas.openxmlformats.org/drawingml/2006/main" noGrp="1"/>
          </p:cNvSpPr>
          <p:nvPr/>
        </p:nvSpPr>
        <p:spPr>
          <a:xfrm xmlns:a="http://schemas.openxmlformats.org/drawingml/2006/main">
            <a:off x="685800" y="4476750"/>
            <a:ext cx="4286250" cy="3810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809BCA-33D1-4F75-9C49-3007F90A1CD0}"/>
              </a:ext>
            </a:extLst>
          </p:cNvPr>
          <p:cNvSpPr>
            <a:spLocks xmlns:a="http://schemas.openxmlformats.org/drawingml/2006/main" noGrp="1"/>
          </p:cNvSpPr>
          <p:nvPr/>
        </p:nvSpPr>
        <p:spPr>
          <a:xfrm xmlns:a="http://schemas.openxmlformats.org/drawingml/2006/main">
            <a:off x="685800" y="47625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AI Synergy Hackathon 2026</a:t>
            </a:r>
          </a:p>
        </p:txBody>
      </p:sp>
      <p:sp>
        <p:nvSpPr>
          <p:cNvPr id="6" name="">
            <a:extLst xmlns:a="http://schemas.openxmlformats.org/drawingml/2006/main">
              <a:ext uri="{FF2B5EF4-FFF2-40B4-BE49-F238E27FC236}">
                <a16:creationId xmlns:a16="http://schemas.microsoft.com/office/drawing/2014/main" id="{E5DD711C-1208-448F-8469-609D5F0A95D2}"/>
              </a:ext>
            </a:extLst>
          </p:cNvPr>
          <p:cNvSpPr>
            <a:spLocks xmlns:a="http://schemas.openxmlformats.org/drawingml/2006/main" noGrp="1"/>
          </p:cNvSpPr>
          <p:nvPr/>
        </p:nvSpPr>
        <p:spPr>
          <a:xfrm xmlns:a="http://schemas.openxmlformats.org/drawingml/2006/main">
            <a:off x="685800" y="51244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D9E2EC"/>
                </a:solidFill>
              </a:defRPr>
            </a:defPPr>
          </a:lstStyle>
          <a:p xmlns:a="http://schemas.openxmlformats.org/drawingml/2006/main">
            <a:pPr>
              <a:defRPr sz="1350" b="0">
                <a:solidFill>
                  <a:srgbClr val="D9E2EC"/>
                </a:solidFill>
              </a:defRPr>
            </a:pPr>
            <a:r>
              <a:rPr sz="1350" b="0">
                <a:solidFill>
                  <a:srgbClr val="D9E2EC"/>
                </a:solidFill>
              </a:rPr>
              <a:t>The Missing Meter</a:t>
            </a:r>
          </a:p>
        </p:txBody>
      </p:sp>
      <p:sp>
        <p:nvSpPr>
          <p:cNvPr id="7" name="">
            <a:extLst xmlns:a="http://schemas.openxmlformats.org/drawingml/2006/main">
              <a:ext uri="{FF2B5EF4-FFF2-40B4-BE49-F238E27FC236}">
                <a16:creationId xmlns:a16="http://schemas.microsoft.com/office/drawing/2014/main" id="{7AFF83B3-4186-4501-AB25-86EAD1571F9A}"/>
              </a:ext>
            </a:extLst>
          </p:cNvPr>
          <p:cNvSpPr>
            <a:spLocks xmlns:a="http://schemas.openxmlformats.org/drawingml/2006/main" noGrp="1"/>
          </p:cNvSpPr>
          <p:nvPr/>
        </p:nvSpPr>
        <p:spPr>
          <a:xfrm xmlns:a="http://schemas.openxmlformats.org/drawingml/2006/main">
            <a:off x="9029700" y="1123950"/>
            <a:ext cx="952500" cy="952500"/>
          </a:xfrm>
          <a:prstGeom xmlns:a="http://schemas.openxmlformats.org/drawingml/2006/main" prst="ellipse">
            <a:avLst/>
          </a:prstGeom>
          <a:solidFill xmlns:a="http://schemas.openxmlformats.org/drawingml/2006/main">
            <a:srgbClr val="F2B1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153C74B-8625-4005-9BFA-43CE8B8F7889}"/>
              </a:ext>
            </a:extLst>
          </p:cNvPr>
          <p:cNvSpPr>
            <a:spLocks xmlns:a="http://schemas.openxmlformats.org/drawingml/2006/main" noGrp="1"/>
          </p:cNvSpPr>
          <p:nvPr/>
        </p:nvSpPr>
        <p:spPr>
          <a:xfrm xmlns:a="http://schemas.openxmlformats.org/drawingml/2006/main">
            <a:off x="7810500" y="3505200"/>
            <a:ext cx="1047750" cy="16192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23E92FD-07D5-4E6E-9066-259C13B936F8}"/>
              </a:ext>
            </a:extLst>
          </p:cNvPr>
          <p:cNvSpPr>
            <a:spLocks xmlns:a="http://schemas.openxmlformats.org/drawingml/2006/main" noGrp="1"/>
          </p:cNvSpPr>
          <p:nvPr/>
        </p:nvSpPr>
        <p:spPr>
          <a:xfrm xmlns:a="http://schemas.openxmlformats.org/drawingml/2006/main">
            <a:off x="9048750" y="2838450"/>
            <a:ext cx="1238250" cy="2286000"/>
          </a:xfrm>
          <a:prstGeom xmlns:a="http://schemas.openxmlformats.org/drawingml/2006/main" prst="rect">
            <a:avLst/>
          </a:prstGeom>
          <a:solidFill xmlns:a="http://schemas.openxmlformats.org/drawingml/2006/main">
            <a:srgbClr val="237F8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C47E78-6E6C-44B7-A151-68E2D1AD0E85}"/>
              </a:ext>
            </a:extLst>
          </p:cNvPr>
          <p:cNvSpPr>
            <a:spLocks xmlns:a="http://schemas.openxmlformats.org/drawingml/2006/main" noGrp="1"/>
          </p:cNvSpPr>
          <p:nvPr/>
        </p:nvSpPr>
        <p:spPr>
          <a:xfrm xmlns:a="http://schemas.openxmlformats.org/drawingml/2006/main">
            <a:off x="10496550" y="3924300"/>
            <a:ext cx="704850" cy="1200150"/>
          </a:xfrm>
          <a:prstGeom xmlns:a="http://schemas.openxmlformats.org/drawingml/2006/main" prst="rect">
            <a:avLst/>
          </a:prstGeom>
          <a:solidFill xmlns:a="http://schemas.openxmlformats.org/drawingml/2006/main">
            <a:srgbClr val="1661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DF72CE9-05EC-48F0-AC15-47348B206B19}"/>
              </a:ext>
            </a:extLst>
          </p:cNvPr>
          <p:cNvSpPr>
            <a:spLocks xmlns:a="http://schemas.openxmlformats.org/drawingml/2006/main" noGrp="1"/>
          </p:cNvSpPr>
          <p:nvPr/>
        </p:nvSpPr>
        <p:spPr>
          <a:xfrm xmlns:a="http://schemas.openxmlformats.org/drawingml/2006/main">
            <a:off x="7524750" y="5143500"/>
            <a:ext cx="3905250" cy="38100"/>
          </a:xfrm>
          <a:prstGeom xmlns:a="http://schemas.openxmlformats.org/drawingml/2006/main" prst="rect">
            <a:avLst/>
          </a:prstGeom>
          <a:solidFill xmlns:a="http://schemas.openxmlformats.org/drawingml/2006/main">
            <a:srgbClr val="D9F3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7187E25-991C-4AAD-BC8D-CDDAE7B15109}"/>
              </a:ext>
            </a:extLst>
          </p:cNvPr>
          <p:cNvSpPr>
            <a:spLocks xmlns:a="http://schemas.openxmlformats.org/drawingml/2006/main" noGrp="1"/>
          </p:cNvSpPr>
          <p:nvPr/>
        </p:nvSpPr>
        <p:spPr>
          <a:xfrm xmlns:a="http://schemas.openxmlformats.org/drawingml/2006/main">
            <a:off x="7524750" y="5381625"/>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D9E2EC"/>
                </a:solidFill>
              </a:defRPr>
            </a:defPPr>
          </a:lstStyle>
          <a:p xmlns:a="http://schemas.openxmlformats.org/drawingml/2006/main">
            <a:pPr>
              <a:defRPr sz="1200" b="0">
                <a:solidFill>
                  <a:srgbClr val="D9E2EC"/>
                </a:solidFill>
              </a:defRPr>
            </a:pPr>
            <a:r>
              <a:rPr sz="1200" b="0">
                <a:solidFill>
                  <a:srgbClr val="D9E2EC"/>
                </a:solidFill>
              </a:rPr>
              <a:t>Solar output falls as evening demand rises</a:t>
            </a:r>
          </a:p>
        </p:txBody>
      </p:sp>
    </p:spTree>
    <p:extLst>
      <p:ext uri="{BB962C8B-B14F-4D97-AF65-F5344CB8AC3E}">
        <p14:creationId xmlns:p14="http://schemas.microsoft.com/office/powerpoint/2010/main" val="1637471426"/>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658257E-2508-4B68-8C61-8FAEDBD9C88E}"/>
              </a:ext>
            </a:extLst>
          </p:cNvPr>
          <p:cNvSpPr>
            <a:spLocks xmlns:a="http://schemas.openxmlformats.org/drawingml/2006/main" noGrp="1"/>
          </p:cNvSpPr>
          <p:nvPr/>
        </p:nvSpPr>
        <p:spPr>
          <a:xfrm xmlns:a="http://schemas.openxmlformats.org/drawingml/2006/main">
            <a:off x="685800" y="4000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00A6A6"/>
                </a:solidFill>
              </a:defRPr>
            </a:defPPr>
          </a:lstStyle>
          <a:p xmlns:a="http://schemas.openxmlformats.org/drawingml/2006/main">
            <a:pPr>
              <a:defRPr sz="1050" b="1">
                <a:solidFill>
                  <a:srgbClr val="00A6A6"/>
                </a:solidFill>
              </a:defRPr>
            </a:pPr>
            <a:r>
              <a:rPr sz="1050" b="1">
                <a:solidFill>
                  <a:srgbClr val="00A6A6"/>
                </a:solidFill>
              </a:rPr>
              <a:t>02</a:t>
            </a:r>
          </a:p>
        </p:txBody>
      </p:sp>
      <p:sp>
        <p:nvSpPr>
          <p:cNvPr id="2" name="">
            <a:extLst xmlns:a="http://schemas.openxmlformats.org/drawingml/2006/main">
              <a:ext uri="{FF2B5EF4-FFF2-40B4-BE49-F238E27FC236}">
                <a16:creationId xmlns:a16="http://schemas.microsoft.com/office/drawing/2014/main" id="{94AEC9FE-BBE4-41D2-8CE3-589D68C62273}"/>
              </a:ext>
            </a:extLst>
          </p:cNvPr>
          <p:cNvSpPr>
            <a:spLocks xmlns:a="http://schemas.openxmlformats.org/drawingml/2006/main" noGrp="1"/>
          </p:cNvSpPr>
          <p:nvPr/>
        </p:nvSpPr>
        <p:spPr>
          <a:xfrm xmlns:a="http://schemas.openxmlformats.org/drawingml/2006/main">
            <a:off x="685800" y="714375"/>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02A43"/>
                </a:solidFill>
              </a:defRPr>
            </a:defPPr>
          </a:lstStyle>
          <a:p xmlns:a="http://schemas.openxmlformats.org/drawingml/2006/main">
            <a:pPr>
              <a:defRPr sz="2400" b="1">
                <a:solidFill>
                  <a:srgbClr val="102A43"/>
                </a:solidFill>
              </a:defRPr>
            </a:pPr>
            <a:r>
              <a:rPr sz="2400" b="1">
                <a:solidFill>
                  <a:srgbClr val="102A43"/>
                </a:solidFill>
              </a:rPr>
              <a:t>The missing meter creates an operational blind spot</a:t>
            </a:r>
          </a:p>
        </p:txBody>
      </p:sp>
      <p:sp>
        <p:nvSpPr>
          <p:cNvPr id="3" name="">
            <a:extLst xmlns:a="http://schemas.openxmlformats.org/drawingml/2006/main">
              <a:ext uri="{FF2B5EF4-FFF2-40B4-BE49-F238E27FC236}">
                <a16:creationId xmlns:a16="http://schemas.microsoft.com/office/drawing/2014/main" id="{87BE9B07-495B-4EA3-8CDA-66E7E979B225}"/>
              </a:ext>
            </a:extLst>
          </p:cNvPr>
          <p:cNvSpPr>
            <a:spLocks xmlns:a="http://schemas.openxmlformats.org/drawingml/2006/main" noGrp="1"/>
          </p:cNvSpPr>
          <p:nvPr/>
        </p:nvSpPr>
        <p:spPr>
          <a:xfrm xmlns:a="http://schemas.openxmlformats.org/drawingml/2006/main">
            <a:off x="685800" y="12668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2606D"/>
                </a:solidFill>
              </a:defRPr>
            </a:defPPr>
          </a:lstStyle>
          <a:p xmlns:a="http://schemas.openxmlformats.org/drawingml/2006/main">
            <a:pPr>
              <a:defRPr sz="1200" b="0">
                <a:solidFill>
                  <a:srgbClr val="52606D"/>
                </a:solidFill>
              </a:defRPr>
            </a:pPr>
            <a:r>
              <a:rPr sz="1200" b="0">
                <a:solidFill>
                  <a:srgbClr val="52606D"/>
                </a:solidFill>
              </a:rPr>
              <a:t>A monthly total explains the size of the bill, but it cannot reveal the timing or source of an evening demand spike.</a:t>
            </a:r>
          </a:p>
        </p:txBody>
      </p:sp>
      <p:sp>
        <p:nvSpPr>
          <p:cNvPr id="4" name="">
            <a:extLst xmlns:a="http://schemas.openxmlformats.org/drawingml/2006/main">
              <a:ext uri="{FF2B5EF4-FFF2-40B4-BE49-F238E27FC236}">
                <a16:creationId xmlns:a16="http://schemas.microsoft.com/office/drawing/2014/main" id="{8E5420E7-F4FE-46FA-B7EE-6BB41B060E72}"/>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2F8B83E-604D-42B3-8853-6E874DF55EEF}"/>
              </a:ext>
            </a:extLst>
          </p:cNvPr>
          <p:cNvSpPr>
            <a:spLocks xmlns:a="http://schemas.openxmlformats.org/drawingml/2006/main" noGrp="1"/>
          </p:cNvSpPr>
          <p:nvPr/>
        </p:nvSpPr>
        <p:spPr>
          <a:xfrm xmlns:a="http://schemas.openxmlformats.org/drawingml/2006/main">
            <a:off x="685800" y="21907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What facilities teams see today</a:t>
            </a:r>
          </a:p>
        </p:txBody>
      </p:sp>
      <p:sp>
        <p:nvSpPr>
          <p:cNvPr id="6" name="">
            <a:extLst xmlns:a="http://schemas.openxmlformats.org/drawingml/2006/main">
              <a:ext uri="{FF2B5EF4-FFF2-40B4-BE49-F238E27FC236}">
                <a16:creationId xmlns:a16="http://schemas.microsoft.com/office/drawing/2014/main" id="{267C18AA-6EB7-46FA-88BD-B4061626A7F9}"/>
              </a:ext>
            </a:extLst>
          </p:cNvPr>
          <p:cNvSpPr>
            <a:spLocks xmlns:a="http://schemas.openxmlformats.org/drawingml/2006/main" noGrp="1"/>
          </p:cNvSpPr>
          <p:nvPr/>
        </p:nvSpPr>
        <p:spPr>
          <a:xfrm xmlns:a="http://schemas.openxmlformats.org/drawingml/2006/main">
            <a:off x="685800" y="2686050"/>
            <a:ext cx="4000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F2933"/>
                </a:solidFill>
              </a:defRPr>
            </a:defPPr>
          </a:lstStyle>
          <a:p xmlns:a="http://schemas.openxmlformats.org/drawingml/2006/main">
            <a:pPr>
              <a:defRPr sz="1575" b="0">
                <a:solidFill>
                  <a:srgbClr val="1F2933"/>
                </a:solidFill>
              </a:defRPr>
            </a:pPr>
            <a:r>
              <a:rPr sz="1575" b="0">
                <a:solidFill>
                  <a:srgbClr val="1F2933"/>
                </a:solidFill>
              </a:rPr>
              <a:t>Metered buildings</a:t>
            </a:r>
          </a:p>
          <a:p xmlns:a="http://schemas.openxmlformats.org/drawingml/2006/main">
            <a:pPr>
              <a:defRPr sz="1575" b="0">
                <a:solidFill>
                  <a:srgbClr val="1F2933"/>
                </a:solidFill>
              </a:defRPr>
            </a:pPr>
            <a:r>
              <a:rPr sz="1575" b="0">
                <a:solidFill>
                  <a:srgbClr val="1F2933"/>
                </a:solidFill>
              </a:rPr>
              <a:t>Hourly readings reveal daily load shape</a:t>
            </a:r>
          </a:p>
          <a:p xmlns:a="http://schemas.openxmlformats.org/drawingml/2006/main">
            <a:r>
              <a:t/>
            </a:r>
          </a:p>
          <a:p xmlns:a="http://schemas.openxmlformats.org/drawingml/2006/main">
            <a:pPr>
              <a:defRPr sz="1575" b="0">
                <a:solidFill>
                  <a:srgbClr val="1F2933"/>
                </a:solidFill>
              </a:defRPr>
            </a:pPr>
            <a:r>
              <a:rPr sz="1575" b="0">
                <a:solidFill>
                  <a:srgbClr val="1F2933"/>
                </a:solidFill>
              </a:rPr>
              <a:t>Missing-meter buildings</a:t>
            </a:r>
          </a:p>
          <a:p xmlns:a="http://schemas.openxmlformats.org/drawingml/2006/main">
            <a:pPr>
              <a:defRPr sz="1575" b="0">
                <a:solidFill>
                  <a:srgbClr val="1F2933"/>
                </a:solidFill>
              </a:defRPr>
            </a:pPr>
            <a:r>
              <a:rPr sz="1575" b="0">
                <a:solidFill>
                  <a:srgbClr val="1F2933"/>
                </a:solidFill>
              </a:rPr>
              <a:t>One monthly total, with no peak-hour trace</a:t>
            </a:r>
          </a:p>
        </p:txBody>
      </p:sp>
      <p:sp>
        <p:nvSpPr>
          <p:cNvPr id="7" name="">
            <a:extLst xmlns:a="http://schemas.openxmlformats.org/drawingml/2006/main">
              <a:ext uri="{FF2B5EF4-FFF2-40B4-BE49-F238E27FC236}">
                <a16:creationId xmlns:a16="http://schemas.microsoft.com/office/drawing/2014/main" id="{A8F0B4F0-BF1D-4721-B58C-A425812E4C90}"/>
              </a:ext>
            </a:extLst>
          </p:cNvPr>
          <p:cNvSpPr>
            <a:spLocks xmlns:a="http://schemas.openxmlformats.org/drawingml/2006/main" noGrp="1"/>
          </p:cNvSpPr>
          <p:nvPr/>
        </p:nvSpPr>
        <p:spPr>
          <a:xfrm xmlns:a="http://schemas.openxmlformats.org/drawingml/2006/main">
            <a:off x="6858000" y="2190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What they need at 4–8 PM</a:t>
            </a:r>
          </a:p>
        </p:txBody>
      </p:sp>
      <p:sp>
        <p:nvSpPr>
          <p:cNvPr id="8" name="">
            <a:extLst xmlns:a="http://schemas.openxmlformats.org/drawingml/2006/main">
              <a:ext uri="{FF2B5EF4-FFF2-40B4-BE49-F238E27FC236}">
                <a16:creationId xmlns:a16="http://schemas.microsoft.com/office/drawing/2014/main" id="{E4D813E1-4953-48E3-B30F-D90D2378CE20}"/>
              </a:ext>
            </a:extLst>
          </p:cNvPr>
          <p:cNvSpPr>
            <a:spLocks xmlns:a="http://schemas.openxmlformats.org/drawingml/2006/main" noGrp="1"/>
          </p:cNvSpPr>
          <p:nvPr/>
        </p:nvSpPr>
        <p:spPr>
          <a:xfrm xmlns:a="http://schemas.openxmlformats.org/drawingml/2006/main">
            <a:off x="6858000" y="2686050"/>
            <a:ext cx="4095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F2933"/>
                </a:solidFill>
              </a:defRPr>
            </a:defPPr>
          </a:lstStyle>
          <a:p xmlns:a="http://schemas.openxmlformats.org/drawingml/2006/main">
            <a:pPr>
              <a:defRPr sz="1500" b="0">
                <a:solidFill>
                  <a:srgbClr val="1F2933"/>
                </a:solidFill>
              </a:defRPr>
            </a:pPr>
            <a:r>
              <a:rPr sz="1500" b="0">
                <a:solidFill>
                  <a:srgbClr val="1F2933"/>
                </a:solidFill>
              </a:rPr>
              <a:t>A building-level demand profile</a:t>
            </a:r>
          </a:p>
          <a:p xmlns:a="http://schemas.openxmlformats.org/drawingml/2006/main">
            <a:pPr>
              <a:defRPr sz="1500" b="0">
                <a:solidFill>
                  <a:srgbClr val="1F2933"/>
                </a:solidFill>
              </a:defRPr>
            </a:pPr>
            <a:r>
              <a:rPr sz="1500" b="0">
                <a:solidFill>
                  <a:srgbClr val="1F2933"/>
                </a:solidFill>
              </a:rPr>
              <a:t>that identifies late-afternoon load</a:t>
            </a:r>
          </a:p>
          <a:p xmlns:a="http://schemas.openxmlformats.org/drawingml/2006/main">
            <a:pPr>
              <a:defRPr sz="1500" b="0">
                <a:solidFill>
                  <a:srgbClr val="1F2933"/>
                </a:solidFill>
              </a:defRPr>
            </a:pPr>
            <a:r>
              <a:rPr sz="1500" b="0">
                <a:solidFill>
                  <a:srgbClr val="1F2933"/>
                </a:solidFill>
              </a:rPr>
              <a:t>and gives facilities a basis for targeted planning.</a:t>
            </a:r>
          </a:p>
        </p:txBody>
      </p:sp>
      <p:sp>
        <p:nvSpPr>
          <p:cNvPr id="9" name="">
            <a:extLst xmlns:a="http://schemas.openxmlformats.org/drawingml/2006/main">
              <a:ext uri="{FF2B5EF4-FFF2-40B4-BE49-F238E27FC236}">
                <a16:creationId xmlns:a16="http://schemas.microsoft.com/office/drawing/2014/main" id="{01D1C732-2791-4D60-8A66-D346AF12A2D2}"/>
              </a:ext>
            </a:extLst>
          </p:cNvPr>
          <p:cNvSpPr>
            <a:spLocks xmlns:a="http://schemas.openxmlformats.org/drawingml/2006/main" noGrp="1"/>
          </p:cNvSpPr>
          <p:nvPr/>
        </p:nvSpPr>
        <p:spPr>
          <a:xfrm xmlns:a="http://schemas.openxmlformats.org/drawingml/2006/main">
            <a:off x="4476750" y="3543300"/>
            <a:ext cx="666750" cy="28575"/>
          </a:xfrm>
          <a:prstGeom xmlns:a="http://schemas.openxmlformats.org/drawingml/2006/main" prst="rect">
            <a:avLst/>
          </a:prstGeom>
          <a:solidFill xmlns:a="http://schemas.openxmlformats.org/drawingml/2006/main">
            <a:srgbClr val="E05D5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0A519DF-A180-4EF0-9547-1B10930C3F38}"/>
              </a:ext>
            </a:extLst>
          </p:cNvPr>
          <p:cNvSpPr>
            <a:spLocks xmlns:a="http://schemas.openxmlformats.org/drawingml/2006/main" noGrp="1"/>
          </p:cNvSpPr>
          <p:nvPr/>
        </p:nvSpPr>
        <p:spPr>
          <a:xfrm xmlns:a="http://schemas.openxmlformats.org/drawingml/2006/main">
            <a:off x="6953250" y="3543300"/>
            <a:ext cx="666750" cy="28575"/>
          </a:xfrm>
          <a:prstGeom xmlns:a="http://schemas.openxmlformats.org/drawingml/2006/main" prst="rect">
            <a:avLst/>
          </a:prstGeom>
          <a:solidFill xmlns:a="http://schemas.openxmlformats.org/drawingml/2006/main">
            <a:srgbClr val="E05D5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790E683-CF55-4D76-9EF0-AE4EAF5E8B12}"/>
              </a:ext>
            </a:extLst>
          </p:cNvPr>
          <p:cNvSpPr>
            <a:spLocks xmlns:a="http://schemas.openxmlformats.org/drawingml/2006/main" noGrp="1"/>
          </p:cNvSpPr>
          <p:nvPr/>
        </p:nvSpPr>
        <p:spPr>
          <a:xfrm xmlns:a="http://schemas.openxmlformats.org/drawingml/2006/main">
            <a:off x="5286375" y="3381375"/>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E05D5D"/>
                </a:solidFill>
              </a:defRPr>
            </a:defPPr>
          </a:lstStyle>
          <a:p xmlns:a="http://schemas.openxmlformats.org/drawingml/2006/main">
            <a:pPr>
              <a:defRPr sz="1800" b="1">
                <a:solidFill>
                  <a:srgbClr val="E05D5D"/>
                </a:solidFill>
              </a:defRPr>
            </a:pPr>
            <a:r>
              <a:rPr sz="1800" b="1">
                <a:solidFill>
                  <a:srgbClr val="E05D5D"/>
                </a:solidFill>
              </a:rPr>
              <a:t>The gap</a:t>
            </a:r>
          </a:p>
        </p:txBody>
      </p:sp>
      <p:sp>
        <p:nvSpPr>
          <p:cNvPr id="12" name="">
            <a:extLst xmlns:a="http://schemas.openxmlformats.org/drawingml/2006/main">
              <a:ext uri="{FF2B5EF4-FFF2-40B4-BE49-F238E27FC236}">
                <a16:creationId xmlns:a16="http://schemas.microsoft.com/office/drawing/2014/main" id="{70D10F36-26C0-41E4-8E31-52439E16F47D}"/>
              </a:ext>
            </a:extLst>
          </p:cNvPr>
          <p:cNvSpPr>
            <a:spLocks xmlns:a="http://schemas.openxmlformats.org/drawingml/2006/main" noGrp="1"/>
          </p:cNvSpPr>
          <p:nvPr/>
        </p:nvSpPr>
        <p:spPr>
          <a:xfrm xmlns:a="http://schemas.openxmlformats.org/drawingml/2006/main">
            <a:off x="685800" y="647700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52606D"/>
                </a:solidFill>
              </a:defRPr>
            </a:defPPr>
          </a:lstStyle>
          <a:p xmlns:a="http://schemas.openxmlformats.org/drawingml/2006/main">
            <a:pPr>
              <a:defRPr sz="825" b="0">
                <a:solidFill>
                  <a:srgbClr val="52606D"/>
                </a:solidFill>
              </a:defRPr>
            </a:pPr>
            <a:r>
              <a:rPr sz="825" b="0">
                <a:solidFill>
                  <a:srgbClr val="52606D"/>
                </a:solidFill>
              </a:rPr>
              <a:t>AI Synergy Hackathon 2026  |  Campus Energy Prototype</a:t>
            </a:r>
          </a:p>
        </p:txBody>
      </p:sp>
      <p:sp>
        <p:nvSpPr>
          <p:cNvPr id="13" name="">
            <a:extLst xmlns:a="http://schemas.openxmlformats.org/drawingml/2006/main">
              <a:ext uri="{FF2B5EF4-FFF2-40B4-BE49-F238E27FC236}">
                <a16:creationId xmlns:a16="http://schemas.microsoft.com/office/drawing/2014/main" id="{7FBFD85D-8BF1-453A-AC4C-C94054EDF174}"/>
              </a:ext>
            </a:extLst>
          </p:cNvPr>
          <p:cNvSpPr>
            <a:spLocks xmlns:a="http://schemas.openxmlformats.org/drawingml/2006/main" noGrp="1"/>
          </p:cNvSpPr>
          <p:nvPr/>
        </p:nvSpPr>
        <p:spPr>
          <a:xfrm xmlns:a="http://schemas.openxmlformats.org/drawingml/2006/main">
            <a:off x="10763250" y="64770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52606D"/>
                </a:solidFill>
              </a:defRPr>
            </a:defPPr>
          </a:lstStyle>
          <a:p xmlns:a="http://schemas.openxmlformats.org/drawingml/2006/main">
            <a:pPr>
              <a:defRPr sz="825" b="0">
                <a:solidFill>
                  <a:srgbClr val="52606D"/>
                </a:solidFill>
              </a:defRPr>
            </a:pPr>
            <a:r>
              <a:rPr sz="825" b="0">
                <a:solidFill>
                  <a:srgbClr val="52606D"/>
                </a:solidFill>
              </a:rPr>
              <a:t>2 / 8</a:t>
            </a:r>
          </a:p>
        </p:txBody>
      </p:sp>
    </p:spTree>
    <p:extLst>
      <p:ext uri="{BB962C8B-B14F-4D97-AF65-F5344CB8AC3E}">
        <p14:creationId xmlns:p14="http://schemas.microsoft.com/office/powerpoint/2010/main" val="666013662"/>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AA7DB71-D03D-4C57-97CB-9C1FF9E7ECD4}"/>
              </a:ext>
            </a:extLst>
          </p:cNvPr>
          <p:cNvSpPr>
            <a:spLocks xmlns:a="http://schemas.openxmlformats.org/drawingml/2006/main" noGrp="1"/>
          </p:cNvSpPr>
          <p:nvPr/>
        </p:nvSpPr>
        <p:spPr>
          <a:xfrm xmlns:a="http://schemas.openxmlformats.org/drawingml/2006/main">
            <a:off x="685800" y="4000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00A6A6"/>
                </a:solidFill>
              </a:defRPr>
            </a:defPPr>
          </a:lstStyle>
          <a:p xmlns:a="http://schemas.openxmlformats.org/drawingml/2006/main">
            <a:pPr>
              <a:defRPr sz="1050" b="1">
                <a:solidFill>
                  <a:srgbClr val="00A6A6"/>
                </a:solidFill>
              </a:defRPr>
            </a:pPr>
            <a:r>
              <a:rPr sz="1050" b="1">
                <a:solidFill>
                  <a:srgbClr val="00A6A6"/>
                </a:solidFill>
              </a:rPr>
              <a:t>03</a:t>
            </a:r>
          </a:p>
        </p:txBody>
      </p:sp>
      <p:sp>
        <p:nvSpPr>
          <p:cNvPr id="2" name="">
            <a:extLst xmlns:a="http://schemas.openxmlformats.org/drawingml/2006/main">
              <a:ext uri="{FF2B5EF4-FFF2-40B4-BE49-F238E27FC236}">
                <a16:creationId xmlns:a16="http://schemas.microsoft.com/office/drawing/2014/main" id="{B7D37E0A-385D-4490-8774-0E937D7F66E9}"/>
              </a:ext>
            </a:extLst>
          </p:cNvPr>
          <p:cNvSpPr>
            <a:spLocks xmlns:a="http://schemas.openxmlformats.org/drawingml/2006/main" noGrp="1"/>
          </p:cNvSpPr>
          <p:nvPr/>
        </p:nvSpPr>
        <p:spPr>
          <a:xfrm xmlns:a="http://schemas.openxmlformats.org/drawingml/2006/main">
            <a:off x="685800" y="714375"/>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02A43"/>
                </a:solidFill>
              </a:defRPr>
            </a:defPPr>
          </a:lstStyle>
          <a:p xmlns:a="http://schemas.openxmlformats.org/drawingml/2006/main">
            <a:pPr>
              <a:defRPr sz="2400" b="1">
                <a:solidFill>
                  <a:srgbClr val="102A43"/>
                </a:solidFill>
              </a:defRPr>
            </a:pPr>
            <a:r>
              <a:rPr sz="2400" b="1">
                <a:solidFill>
                  <a:srgbClr val="102A43"/>
                </a:solidFill>
              </a:rPr>
              <a:t>The prototype generates evidence for the 4–8 PM question</a:t>
            </a:r>
          </a:p>
        </p:txBody>
      </p:sp>
      <p:sp>
        <p:nvSpPr>
          <p:cNvPr id="3" name="">
            <a:extLst xmlns:a="http://schemas.openxmlformats.org/drawingml/2006/main">
              <a:ext uri="{FF2B5EF4-FFF2-40B4-BE49-F238E27FC236}">
                <a16:creationId xmlns:a16="http://schemas.microsoft.com/office/drawing/2014/main" id="{0D0BED46-61C2-4234-9DA1-DA70511DF676}"/>
              </a:ext>
            </a:extLst>
          </p:cNvPr>
          <p:cNvSpPr>
            <a:spLocks xmlns:a="http://schemas.openxmlformats.org/drawingml/2006/main" noGrp="1"/>
          </p:cNvSpPr>
          <p:nvPr/>
        </p:nvSpPr>
        <p:spPr>
          <a:xfrm xmlns:a="http://schemas.openxmlformats.org/drawingml/2006/main">
            <a:off x="685800" y="12668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2606D"/>
                </a:solidFill>
              </a:defRPr>
            </a:defPPr>
          </a:lstStyle>
          <a:p xmlns:a="http://schemas.openxmlformats.org/drawingml/2006/main">
            <a:pPr>
              <a:defRPr sz="1200" b="0">
                <a:solidFill>
                  <a:srgbClr val="52606D"/>
                </a:solidFill>
              </a:defRPr>
            </a:pPr>
            <a:r>
              <a:rPr sz="1200" b="0">
                <a:solidFill>
                  <a:srgbClr val="52606D"/>
                </a:solidFill>
              </a:rPr>
              <a:t>The repository provides a controlled test bed so the team can inspect missing data and peak timing before a campus pilot.</a:t>
            </a:r>
          </a:p>
        </p:txBody>
      </p:sp>
      <p:sp>
        <p:nvSpPr>
          <p:cNvPr id="4" name="">
            <a:extLst xmlns:a="http://schemas.openxmlformats.org/drawingml/2006/main">
              <a:ext uri="{FF2B5EF4-FFF2-40B4-BE49-F238E27FC236}">
                <a16:creationId xmlns:a16="http://schemas.microsoft.com/office/drawing/2014/main" id="{9031A752-FAB4-4B60-8A18-AC44CC754FF7}"/>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3A19D0E-6934-46B8-AA16-1F8FFAA91017}"/>
              </a:ext>
            </a:extLst>
          </p:cNvPr>
          <p:cNvSpPr>
            <a:spLocks xmlns:a="http://schemas.openxmlformats.org/drawingml/2006/main" noGrp="1"/>
          </p:cNvSpPr>
          <p:nvPr/>
        </p:nvSpPr>
        <p:spPr>
          <a:xfrm xmlns:a="http://schemas.openxmlformats.org/drawingml/2006/main">
            <a:off x="685800" y="2190750"/>
            <a:ext cx="338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Synthetic data generator</a:t>
            </a:r>
          </a:p>
        </p:txBody>
      </p:sp>
      <p:sp>
        <p:nvSpPr>
          <p:cNvPr id="6" name="">
            <a:extLst xmlns:a="http://schemas.openxmlformats.org/drawingml/2006/main">
              <a:ext uri="{FF2B5EF4-FFF2-40B4-BE49-F238E27FC236}">
                <a16:creationId xmlns:a16="http://schemas.microsoft.com/office/drawing/2014/main" id="{610F3120-3B25-4CE7-A710-F4A7C8EE4FFE}"/>
              </a:ext>
            </a:extLst>
          </p:cNvPr>
          <p:cNvSpPr>
            <a:spLocks xmlns:a="http://schemas.openxmlformats.org/drawingml/2006/main" noGrp="1"/>
          </p:cNvSpPr>
          <p:nvPr/>
        </p:nvSpPr>
        <p:spPr>
          <a:xfrm xmlns:a="http://schemas.openxmlformats.org/drawingml/2006/main">
            <a:off x="685800" y="2667000"/>
            <a:ext cx="43815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F2933"/>
                </a:solidFill>
              </a:defRPr>
            </a:defPPr>
          </a:lstStyle>
          <a:p xmlns:a="http://schemas.openxmlformats.org/drawingml/2006/main">
            <a:pPr>
              <a:defRPr sz="1350" b="0">
                <a:solidFill>
                  <a:srgbClr val="1F2933"/>
                </a:solidFill>
              </a:defRPr>
            </a:pPr>
            <a:r>
              <a:rPr sz="1350" b="0">
                <a:solidFill>
                  <a:srgbClr val="1F2933"/>
                </a:solidFill>
              </a:rPr>
              <a:t>src/generate_data.py</a:t>
            </a:r>
          </a:p>
          <a:p xmlns:a="http://schemas.openxmlformats.org/drawingml/2006/main">
            <a:pPr>
              <a:defRPr sz="1350" b="0">
                <a:solidFill>
                  <a:srgbClr val="1F2933"/>
                </a:solidFill>
              </a:defRPr>
            </a:pPr>
            <a:r>
              <a:rPr sz="1350" b="0">
                <a:solidFill>
                  <a:srgbClr val="1F2933"/>
                </a:solidFill>
              </a:rPr>
              <a:t>Hourly kWh for five buildings across June–August</a:t>
            </a:r>
          </a:p>
          <a:p xmlns:a="http://schemas.openxmlformats.org/drawingml/2006/main">
            <a:pPr>
              <a:defRPr sz="1350" b="0">
                <a:solidFill>
                  <a:srgbClr val="1F2933"/>
                </a:solidFill>
              </a:defRPr>
            </a:pPr>
            <a:r>
              <a:rPr sz="1350" b="0">
                <a:solidFill>
                  <a:srgbClr val="1F2933"/>
                </a:solidFill>
              </a:rPr>
              <a:t>Random multi-day gaps mimic incomplete feeds</a:t>
            </a:r>
          </a:p>
          <a:p xmlns:a="http://schemas.openxmlformats.org/drawingml/2006/main">
            <a:pPr>
              <a:defRPr sz="1350" b="0">
                <a:solidFill>
                  <a:srgbClr val="1F2933"/>
                </a:solidFill>
              </a:defRPr>
            </a:pPr>
            <a:r>
              <a:rPr sz="1350" b="0">
                <a:solidFill>
                  <a:srgbClr val="1F2933"/>
                </a:solidFill>
              </a:rPr>
              <a:t>True monthly totals saved separately for checking</a:t>
            </a:r>
          </a:p>
        </p:txBody>
      </p:sp>
      <p:sp>
        <p:nvSpPr>
          <p:cNvPr id="7" name="">
            <a:extLst xmlns:a="http://schemas.openxmlformats.org/drawingml/2006/main">
              <a:ext uri="{FF2B5EF4-FFF2-40B4-BE49-F238E27FC236}">
                <a16:creationId xmlns:a16="http://schemas.microsoft.com/office/drawing/2014/main" id="{6BBB0991-866F-4BA9-B6D3-A67621253846}"/>
              </a:ext>
            </a:extLst>
          </p:cNvPr>
          <p:cNvSpPr>
            <a:spLocks xmlns:a="http://schemas.openxmlformats.org/drawingml/2006/main" noGrp="1"/>
          </p:cNvSpPr>
          <p:nvPr/>
        </p:nvSpPr>
        <p:spPr>
          <a:xfrm xmlns:a="http://schemas.openxmlformats.org/drawingml/2006/main">
            <a:off x="7086600" y="2190750"/>
            <a:ext cx="338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Baseline EDA notebook</a:t>
            </a:r>
          </a:p>
        </p:txBody>
      </p:sp>
      <p:sp>
        <p:nvSpPr>
          <p:cNvPr id="8" name="">
            <a:extLst xmlns:a="http://schemas.openxmlformats.org/drawingml/2006/main">
              <a:ext uri="{FF2B5EF4-FFF2-40B4-BE49-F238E27FC236}">
                <a16:creationId xmlns:a16="http://schemas.microsoft.com/office/drawing/2014/main" id="{89D470BF-356B-4FDB-8870-0286E6763656}"/>
              </a:ext>
            </a:extLst>
          </p:cNvPr>
          <p:cNvSpPr>
            <a:spLocks xmlns:a="http://schemas.openxmlformats.org/drawingml/2006/main" noGrp="1"/>
          </p:cNvSpPr>
          <p:nvPr/>
        </p:nvSpPr>
        <p:spPr>
          <a:xfrm xmlns:a="http://schemas.openxmlformats.org/drawingml/2006/main">
            <a:off x="7086600" y="2667000"/>
            <a:ext cx="3905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F2933"/>
                </a:solidFill>
              </a:defRPr>
            </a:defPPr>
          </a:lstStyle>
          <a:p xmlns:a="http://schemas.openxmlformats.org/drawingml/2006/main">
            <a:pPr>
              <a:defRPr sz="1350" b="0">
                <a:solidFill>
                  <a:srgbClr val="1F2933"/>
                </a:solidFill>
              </a:defRPr>
            </a:pPr>
            <a:r>
              <a:rPr sz="1350" b="0">
                <a:solidFill>
                  <a:srgbClr val="1F2933"/>
                </a:solidFill>
              </a:rPr>
              <a:t>notebooks/01_baseline_eda.ipynb</a:t>
            </a:r>
          </a:p>
          <a:p xmlns:a="http://schemas.openxmlformats.org/drawingml/2006/main">
            <a:pPr>
              <a:defRPr sz="1350" b="0">
                <a:solidFill>
                  <a:srgbClr val="1F2933"/>
                </a:solidFill>
              </a:defRPr>
            </a:pPr>
            <a:r>
              <a:rPr sz="1350" b="0">
                <a:solidFill>
                  <a:srgbClr val="1F2933"/>
                </a:solidFill>
              </a:rPr>
              <a:t>Resamples the time series for inspection</a:t>
            </a:r>
          </a:p>
          <a:p xmlns:a="http://schemas.openxmlformats.org/drawingml/2006/main">
            <a:pPr>
              <a:defRPr sz="1350" b="0">
                <a:solidFill>
                  <a:srgbClr val="1F2933"/>
                </a:solidFill>
              </a:defRPr>
            </a:pPr>
            <a:r>
              <a:rPr sz="1350" b="0">
                <a:solidFill>
                  <a:srgbClr val="1F2933"/>
                </a:solidFill>
              </a:rPr>
              <a:t>Focuses analysis on the 4–8 PM window</a:t>
            </a:r>
          </a:p>
          <a:p xmlns:a="http://schemas.openxmlformats.org/drawingml/2006/main">
            <a:pPr>
              <a:defRPr sz="1350" b="0">
                <a:solidFill>
                  <a:srgbClr val="1F2933"/>
                </a:solidFill>
              </a:defRPr>
            </a:pPr>
            <a:r>
              <a:rPr sz="1350" b="0">
                <a:solidFill>
                  <a:srgbClr val="1F2933"/>
                </a:solidFill>
              </a:rPr>
              <a:t>Produces a demand-spike chart before modeling</a:t>
            </a:r>
          </a:p>
        </p:txBody>
      </p:sp>
      <p:sp>
        <p:nvSpPr>
          <p:cNvPr id="9" name="">
            <a:extLst xmlns:a="http://schemas.openxmlformats.org/drawingml/2006/main">
              <a:ext uri="{FF2B5EF4-FFF2-40B4-BE49-F238E27FC236}">
                <a16:creationId xmlns:a16="http://schemas.microsoft.com/office/drawing/2014/main" id="{949ECBDB-FBCC-4A96-9EF7-F297A1721710}"/>
              </a:ext>
            </a:extLst>
          </p:cNvPr>
          <p:cNvSpPr>
            <a:spLocks xmlns:a="http://schemas.openxmlformats.org/drawingml/2006/main" noGrp="1"/>
          </p:cNvSpPr>
          <p:nvPr/>
        </p:nvSpPr>
        <p:spPr>
          <a:xfrm xmlns:a="http://schemas.openxmlformats.org/drawingml/2006/main">
            <a:off x="4762500" y="4857750"/>
            <a:ext cx="2857500" cy="2857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A3BB3F9-5B57-4060-9AB4-5A45C0EA5E3D}"/>
              </a:ext>
            </a:extLst>
          </p:cNvPr>
          <p:cNvSpPr>
            <a:spLocks xmlns:a="http://schemas.openxmlformats.org/drawingml/2006/main" noGrp="1"/>
          </p:cNvSpPr>
          <p:nvPr/>
        </p:nvSpPr>
        <p:spPr>
          <a:xfrm xmlns:a="http://schemas.openxmlformats.org/drawingml/2006/main">
            <a:off x="4857750" y="4762500"/>
            <a:ext cx="28575" cy="228600"/>
          </a:xfrm>
          <a:prstGeom xmlns:a="http://schemas.openxmlformats.org/drawingml/2006/main" prst="rect">
            <a:avLst/>
          </a:prstGeom>
          <a:solidFill xmlns:a="http://schemas.openxmlformats.org/drawingml/2006/main">
            <a:srgbClr val="5260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119092-5549-4E0F-ADD7-99593D2C9F60}"/>
              </a:ext>
            </a:extLst>
          </p:cNvPr>
          <p:cNvSpPr>
            <a:spLocks xmlns:a="http://schemas.openxmlformats.org/drawingml/2006/main" noGrp="1"/>
          </p:cNvSpPr>
          <p:nvPr/>
        </p:nvSpPr>
        <p:spPr>
          <a:xfrm xmlns:a="http://schemas.openxmlformats.org/drawingml/2006/main">
            <a:off x="5267325" y="4762500"/>
            <a:ext cx="28575" cy="228600"/>
          </a:xfrm>
          <a:prstGeom xmlns:a="http://schemas.openxmlformats.org/drawingml/2006/main" prst="rect">
            <a:avLst/>
          </a:prstGeom>
          <a:solidFill xmlns:a="http://schemas.openxmlformats.org/drawingml/2006/main">
            <a:srgbClr val="52606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44E31BF-D8A6-49E0-9C5A-E6C83D7255B9}"/>
              </a:ext>
            </a:extLst>
          </p:cNvPr>
          <p:cNvSpPr>
            <a:spLocks xmlns:a="http://schemas.openxmlformats.org/drawingml/2006/main" noGrp="1"/>
          </p:cNvSpPr>
          <p:nvPr/>
        </p:nvSpPr>
        <p:spPr>
          <a:xfrm xmlns:a="http://schemas.openxmlformats.org/drawingml/2006/main">
            <a:off x="5676900" y="4762500"/>
            <a:ext cx="28575" cy="228600"/>
          </a:xfrm>
          <a:prstGeom xmlns:a="http://schemas.openxmlformats.org/drawingml/2006/main" prst="rect">
            <a:avLst/>
          </a:prstGeom>
          <a:solidFill xmlns:a="http://schemas.openxmlformats.org/drawingml/2006/main">
            <a:srgbClr val="52606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773F74C-B921-4BA6-B5AB-1B8562271D64}"/>
              </a:ext>
            </a:extLst>
          </p:cNvPr>
          <p:cNvSpPr>
            <a:spLocks xmlns:a="http://schemas.openxmlformats.org/drawingml/2006/main" noGrp="1"/>
          </p:cNvSpPr>
          <p:nvPr/>
        </p:nvSpPr>
        <p:spPr>
          <a:xfrm xmlns:a="http://schemas.openxmlformats.org/drawingml/2006/main">
            <a:off x="6086475" y="4762500"/>
            <a:ext cx="28575" cy="228600"/>
          </a:xfrm>
          <a:prstGeom xmlns:a="http://schemas.openxmlformats.org/drawingml/2006/main" prst="rect">
            <a:avLst/>
          </a:prstGeom>
          <a:solidFill xmlns:a="http://schemas.openxmlformats.org/drawingml/2006/main">
            <a:srgbClr val="52606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9C3AB92-316F-4E28-A592-7FE81059914C}"/>
              </a:ext>
            </a:extLst>
          </p:cNvPr>
          <p:cNvSpPr>
            <a:spLocks xmlns:a="http://schemas.openxmlformats.org/drawingml/2006/main" noGrp="1"/>
          </p:cNvSpPr>
          <p:nvPr/>
        </p:nvSpPr>
        <p:spPr>
          <a:xfrm xmlns:a="http://schemas.openxmlformats.org/drawingml/2006/main">
            <a:off x="6496050" y="4762500"/>
            <a:ext cx="28575" cy="228600"/>
          </a:xfrm>
          <a:prstGeom xmlns:a="http://schemas.openxmlformats.org/drawingml/2006/main" prst="rect">
            <a:avLst/>
          </a:prstGeom>
          <a:solidFill xmlns:a="http://schemas.openxmlformats.org/drawingml/2006/main">
            <a:srgbClr val="52606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D6BB39D-275D-489B-BFBA-8F7D270A5752}"/>
              </a:ext>
            </a:extLst>
          </p:cNvPr>
          <p:cNvSpPr>
            <a:spLocks xmlns:a="http://schemas.openxmlformats.org/drawingml/2006/main" noGrp="1"/>
          </p:cNvSpPr>
          <p:nvPr/>
        </p:nvSpPr>
        <p:spPr>
          <a:xfrm xmlns:a="http://schemas.openxmlformats.org/drawingml/2006/main">
            <a:off x="6905625" y="4762500"/>
            <a:ext cx="28575" cy="228600"/>
          </a:xfrm>
          <a:prstGeom xmlns:a="http://schemas.openxmlformats.org/drawingml/2006/main" prst="rect">
            <a:avLst/>
          </a:prstGeom>
          <a:solidFill xmlns:a="http://schemas.openxmlformats.org/drawingml/2006/main">
            <a:srgbClr val="52606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FCF09FA-D7F9-49C9-AB32-640A57647B38}"/>
              </a:ext>
            </a:extLst>
          </p:cNvPr>
          <p:cNvSpPr>
            <a:spLocks xmlns:a="http://schemas.openxmlformats.org/drawingml/2006/main" noGrp="1"/>
          </p:cNvSpPr>
          <p:nvPr/>
        </p:nvSpPr>
        <p:spPr>
          <a:xfrm xmlns:a="http://schemas.openxmlformats.org/drawingml/2006/main">
            <a:off x="7315200" y="4762500"/>
            <a:ext cx="28575" cy="228600"/>
          </a:xfrm>
          <a:prstGeom xmlns:a="http://schemas.openxmlformats.org/drawingml/2006/main" prst="rect">
            <a:avLst/>
          </a:prstGeom>
          <a:solidFill xmlns:a="http://schemas.openxmlformats.org/drawingml/2006/main">
            <a:srgbClr val="52606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ABF5E44-C730-4898-B7C8-B2015F03441F}"/>
              </a:ext>
            </a:extLst>
          </p:cNvPr>
          <p:cNvSpPr>
            <a:spLocks xmlns:a="http://schemas.openxmlformats.org/drawingml/2006/main" noGrp="1"/>
          </p:cNvSpPr>
          <p:nvPr/>
        </p:nvSpPr>
        <p:spPr>
          <a:xfrm xmlns:a="http://schemas.openxmlformats.org/drawingml/2006/main">
            <a:off x="4762500" y="51435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52606D"/>
                </a:solidFill>
              </a:defRPr>
            </a:defPPr>
          </a:lstStyle>
          <a:p xmlns:a="http://schemas.openxmlformats.org/drawingml/2006/main">
            <a:pPr>
              <a:defRPr sz="1050" b="0">
                <a:solidFill>
                  <a:srgbClr val="52606D"/>
                </a:solidFill>
              </a:defRPr>
            </a:pPr>
            <a:r>
              <a:rPr sz="1050" b="0">
                <a:solidFill>
                  <a:srgbClr val="52606D"/>
                </a:solidFill>
              </a:rPr>
              <a:t>Jun</a:t>
            </a:r>
          </a:p>
        </p:txBody>
      </p:sp>
      <p:sp>
        <p:nvSpPr>
          <p:cNvPr id="18" name="">
            <a:extLst xmlns:a="http://schemas.openxmlformats.org/drawingml/2006/main">
              <a:ext uri="{FF2B5EF4-FFF2-40B4-BE49-F238E27FC236}">
                <a16:creationId xmlns:a16="http://schemas.microsoft.com/office/drawing/2014/main" id="{DF14E42F-31DD-4D1F-A465-591CABDABEC2}"/>
              </a:ext>
            </a:extLst>
          </p:cNvPr>
          <p:cNvSpPr>
            <a:spLocks xmlns:a="http://schemas.openxmlformats.org/drawingml/2006/main" noGrp="1"/>
          </p:cNvSpPr>
          <p:nvPr/>
        </p:nvSpPr>
        <p:spPr>
          <a:xfrm xmlns:a="http://schemas.openxmlformats.org/drawingml/2006/main">
            <a:off x="5905500" y="51435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52606D"/>
                </a:solidFill>
              </a:defRPr>
            </a:defPPr>
          </a:lstStyle>
          <a:p xmlns:a="http://schemas.openxmlformats.org/drawingml/2006/main">
            <a:pPr>
              <a:defRPr sz="1050" b="0">
                <a:solidFill>
                  <a:srgbClr val="52606D"/>
                </a:solidFill>
              </a:defRPr>
            </a:pPr>
            <a:r>
              <a:rPr sz="1050" b="0">
                <a:solidFill>
                  <a:srgbClr val="52606D"/>
                </a:solidFill>
              </a:rPr>
              <a:t>Jul</a:t>
            </a:r>
          </a:p>
        </p:txBody>
      </p:sp>
      <p:sp>
        <p:nvSpPr>
          <p:cNvPr id="19" name="">
            <a:extLst xmlns:a="http://schemas.openxmlformats.org/drawingml/2006/main">
              <a:ext uri="{FF2B5EF4-FFF2-40B4-BE49-F238E27FC236}">
                <a16:creationId xmlns:a16="http://schemas.microsoft.com/office/drawing/2014/main" id="{FE319C5E-96FD-4445-84BB-DA31A0AF8E03}"/>
              </a:ext>
            </a:extLst>
          </p:cNvPr>
          <p:cNvSpPr>
            <a:spLocks xmlns:a="http://schemas.openxmlformats.org/drawingml/2006/main" noGrp="1"/>
          </p:cNvSpPr>
          <p:nvPr/>
        </p:nvSpPr>
        <p:spPr>
          <a:xfrm xmlns:a="http://schemas.openxmlformats.org/drawingml/2006/main">
            <a:off x="7096125" y="51435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52606D"/>
                </a:solidFill>
              </a:defRPr>
            </a:defPPr>
          </a:lstStyle>
          <a:p xmlns:a="http://schemas.openxmlformats.org/drawingml/2006/main">
            <a:pPr>
              <a:defRPr sz="1050" b="0">
                <a:solidFill>
                  <a:srgbClr val="52606D"/>
                </a:solidFill>
              </a:defRPr>
            </a:pPr>
            <a:r>
              <a:rPr sz="1050" b="0">
                <a:solidFill>
                  <a:srgbClr val="52606D"/>
                </a:solidFill>
              </a:rPr>
              <a:t>Aug</a:t>
            </a:r>
          </a:p>
        </p:txBody>
      </p:sp>
      <p:sp>
        <p:nvSpPr>
          <p:cNvPr id="20" name="">
            <a:extLst xmlns:a="http://schemas.openxmlformats.org/drawingml/2006/main">
              <a:ext uri="{FF2B5EF4-FFF2-40B4-BE49-F238E27FC236}">
                <a16:creationId xmlns:a16="http://schemas.microsoft.com/office/drawing/2014/main" id="{335ADB71-BAD0-4931-84B6-306E22D7AD8E}"/>
              </a:ext>
            </a:extLst>
          </p:cNvPr>
          <p:cNvSpPr>
            <a:spLocks xmlns:a="http://schemas.openxmlformats.org/drawingml/2006/main" noGrp="1"/>
          </p:cNvSpPr>
          <p:nvPr/>
        </p:nvSpPr>
        <p:spPr>
          <a:xfrm xmlns:a="http://schemas.openxmlformats.org/drawingml/2006/main">
            <a:off x="4905375" y="55245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00A6A6"/>
                </a:solidFill>
              </a:defRPr>
            </a:defPPr>
          </a:lstStyle>
          <a:p xmlns:a="http://schemas.openxmlformats.org/drawingml/2006/main">
            <a:pPr>
              <a:defRPr sz="1200" b="1">
                <a:solidFill>
                  <a:srgbClr val="00A6A6"/>
                </a:solidFill>
              </a:defRPr>
            </a:pPr>
            <a:r>
              <a:rPr sz="1200" b="1">
                <a:solidFill>
                  <a:srgbClr val="00A6A6"/>
                </a:solidFill>
              </a:rPr>
              <a:t>Synthetic test window</a:t>
            </a:r>
          </a:p>
        </p:txBody>
      </p:sp>
      <p:sp>
        <p:nvSpPr>
          <p:cNvPr id="21" name="">
            <a:extLst xmlns:a="http://schemas.openxmlformats.org/drawingml/2006/main">
              <a:ext uri="{FF2B5EF4-FFF2-40B4-BE49-F238E27FC236}">
                <a16:creationId xmlns:a16="http://schemas.microsoft.com/office/drawing/2014/main" id="{D3B309FD-3D8D-4170-9597-9730730ED0A6}"/>
              </a:ext>
            </a:extLst>
          </p:cNvPr>
          <p:cNvSpPr>
            <a:spLocks xmlns:a="http://schemas.openxmlformats.org/drawingml/2006/main" noGrp="1"/>
          </p:cNvSpPr>
          <p:nvPr/>
        </p:nvSpPr>
        <p:spPr>
          <a:xfrm xmlns:a="http://schemas.openxmlformats.org/drawingml/2006/main">
            <a:off x="685800" y="647700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52606D"/>
                </a:solidFill>
              </a:defRPr>
            </a:defPPr>
          </a:lstStyle>
          <a:p xmlns:a="http://schemas.openxmlformats.org/drawingml/2006/main">
            <a:pPr>
              <a:defRPr sz="825" b="0">
                <a:solidFill>
                  <a:srgbClr val="52606D"/>
                </a:solidFill>
              </a:defRPr>
            </a:pPr>
            <a:r>
              <a:rPr sz="825" b="0">
                <a:solidFill>
                  <a:srgbClr val="52606D"/>
                </a:solidFill>
              </a:rPr>
              <a:t>AI Synergy Hackathon 2026  |  Campus Energy Prototype</a:t>
            </a:r>
          </a:p>
        </p:txBody>
      </p:sp>
      <p:sp>
        <p:nvSpPr>
          <p:cNvPr id="22" name="">
            <a:extLst xmlns:a="http://schemas.openxmlformats.org/drawingml/2006/main">
              <a:ext uri="{FF2B5EF4-FFF2-40B4-BE49-F238E27FC236}">
                <a16:creationId xmlns:a16="http://schemas.microsoft.com/office/drawing/2014/main" id="{ADA3126C-F512-4428-BDB5-BD7380413DBC}"/>
              </a:ext>
            </a:extLst>
          </p:cNvPr>
          <p:cNvSpPr>
            <a:spLocks xmlns:a="http://schemas.openxmlformats.org/drawingml/2006/main" noGrp="1"/>
          </p:cNvSpPr>
          <p:nvPr/>
        </p:nvSpPr>
        <p:spPr>
          <a:xfrm xmlns:a="http://schemas.openxmlformats.org/drawingml/2006/main">
            <a:off x="10763250" y="64770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52606D"/>
                </a:solidFill>
              </a:defRPr>
            </a:defPPr>
          </a:lstStyle>
          <a:p xmlns:a="http://schemas.openxmlformats.org/drawingml/2006/main">
            <a:pPr>
              <a:defRPr sz="825" b="0">
                <a:solidFill>
                  <a:srgbClr val="52606D"/>
                </a:solidFill>
              </a:defRPr>
            </a:pPr>
            <a:r>
              <a:rPr sz="825" b="0">
                <a:solidFill>
                  <a:srgbClr val="52606D"/>
                </a:solidFill>
              </a:rPr>
              <a:t>3 / 8</a:t>
            </a:r>
          </a:p>
        </p:txBody>
      </p:sp>
    </p:spTree>
    <p:extLst>
      <p:ext uri="{BB962C8B-B14F-4D97-AF65-F5344CB8AC3E}">
        <p14:creationId xmlns:p14="http://schemas.microsoft.com/office/powerpoint/2010/main" val="12828813"/>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63C3BE9-40CD-407A-BE0F-F136C6E12AC2}"/>
              </a:ext>
            </a:extLst>
          </p:cNvPr>
          <p:cNvSpPr>
            <a:spLocks xmlns:a="http://schemas.openxmlformats.org/drawingml/2006/main" noGrp="1"/>
          </p:cNvSpPr>
          <p:nvPr/>
        </p:nvSpPr>
        <p:spPr>
          <a:xfrm xmlns:a="http://schemas.openxmlformats.org/drawingml/2006/main">
            <a:off x="685800" y="4000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00A6A6"/>
                </a:solidFill>
              </a:defRPr>
            </a:defPPr>
          </a:lstStyle>
          <a:p xmlns:a="http://schemas.openxmlformats.org/drawingml/2006/main">
            <a:pPr>
              <a:defRPr sz="1050" b="1">
                <a:solidFill>
                  <a:srgbClr val="00A6A6"/>
                </a:solidFill>
              </a:defRPr>
            </a:pPr>
            <a:r>
              <a:rPr sz="1050" b="1">
                <a:solidFill>
                  <a:srgbClr val="00A6A6"/>
                </a:solidFill>
              </a:rPr>
              <a:t>04</a:t>
            </a:r>
          </a:p>
        </p:txBody>
      </p:sp>
      <p:sp>
        <p:nvSpPr>
          <p:cNvPr id="2" name="">
            <a:extLst xmlns:a="http://schemas.openxmlformats.org/drawingml/2006/main">
              <a:ext uri="{FF2B5EF4-FFF2-40B4-BE49-F238E27FC236}">
                <a16:creationId xmlns:a16="http://schemas.microsoft.com/office/drawing/2014/main" id="{D1AB4BE4-7E92-47D6-A1A2-E658F452F2BF}"/>
              </a:ext>
            </a:extLst>
          </p:cNvPr>
          <p:cNvSpPr>
            <a:spLocks xmlns:a="http://schemas.openxmlformats.org/drawingml/2006/main" noGrp="1"/>
          </p:cNvSpPr>
          <p:nvPr/>
        </p:nvSpPr>
        <p:spPr>
          <a:xfrm xmlns:a="http://schemas.openxmlformats.org/drawingml/2006/main">
            <a:off x="685800" y="714375"/>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02A43"/>
                </a:solidFill>
              </a:defRPr>
            </a:defPPr>
          </a:lstStyle>
          <a:p xmlns:a="http://schemas.openxmlformats.org/drawingml/2006/main">
            <a:pPr>
              <a:defRPr sz="2400" b="1">
                <a:solidFill>
                  <a:srgbClr val="102A43"/>
                </a:solidFill>
              </a:defRPr>
            </a:pPr>
            <a:r>
              <a:rPr sz="2400" b="1">
                <a:solidFill>
                  <a:srgbClr val="102A43"/>
                </a:solidFill>
              </a:rPr>
              <a:t>The engine aligns what is measured with what is billed</a:t>
            </a:r>
          </a:p>
        </p:txBody>
      </p:sp>
      <p:sp>
        <p:nvSpPr>
          <p:cNvPr id="3" name="">
            <a:extLst xmlns:a="http://schemas.openxmlformats.org/drawingml/2006/main">
              <a:ext uri="{FF2B5EF4-FFF2-40B4-BE49-F238E27FC236}">
                <a16:creationId xmlns:a16="http://schemas.microsoft.com/office/drawing/2014/main" id="{DE454B32-7224-43D4-B0F0-5D74E1018FF7}"/>
              </a:ext>
            </a:extLst>
          </p:cNvPr>
          <p:cNvSpPr>
            <a:spLocks xmlns:a="http://schemas.openxmlformats.org/drawingml/2006/main" noGrp="1"/>
          </p:cNvSpPr>
          <p:nvPr/>
        </p:nvSpPr>
        <p:spPr>
          <a:xfrm xmlns:a="http://schemas.openxmlformats.org/drawingml/2006/main">
            <a:off x="685800" y="12668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2606D"/>
                </a:solidFill>
              </a:defRPr>
            </a:defPPr>
          </a:lstStyle>
          <a:p xmlns:a="http://schemas.openxmlformats.org/drawingml/2006/main">
            <a:pPr>
              <a:defRPr sz="1200" b="0">
                <a:solidFill>
                  <a:srgbClr val="52606D"/>
                </a:solidFill>
              </a:defRPr>
            </a:pPr>
            <a:r>
              <a:rPr sz="1200" b="0">
                <a:solidFill>
                  <a:srgbClr val="52606D"/>
                </a:solidFill>
              </a:rPr>
              <a:t>The current prototype implements the input and analysis layer. The imputation model is a defined next step, not a claimed production result.</a:t>
            </a:r>
          </a:p>
        </p:txBody>
      </p:sp>
      <p:sp>
        <p:nvSpPr>
          <p:cNvPr id="4" name="">
            <a:extLst xmlns:a="http://schemas.openxmlformats.org/drawingml/2006/main">
              <a:ext uri="{FF2B5EF4-FFF2-40B4-BE49-F238E27FC236}">
                <a16:creationId xmlns:a16="http://schemas.microsoft.com/office/drawing/2014/main" id="{B1AE6775-15A1-4520-81DE-65FD76695657}"/>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D08A042-35EE-410C-A067-62ED9191ECF3}"/>
              </a:ext>
            </a:extLst>
          </p:cNvPr>
          <p:cNvSpPr>
            <a:spLocks xmlns:a="http://schemas.openxmlformats.org/drawingml/2006/main" noGrp="1"/>
          </p:cNvSpPr>
          <p:nvPr/>
        </p:nvSpPr>
        <p:spPr>
          <a:xfrm xmlns:a="http://schemas.openxmlformats.org/drawingml/2006/main">
            <a:off x="685800" y="2524125"/>
            <a:ext cx="2190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E62E49E-2C87-4402-86CB-B52D4DAE8857}"/>
              </a:ext>
            </a:extLst>
          </p:cNvPr>
          <p:cNvSpPr>
            <a:spLocks xmlns:a="http://schemas.openxmlformats.org/drawingml/2006/main" noGrp="1"/>
          </p:cNvSpPr>
          <p:nvPr/>
        </p:nvSpPr>
        <p:spPr>
          <a:xfrm xmlns:a="http://schemas.openxmlformats.org/drawingml/2006/main">
            <a:off x="857250" y="26670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00A6A6"/>
                </a:solidFill>
              </a:defRPr>
            </a:defPPr>
          </a:lstStyle>
          <a:p xmlns:a="http://schemas.openxmlformats.org/drawingml/2006/main">
            <a:pPr>
              <a:defRPr sz="1125" b="1">
                <a:solidFill>
                  <a:srgbClr val="00A6A6"/>
                </a:solidFill>
              </a:defRPr>
            </a:pPr>
            <a:r>
              <a:rPr sz="1125" b="1">
                <a:solidFill>
                  <a:srgbClr val="00A6A6"/>
                </a:solidFill>
              </a:rPr>
              <a:t>1</a:t>
            </a:r>
          </a:p>
        </p:txBody>
      </p:sp>
      <p:sp>
        <p:nvSpPr>
          <p:cNvPr id="7" name="">
            <a:extLst xmlns:a="http://schemas.openxmlformats.org/drawingml/2006/main">
              <a:ext uri="{FF2B5EF4-FFF2-40B4-BE49-F238E27FC236}">
                <a16:creationId xmlns:a16="http://schemas.microsoft.com/office/drawing/2014/main" id="{5943B9BE-DCE3-4FCF-8CFF-7772B2B70059}"/>
              </a:ext>
            </a:extLst>
          </p:cNvPr>
          <p:cNvSpPr>
            <a:spLocks xmlns:a="http://schemas.openxmlformats.org/drawingml/2006/main" noGrp="1"/>
          </p:cNvSpPr>
          <p:nvPr/>
        </p:nvSpPr>
        <p:spPr>
          <a:xfrm xmlns:a="http://schemas.openxmlformats.org/drawingml/2006/main">
            <a:off x="857250" y="30956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Interval readings</a:t>
            </a:r>
          </a:p>
        </p:txBody>
      </p:sp>
      <p:sp>
        <p:nvSpPr>
          <p:cNvPr id="8" name="">
            <a:extLst xmlns:a="http://schemas.openxmlformats.org/drawingml/2006/main">
              <a:ext uri="{FF2B5EF4-FFF2-40B4-BE49-F238E27FC236}">
                <a16:creationId xmlns:a16="http://schemas.microsoft.com/office/drawing/2014/main" id="{E2F54DD2-7021-48F3-8974-5DFC77DA858B}"/>
              </a:ext>
            </a:extLst>
          </p:cNvPr>
          <p:cNvSpPr>
            <a:spLocks xmlns:a="http://schemas.openxmlformats.org/drawingml/2006/main" noGrp="1"/>
          </p:cNvSpPr>
          <p:nvPr/>
        </p:nvSpPr>
        <p:spPr>
          <a:xfrm xmlns:a="http://schemas.openxmlformats.org/drawingml/2006/main">
            <a:off x="857250" y="36195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2606D"/>
                </a:solidFill>
              </a:defRPr>
            </a:defPPr>
          </a:lstStyle>
          <a:p xmlns:a="http://schemas.openxmlformats.org/drawingml/2006/main">
            <a:pPr>
              <a:defRPr sz="1200" b="0">
                <a:solidFill>
                  <a:srgbClr val="52606D"/>
                </a:solidFill>
              </a:defRPr>
            </a:pPr>
            <a:r>
              <a:rPr sz="1200" b="0">
                <a:solidFill>
                  <a:srgbClr val="52606D"/>
                </a:solidFill>
              </a:rPr>
              <a:t>Modern-meter buildings</a:t>
            </a:r>
          </a:p>
        </p:txBody>
      </p:sp>
      <p:sp>
        <p:nvSpPr>
          <p:cNvPr id="9" name="">
            <a:extLst xmlns:a="http://schemas.openxmlformats.org/drawingml/2006/main">
              <a:ext uri="{FF2B5EF4-FFF2-40B4-BE49-F238E27FC236}">
                <a16:creationId xmlns:a16="http://schemas.microsoft.com/office/drawing/2014/main" id="{E9699A11-2005-4ABB-B295-ACD614FCC4A7}"/>
              </a:ext>
            </a:extLst>
          </p:cNvPr>
          <p:cNvSpPr>
            <a:spLocks xmlns:a="http://schemas.openxmlformats.org/drawingml/2006/main" noGrp="1"/>
          </p:cNvSpPr>
          <p:nvPr/>
        </p:nvSpPr>
        <p:spPr>
          <a:xfrm xmlns:a="http://schemas.openxmlformats.org/drawingml/2006/main">
            <a:off x="2876550" y="32099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00A6A6"/>
                </a:solidFill>
              </a:defRPr>
            </a:defPPr>
          </a:lstStyle>
          <a:p xmlns:a="http://schemas.openxmlformats.org/drawingml/2006/main">
            <a:pPr>
              <a:defRPr sz="975" b="1">
                <a:solidFill>
                  <a:srgbClr val="00A6A6"/>
                </a:solidFill>
              </a:defRPr>
            </a:pPr>
            <a:r>
              <a:rPr sz="975" b="1">
                <a:solidFill>
                  <a:srgbClr val="00A6A6"/>
                </a:solidFill>
              </a:rPr>
              <a:t>then</a:t>
            </a:r>
          </a:p>
        </p:txBody>
      </p:sp>
      <p:sp>
        <p:nvSpPr>
          <p:cNvPr id="10" name="">
            <a:extLst xmlns:a="http://schemas.openxmlformats.org/drawingml/2006/main">
              <a:ext uri="{FF2B5EF4-FFF2-40B4-BE49-F238E27FC236}">
                <a16:creationId xmlns:a16="http://schemas.microsoft.com/office/drawing/2014/main" id="{6955E9E1-248E-42FC-A625-98F221C7411F}"/>
              </a:ext>
            </a:extLst>
          </p:cNvPr>
          <p:cNvSpPr>
            <a:spLocks xmlns:a="http://schemas.openxmlformats.org/drawingml/2006/main" noGrp="1"/>
          </p:cNvSpPr>
          <p:nvPr/>
        </p:nvSpPr>
        <p:spPr>
          <a:xfrm xmlns:a="http://schemas.openxmlformats.org/drawingml/2006/main">
            <a:off x="3409950" y="2524125"/>
            <a:ext cx="2190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5EBFD5E-1E25-40C2-AA86-7FF34C255BA1}"/>
              </a:ext>
            </a:extLst>
          </p:cNvPr>
          <p:cNvSpPr>
            <a:spLocks xmlns:a="http://schemas.openxmlformats.org/drawingml/2006/main" noGrp="1"/>
          </p:cNvSpPr>
          <p:nvPr/>
        </p:nvSpPr>
        <p:spPr>
          <a:xfrm xmlns:a="http://schemas.openxmlformats.org/drawingml/2006/main">
            <a:off x="3581400" y="26670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00A6A6"/>
                </a:solidFill>
              </a:defRPr>
            </a:defPPr>
          </a:lstStyle>
          <a:p xmlns:a="http://schemas.openxmlformats.org/drawingml/2006/main">
            <a:pPr>
              <a:defRPr sz="1125" b="1">
                <a:solidFill>
                  <a:srgbClr val="00A6A6"/>
                </a:solidFill>
              </a:defRPr>
            </a:pPr>
            <a:r>
              <a:rPr sz="1125" b="1">
                <a:solidFill>
                  <a:srgbClr val="00A6A6"/>
                </a:solidFill>
              </a:rPr>
              <a:t>2</a:t>
            </a:r>
          </a:p>
        </p:txBody>
      </p:sp>
      <p:sp>
        <p:nvSpPr>
          <p:cNvPr id="12" name="">
            <a:extLst xmlns:a="http://schemas.openxmlformats.org/drawingml/2006/main">
              <a:ext uri="{FF2B5EF4-FFF2-40B4-BE49-F238E27FC236}">
                <a16:creationId xmlns:a16="http://schemas.microsoft.com/office/drawing/2014/main" id="{D3D1BBB3-F3ED-49A9-A36E-B24B4CFBDD49}"/>
              </a:ext>
            </a:extLst>
          </p:cNvPr>
          <p:cNvSpPr>
            <a:spLocks xmlns:a="http://schemas.openxmlformats.org/drawingml/2006/main" noGrp="1"/>
          </p:cNvSpPr>
          <p:nvPr/>
        </p:nvSpPr>
        <p:spPr>
          <a:xfrm xmlns:a="http://schemas.openxmlformats.org/drawingml/2006/main">
            <a:off x="3581400" y="30956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Monthly totals</a:t>
            </a:r>
          </a:p>
        </p:txBody>
      </p:sp>
      <p:sp>
        <p:nvSpPr>
          <p:cNvPr id="13" name="">
            <a:extLst xmlns:a="http://schemas.openxmlformats.org/drawingml/2006/main">
              <a:ext uri="{FF2B5EF4-FFF2-40B4-BE49-F238E27FC236}">
                <a16:creationId xmlns:a16="http://schemas.microsoft.com/office/drawing/2014/main" id="{D0B88E34-1862-4396-A2DF-B610B5968419}"/>
              </a:ext>
            </a:extLst>
          </p:cNvPr>
          <p:cNvSpPr>
            <a:spLocks xmlns:a="http://schemas.openxmlformats.org/drawingml/2006/main" noGrp="1"/>
          </p:cNvSpPr>
          <p:nvPr/>
        </p:nvSpPr>
        <p:spPr>
          <a:xfrm xmlns:a="http://schemas.openxmlformats.org/drawingml/2006/main">
            <a:off x="3581400" y="36195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2606D"/>
                </a:solidFill>
              </a:defRPr>
            </a:defPPr>
          </a:lstStyle>
          <a:p xmlns:a="http://schemas.openxmlformats.org/drawingml/2006/main">
            <a:pPr>
              <a:defRPr sz="1200" b="0">
                <a:solidFill>
                  <a:srgbClr val="52606D"/>
                </a:solidFill>
              </a:defRPr>
            </a:pPr>
            <a:r>
              <a:rPr sz="1200" b="0">
                <a:solidFill>
                  <a:srgbClr val="52606D"/>
                </a:solidFill>
              </a:rPr>
              <a:t>Missing-meter buildings</a:t>
            </a:r>
          </a:p>
        </p:txBody>
      </p:sp>
      <p:sp>
        <p:nvSpPr>
          <p:cNvPr id="14" name="">
            <a:extLst xmlns:a="http://schemas.openxmlformats.org/drawingml/2006/main">
              <a:ext uri="{FF2B5EF4-FFF2-40B4-BE49-F238E27FC236}">
                <a16:creationId xmlns:a16="http://schemas.microsoft.com/office/drawing/2014/main" id="{9D122CE8-917D-4B6E-946B-CADA1BBB86D2}"/>
              </a:ext>
            </a:extLst>
          </p:cNvPr>
          <p:cNvSpPr>
            <a:spLocks xmlns:a="http://schemas.openxmlformats.org/drawingml/2006/main" noGrp="1"/>
          </p:cNvSpPr>
          <p:nvPr/>
        </p:nvSpPr>
        <p:spPr>
          <a:xfrm xmlns:a="http://schemas.openxmlformats.org/drawingml/2006/main">
            <a:off x="5600700" y="32099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00A6A6"/>
                </a:solidFill>
              </a:defRPr>
            </a:defPPr>
          </a:lstStyle>
          <a:p xmlns:a="http://schemas.openxmlformats.org/drawingml/2006/main">
            <a:pPr>
              <a:defRPr sz="975" b="1">
                <a:solidFill>
                  <a:srgbClr val="00A6A6"/>
                </a:solidFill>
              </a:defRPr>
            </a:pPr>
            <a:r>
              <a:rPr sz="975" b="1">
                <a:solidFill>
                  <a:srgbClr val="00A6A6"/>
                </a:solidFill>
              </a:rPr>
              <a:t>then</a:t>
            </a:r>
          </a:p>
        </p:txBody>
      </p:sp>
      <p:sp>
        <p:nvSpPr>
          <p:cNvPr id="15" name="">
            <a:extLst xmlns:a="http://schemas.openxmlformats.org/drawingml/2006/main">
              <a:ext uri="{FF2B5EF4-FFF2-40B4-BE49-F238E27FC236}">
                <a16:creationId xmlns:a16="http://schemas.microsoft.com/office/drawing/2014/main" id="{7E3D2A77-BA36-485E-982B-C0631E7A53FC}"/>
              </a:ext>
            </a:extLst>
          </p:cNvPr>
          <p:cNvSpPr>
            <a:spLocks xmlns:a="http://schemas.openxmlformats.org/drawingml/2006/main" noGrp="1"/>
          </p:cNvSpPr>
          <p:nvPr/>
        </p:nvSpPr>
        <p:spPr>
          <a:xfrm xmlns:a="http://schemas.openxmlformats.org/drawingml/2006/main">
            <a:off x="6134100" y="2524125"/>
            <a:ext cx="2190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8FFC7A3-1B08-4D8C-9C2F-EF4A4170B94C}"/>
              </a:ext>
            </a:extLst>
          </p:cNvPr>
          <p:cNvSpPr>
            <a:spLocks xmlns:a="http://schemas.openxmlformats.org/drawingml/2006/main" noGrp="1"/>
          </p:cNvSpPr>
          <p:nvPr/>
        </p:nvSpPr>
        <p:spPr>
          <a:xfrm xmlns:a="http://schemas.openxmlformats.org/drawingml/2006/main">
            <a:off x="6305550" y="26670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00A6A6"/>
                </a:solidFill>
              </a:defRPr>
            </a:defPPr>
          </a:lstStyle>
          <a:p xmlns:a="http://schemas.openxmlformats.org/drawingml/2006/main">
            <a:pPr>
              <a:defRPr sz="1125" b="1">
                <a:solidFill>
                  <a:srgbClr val="00A6A6"/>
                </a:solidFill>
              </a:defRPr>
            </a:pPr>
            <a:r>
              <a:rPr sz="1125" b="1">
                <a:solidFill>
                  <a:srgbClr val="00A6A6"/>
                </a:solidFill>
              </a:rPr>
              <a:t>3</a:t>
            </a:r>
          </a:p>
        </p:txBody>
      </p:sp>
      <p:sp>
        <p:nvSpPr>
          <p:cNvPr id="17" name="">
            <a:extLst xmlns:a="http://schemas.openxmlformats.org/drawingml/2006/main">
              <a:ext uri="{FF2B5EF4-FFF2-40B4-BE49-F238E27FC236}">
                <a16:creationId xmlns:a16="http://schemas.microsoft.com/office/drawing/2014/main" id="{E946E3E7-B285-4FE0-BB9D-27D7FF58FC3F}"/>
              </a:ext>
            </a:extLst>
          </p:cNvPr>
          <p:cNvSpPr>
            <a:spLocks xmlns:a="http://schemas.openxmlformats.org/drawingml/2006/main" noGrp="1"/>
          </p:cNvSpPr>
          <p:nvPr/>
        </p:nvSpPr>
        <p:spPr>
          <a:xfrm xmlns:a="http://schemas.openxmlformats.org/drawingml/2006/main">
            <a:off x="6305550" y="30956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Time and context</a:t>
            </a:r>
          </a:p>
        </p:txBody>
      </p:sp>
      <p:sp>
        <p:nvSpPr>
          <p:cNvPr id="18" name="">
            <a:extLst xmlns:a="http://schemas.openxmlformats.org/drawingml/2006/main">
              <a:ext uri="{FF2B5EF4-FFF2-40B4-BE49-F238E27FC236}">
                <a16:creationId xmlns:a16="http://schemas.microsoft.com/office/drawing/2014/main" id="{887DA035-7212-475F-973A-053D72D81197}"/>
              </a:ext>
            </a:extLst>
          </p:cNvPr>
          <p:cNvSpPr>
            <a:spLocks xmlns:a="http://schemas.openxmlformats.org/drawingml/2006/main" noGrp="1"/>
          </p:cNvSpPr>
          <p:nvPr/>
        </p:nvSpPr>
        <p:spPr>
          <a:xfrm xmlns:a="http://schemas.openxmlformats.org/drawingml/2006/main">
            <a:off x="6305550" y="36195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2606D"/>
                </a:solidFill>
              </a:defRPr>
            </a:defPPr>
          </a:lstStyle>
          <a:p xmlns:a="http://schemas.openxmlformats.org/drawingml/2006/main">
            <a:pPr>
              <a:defRPr sz="1200" b="0">
                <a:solidFill>
                  <a:srgbClr val="52606D"/>
                </a:solidFill>
              </a:defRPr>
            </a:pPr>
            <a:r>
              <a:rPr sz="1200" b="0">
                <a:solidFill>
                  <a:srgbClr val="52606D"/>
                </a:solidFill>
              </a:rPr>
              <a:t>Calendar, weather, typology</a:t>
            </a:r>
          </a:p>
        </p:txBody>
      </p:sp>
      <p:sp>
        <p:nvSpPr>
          <p:cNvPr id="19" name="">
            <a:extLst xmlns:a="http://schemas.openxmlformats.org/drawingml/2006/main">
              <a:ext uri="{FF2B5EF4-FFF2-40B4-BE49-F238E27FC236}">
                <a16:creationId xmlns:a16="http://schemas.microsoft.com/office/drawing/2014/main" id="{C82A69D0-CA9B-489F-BF7C-EED64787B0A1}"/>
              </a:ext>
            </a:extLst>
          </p:cNvPr>
          <p:cNvSpPr>
            <a:spLocks xmlns:a="http://schemas.openxmlformats.org/drawingml/2006/main" noGrp="1"/>
          </p:cNvSpPr>
          <p:nvPr/>
        </p:nvSpPr>
        <p:spPr>
          <a:xfrm xmlns:a="http://schemas.openxmlformats.org/drawingml/2006/main">
            <a:off x="8324850" y="32099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00A6A6"/>
                </a:solidFill>
              </a:defRPr>
            </a:defPPr>
          </a:lstStyle>
          <a:p xmlns:a="http://schemas.openxmlformats.org/drawingml/2006/main">
            <a:pPr>
              <a:defRPr sz="975" b="1">
                <a:solidFill>
                  <a:srgbClr val="00A6A6"/>
                </a:solidFill>
              </a:defRPr>
            </a:pPr>
            <a:r>
              <a:rPr sz="975" b="1">
                <a:solidFill>
                  <a:srgbClr val="00A6A6"/>
                </a:solidFill>
              </a:rPr>
              <a:t>then</a:t>
            </a:r>
          </a:p>
        </p:txBody>
      </p:sp>
      <p:sp>
        <p:nvSpPr>
          <p:cNvPr id="20" name="">
            <a:extLst xmlns:a="http://schemas.openxmlformats.org/drawingml/2006/main">
              <a:ext uri="{FF2B5EF4-FFF2-40B4-BE49-F238E27FC236}">
                <a16:creationId xmlns:a16="http://schemas.microsoft.com/office/drawing/2014/main" id="{3F056075-4861-4B2E-B3A3-467708BF397D}"/>
              </a:ext>
            </a:extLst>
          </p:cNvPr>
          <p:cNvSpPr>
            <a:spLocks xmlns:a="http://schemas.openxmlformats.org/drawingml/2006/main" noGrp="1"/>
          </p:cNvSpPr>
          <p:nvPr/>
        </p:nvSpPr>
        <p:spPr>
          <a:xfrm xmlns:a="http://schemas.openxmlformats.org/drawingml/2006/main">
            <a:off x="8858250" y="2524125"/>
            <a:ext cx="2190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F63FEC0-E36B-474B-BA5F-D5C3808F7466}"/>
              </a:ext>
            </a:extLst>
          </p:cNvPr>
          <p:cNvSpPr>
            <a:spLocks xmlns:a="http://schemas.openxmlformats.org/drawingml/2006/main" noGrp="1"/>
          </p:cNvSpPr>
          <p:nvPr/>
        </p:nvSpPr>
        <p:spPr>
          <a:xfrm xmlns:a="http://schemas.openxmlformats.org/drawingml/2006/main">
            <a:off x="9029700" y="26670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00A6A6"/>
                </a:solidFill>
              </a:defRPr>
            </a:defPPr>
          </a:lstStyle>
          <a:p xmlns:a="http://schemas.openxmlformats.org/drawingml/2006/main">
            <a:pPr>
              <a:defRPr sz="1125" b="1">
                <a:solidFill>
                  <a:srgbClr val="00A6A6"/>
                </a:solidFill>
              </a:defRPr>
            </a:pPr>
            <a:r>
              <a:rPr sz="1125" b="1">
                <a:solidFill>
                  <a:srgbClr val="00A6A6"/>
                </a:solidFill>
              </a:rPr>
              <a:t>4</a:t>
            </a:r>
          </a:p>
        </p:txBody>
      </p:sp>
      <p:sp>
        <p:nvSpPr>
          <p:cNvPr id="22" name="">
            <a:extLst xmlns:a="http://schemas.openxmlformats.org/drawingml/2006/main">
              <a:ext uri="{FF2B5EF4-FFF2-40B4-BE49-F238E27FC236}">
                <a16:creationId xmlns:a16="http://schemas.microsoft.com/office/drawing/2014/main" id="{E4C95D2D-5800-4FDC-BD5D-5786AC679DDE}"/>
              </a:ext>
            </a:extLst>
          </p:cNvPr>
          <p:cNvSpPr>
            <a:spLocks xmlns:a="http://schemas.openxmlformats.org/drawingml/2006/main" noGrp="1"/>
          </p:cNvSpPr>
          <p:nvPr/>
        </p:nvSpPr>
        <p:spPr>
          <a:xfrm xmlns:a="http://schemas.openxmlformats.org/drawingml/2006/main">
            <a:off x="9029700" y="30956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Estimated profile</a:t>
            </a:r>
          </a:p>
        </p:txBody>
      </p:sp>
      <p:sp>
        <p:nvSpPr>
          <p:cNvPr id="23" name="">
            <a:extLst xmlns:a="http://schemas.openxmlformats.org/drawingml/2006/main">
              <a:ext uri="{FF2B5EF4-FFF2-40B4-BE49-F238E27FC236}">
                <a16:creationId xmlns:a16="http://schemas.microsoft.com/office/drawing/2014/main" id="{2DCE9924-BEE0-4EE2-B62B-F9306523242A}"/>
              </a:ext>
            </a:extLst>
          </p:cNvPr>
          <p:cNvSpPr>
            <a:spLocks xmlns:a="http://schemas.openxmlformats.org/drawingml/2006/main" noGrp="1"/>
          </p:cNvSpPr>
          <p:nvPr/>
        </p:nvSpPr>
        <p:spPr>
          <a:xfrm xmlns:a="http://schemas.openxmlformats.org/drawingml/2006/main">
            <a:off x="9029700" y="36195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2606D"/>
                </a:solidFill>
              </a:defRPr>
            </a:defPPr>
          </a:lstStyle>
          <a:p xmlns:a="http://schemas.openxmlformats.org/drawingml/2006/main">
            <a:pPr>
              <a:defRPr sz="1200" b="0">
                <a:solidFill>
                  <a:srgbClr val="52606D"/>
                </a:solidFill>
              </a:defRPr>
            </a:pPr>
            <a:r>
              <a:rPr sz="1200" b="0">
                <a:solidFill>
                  <a:srgbClr val="52606D"/>
                </a:solidFill>
              </a:rPr>
              <a:t>Future imputation output</a:t>
            </a:r>
          </a:p>
        </p:txBody>
      </p:sp>
      <p:sp>
        <p:nvSpPr>
          <p:cNvPr id="24" name="">
            <a:extLst xmlns:a="http://schemas.openxmlformats.org/drawingml/2006/main">
              <a:ext uri="{FF2B5EF4-FFF2-40B4-BE49-F238E27FC236}">
                <a16:creationId xmlns:a16="http://schemas.microsoft.com/office/drawing/2014/main" id="{013BFE4E-018F-4906-A9AB-1E58D50325D7}"/>
              </a:ext>
            </a:extLst>
          </p:cNvPr>
          <p:cNvSpPr>
            <a:spLocks xmlns:a="http://schemas.openxmlformats.org/drawingml/2006/main" noGrp="1"/>
          </p:cNvSpPr>
          <p:nvPr/>
        </p:nvSpPr>
        <p:spPr>
          <a:xfrm xmlns:a="http://schemas.openxmlformats.org/drawingml/2006/main">
            <a:off x="685800" y="50482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00A6A6"/>
                </a:solidFill>
              </a:defRPr>
            </a:defPPr>
          </a:lstStyle>
          <a:p xmlns:a="http://schemas.openxmlformats.org/drawingml/2006/main">
            <a:pPr>
              <a:defRPr sz="1200" b="1">
                <a:solidFill>
                  <a:srgbClr val="00A6A6"/>
                </a:solidFill>
              </a:defRPr>
            </a:pPr>
            <a:r>
              <a:rPr sz="1200" b="1">
                <a:solidFill>
                  <a:srgbClr val="00A6A6"/>
                </a:solidFill>
              </a:rPr>
              <a:t>Implemented now</a:t>
            </a:r>
          </a:p>
        </p:txBody>
      </p:sp>
      <p:sp>
        <p:nvSpPr>
          <p:cNvPr id="25" name="">
            <a:extLst xmlns:a="http://schemas.openxmlformats.org/drawingml/2006/main">
              <a:ext uri="{FF2B5EF4-FFF2-40B4-BE49-F238E27FC236}">
                <a16:creationId xmlns:a16="http://schemas.microsoft.com/office/drawing/2014/main" id="{4C32B3C5-2888-434C-9119-673F6C4ABE81}"/>
              </a:ext>
            </a:extLst>
          </p:cNvPr>
          <p:cNvSpPr>
            <a:spLocks xmlns:a="http://schemas.openxmlformats.org/drawingml/2006/main" noGrp="1"/>
          </p:cNvSpPr>
          <p:nvPr/>
        </p:nvSpPr>
        <p:spPr>
          <a:xfrm xmlns:a="http://schemas.openxmlformats.org/drawingml/2006/main">
            <a:off x="685800" y="5334000"/>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F2933"/>
                </a:solidFill>
              </a:defRPr>
            </a:defPPr>
          </a:lstStyle>
          <a:p xmlns:a="http://schemas.openxmlformats.org/drawingml/2006/main">
            <a:pPr>
              <a:defRPr sz="1350" b="0">
                <a:solidFill>
                  <a:srgbClr val="1F2933"/>
                </a:solidFill>
              </a:defRPr>
            </a:pPr>
            <a:r>
              <a:rPr sz="1350" b="0">
                <a:solidFill>
                  <a:srgbClr val="1F2933"/>
                </a:solidFill>
              </a:rPr>
              <a:t>Synthetic hourly inputs, missing spans, monthly-total reference, and 4–8 PM EDA</a:t>
            </a:r>
          </a:p>
        </p:txBody>
      </p:sp>
      <p:sp>
        <p:nvSpPr>
          <p:cNvPr id="26" name="">
            <a:extLst xmlns:a="http://schemas.openxmlformats.org/drawingml/2006/main">
              <a:ext uri="{FF2B5EF4-FFF2-40B4-BE49-F238E27FC236}">
                <a16:creationId xmlns:a16="http://schemas.microsoft.com/office/drawing/2014/main" id="{EDF46D04-3673-48A8-9B7F-7C76CACB6428}"/>
              </a:ext>
            </a:extLst>
          </p:cNvPr>
          <p:cNvSpPr>
            <a:spLocks xmlns:a="http://schemas.openxmlformats.org/drawingml/2006/main" noGrp="1"/>
          </p:cNvSpPr>
          <p:nvPr/>
        </p:nvSpPr>
        <p:spPr>
          <a:xfrm xmlns:a="http://schemas.openxmlformats.org/drawingml/2006/main">
            <a:off x="7086600" y="50482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F2B134"/>
                </a:solidFill>
              </a:defRPr>
            </a:defPPr>
          </a:lstStyle>
          <a:p xmlns:a="http://schemas.openxmlformats.org/drawingml/2006/main">
            <a:pPr>
              <a:defRPr sz="1200" b="1">
                <a:solidFill>
                  <a:srgbClr val="F2B134"/>
                </a:solidFill>
              </a:defRPr>
            </a:pPr>
            <a:r>
              <a:rPr sz="1200" b="1">
                <a:solidFill>
                  <a:srgbClr val="F2B134"/>
                </a:solidFill>
              </a:rPr>
              <a:t>Proposed next</a:t>
            </a:r>
          </a:p>
        </p:txBody>
      </p:sp>
      <p:sp>
        <p:nvSpPr>
          <p:cNvPr id="27" name="">
            <a:extLst xmlns:a="http://schemas.openxmlformats.org/drawingml/2006/main">
              <a:ext uri="{FF2B5EF4-FFF2-40B4-BE49-F238E27FC236}">
                <a16:creationId xmlns:a16="http://schemas.microsoft.com/office/drawing/2014/main" id="{9AF0DAB8-7A5C-4C16-8353-050380ACA2B4}"/>
              </a:ext>
            </a:extLst>
          </p:cNvPr>
          <p:cNvSpPr>
            <a:spLocks xmlns:a="http://schemas.openxmlformats.org/drawingml/2006/main" noGrp="1"/>
          </p:cNvSpPr>
          <p:nvPr/>
        </p:nvSpPr>
        <p:spPr>
          <a:xfrm xmlns:a="http://schemas.openxmlformats.org/drawingml/2006/main">
            <a:off x="7086600" y="533400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F2933"/>
                </a:solidFill>
              </a:defRPr>
            </a:defPPr>
          </a:lstStyle>
          <a:p xmlns:a="http://schemas.openxmlformats.org/drawingml/2006/main">
            <a:pPr>
              <a:defRPr sz="1425" b="0">
                <a:solidFill>
                  <a:srgbClr val="1F2933"/>
                </a:solidFill>
              </a:defRPr>
            </a:pPr>
            <a:r>
              <a:rPr sz="1425" b="0">
                <a:solidFill>
                  <a:srgbClr val="1F2933"/>
                </a:solidFill>
              </a:rPr>
              <a:t>Train and validate an imputation model constrained by known billing totals</a:t>
            </a:r>
          </a:p>
        </p:txBody>
      </p:sp>
      <p:sp>
        <p:nvSpPr>
          <p:cNvPr id="28" name="">
            <a:extLst xmlns:a="http://schemas.openxmlformats.org/drawingml/2006/main">
              <a:ext uri="{FF2B5EF4-FFF2-40B4-BE49-F238E27FC236}">
                <a16:creationId xmlns:a16="http://schemas.microsoft.com/office/drawing/2014/main" id="{749DAF1C-4E87-49C1-B4DB-ED119D1BC575}"/>
              </a:ext>
            </a:extLst>
          </p:cNvPr>
          <p:cNvSpPr>
            <a:spLocks xmlns:a="http://schemas.openxmlformats.org/drawingml/2006/main" noGrp="1"/>
          </p:cNvSpPr>
          <p:nvPr/>
        </p:nvSpPr>
        <p:spPr>
          <a:xfrm xmlns:a="http://schemas.openxmlformats.org/drawingml/2006/main">
            <a:off x="685800" y="647700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52606D"/>
                </a:solidFill>
              </a:defRPr>
            </a:defPPr>
          </a:lstStyle>
          <a:p xmlns:a="http://schemas.openxmlformats.org/drawingml/2006/main">
            <a:pPr>
              <a:defRPr sz="825" b="0">
                <a:solidFill>
                  <a:srgbClr val="52606D"/>
                </a:solidFill>
              </a:defRPr>
            </a:pPr>
            <a:r>
              <a:rPr sz="825" b="0">
                <a:solidFill>
                  <a:srgbClr val="52606D"/>
                </a:solidFill>
              </a:rPr>
              <a:t>AI Synergy Hackathon 2026  |  Campus Energy Prototype</a:t>
            </a:r>
          </a:p>
        </p:txBody>
      </p:sp>
      <p:sp>
        <p:nvSpPr>
          <p:cNvPr id="29" name="">
            <a:extLst xmlns:a="http://schemas.openxmlformats.org/drawingml/2006/main">
              <a:ext uri="{FF2B5EF4-FFF2-40B4-BE49-F238E27FC236}">
                <a16:creationId xmlns:a16="http://schemas.microsoft.com/office/drawing/2014/main" id="{1F63B3D3-3120-45D8-945D-2519BA88AABA}"/>
              </a:ext>
            </a:extLst>
          </p:cNvPr>
          <p:cNvSpPr>
            <a:spLocks xmlns:a="http://schemas.openxmlformats.org/drawingml/2006/main" noGrp="1"/>
          </p:cNvSpPr>
          <p:nvPr/>
        </p:nvSpPr>
        <p:spPr>
          <a:xfrm xmlns:a="http://schemas.openxmlformats.org/drawingml/2006/main">
            <a:off x="10763250" y="64770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52606D"/>
                </a:solidFill>
              </a:defRPr>
            </a:defPPr>
          </a:lstStyle>
          <a:p xmlns:a="http://schemas.openxmlformats.org/drawingml/2006/main">
            <a:pPr>
              <a:defRPr sz="825" b="0">
                <a:solidFill>
                  <a:srgbClr val="52606D"/>
                </a:solidFill>
              </a:defRPr>
            </a:pPr>
            <a:r>
              <a:rPr sz="825" b="0">
                <a:solidFill>
                  <a:srgbClr val="52606D"/>
                </a:solidFill>
              </a:rPr>
              <a:t>4 / 8</a:t>
            </a:r>
          </a:p>
        </p:txBody>
      </p:sp>
    </p:spTree>
    <p:extLst>
      <p:ext uri="{BB962C8B-B14F-4D97-AF65-F5344CB8AC3E}">
        <p14:creationId xmlns:p14="http://schemas.microsoft.com/office/powerpoint/2010/main" val="1426770404"/>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D871AE9-E5E1-4B6D-8FD4-3957E078F20F}"/>
              </a:ext>
            </a:extLst>
          </p:cNvPr>
          <p:cNvSpPr>
            <a:spLocks xmlns:a="http://schemas.openxmlformats.org/drawingml/2006/main" noGrp="1"/>
          </p:cNvSpPr>
          <p:nvPr/>
        </p:nvSpPr>
        <p:spPr>
          <a:xfrm xmlns:a="http://schemas.openxmlformats.org/drawingml/2006/main">
            <a:off x="685800" y="4000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00A6A6"/>
                </a:solidFill>
              </a:defRPr>
            </a:defPPr>
          </a:lstStyle>
          <a:p xmlns:a="http://schemas.openxmlformats.org/drawingml/2006/main">
            <a:pPr>
              <a:defRPr sz="1050" b="1">
                <a:solidFill>
                  <a:srgbClr val="00A6A6"/>
                </a:solidFill>
              </a:defRPr>
            </a:pPr>
            <a:r>
              <a:rPr sz="1050" b="1">
                <a:solidFill>
                  <a:srgbClr val="00A6A6"/>
                </a:solidFill>
              </a:rPr>
              <a:t>05</a:t>
            </a:r>
          </a:p>
        </p:txBody>
      </p:sp>
      <p:sp>
        <p:nvSpPr>
          <p:cNvPr id="2" name="">
            <a:extLst xmlns:a="http://schemas.openxmlformats.org/drawingml/2006/main">
              <a:ext uri="{FF2B5EF4-FFF2-40B4-BE49-F238E27FC236}">
                <a16:creationId xmlns:a16="http://schemas.microsoft.com/office/drawing/2014/main" id="{585DD805-ACA8-496E-8543-65E6AD61AAEA}"/>
              </a:ext>
            </a:extLst>
          </p:cNvPr>
          <p:cNvSpPr>
            <a:spLocks xmlns:a="http://schemas.openxmlformats.org/drawingml/2006/main" noGrp="1"/>
          </p:cNvSpPr>
          <p:nvPr/>
        </p:nvSpPr>
        <p:spPr>
          <a:xfrm xmlns:a="http://schemas.openxmlformats.org/drawingml/2006/main">
            <a:off x="685800" y="714375"/>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02A43"/>
                </a:solidFill>
              </a:defRPr>
            </a:defPPr>
          </a:lstStyle>
          <a:p xmlns:a="http://schemas.openxmlformats.org/drawingml/2006/main">
            <a:pPr>
              <a:defRPr sz="2400" b="1">
                <a:solidFill>
                  <a:srgbClr val="102A43"/>
                </a:solidFill>
              </a:defRPr>
            </a:pPr>
            <a:r>
              <a:rPr sz="2400" b="1">
                <a:solidFill>
                  <a:srgbClr val="102A43"/>
                </a:solidFill>
              </a:rPr>
              <a:t>A short demo proves the data path, then frames the decision</a:t>
            </a:r>
          </a:p>
        </p:txBody>
      </p:sp>
      <p:sp>
        <p:nvSpPr>
          <p:cNvPr id="3" name="">
            <a:extLst xmlns:a="http://schemas.openxmlformats.org/drawingml/2006/main">
              <a:ext uri="{FF2B5EF4-FFF2-40B4-BE49-F238E27FC236}">
                <a16:creationId xmlns:a16="http://schemas.microsoft.com/office/drawing/2014/main" id="{0A418BB6-AE3C-46BE-9D8D-7E0821F36B00}"/>
              </a:ext>
            </a:extLst>
          </p:cNvPr>
          <p:cNvSpPr>
            <a:spLocks xmlns:a="http://schemas.openxmlformats.org/drawingml/2006/main" noGrp="1"/>
          </p:cNvSpPr>
          <p:nvPr/>
        </p:nvSpPr>
        <p:spPr>
          <a:xfrm xmlns:a="http://schemas.openxmlformats.org/drawingml/2006/main">
            <a:off x="685800" y="12668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2606D"/>
                </a:solidFill>
              </a:defRPr>
            </a:defPPr>
          </a:lstStyle>
          <a:p xmlns:a="http://schemas.openxmlformats.org/drawingml/2006/main">
            <a:pPr>
              <a:defRPr sz="1200" b="0">
                <a:solidFill>
                  <a:srgbClr val="52606D"/>
                </a:solidFill>
              </a:defRPr>
            </a:pPr>
            <a:r>
              <a:rPr sz="1200" b="0">
                <a:solidFill>
                  <a:srgbClr val="52606D"/>
                </a:solidFill>
              </a:rPr>
              <a:t>Show the existing generator and notebook live, then explain the imputation workflow without simulating an accuracy result.</a:t>
            </a:r>
          </a:p>
        </p:txBody>
      </p:sp>
      <p:sp>
        <p:nvSpPr>
          <p:cNvPr id="4" name="">
            <a:extLst xmlns:a="http://schemas.openxmlformats.org/drawingml/2006/main">
              <a:ext uri="{FF2B5EF4-FFF2-40B4-BE49-F238E27FC236}">
                <a16:creationId xmlns:a16="http://schemas.microsoft.com/office/drawing/2014/main" id="{DCB82417-313C-4759-9A41-9BB30768A3CD}"/>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2151C2A-6486-4391-B144-80BD24B0BAE6}"/>
              </a:ext>
            </a:extLst>
          </p:cNvPr>
          <p:cNvSpPr>
            <a:spLocks xmlns:a="http://schemas.openxmlformats.org/drawingml/2006/main" noGrp="1"/>
          </p:cNvSpPr>
          <p:nvPr/>
        </p:nvSpPr>
        <p:spPr>
          <a:xfrm xmlns:a="http://schemas.openxmlformats.org/drawingml/2006/main">
            <a:off x="685800" y="21431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Live demo sequence</a:t>
            </a:r>
          </a:p>
        </p:txBody>
      </p:sp>
      <p:sp>
        <p:nvSpPr>
          <p:cNvPr id="6" name="">
            <a:extLst xmlns:a="http://schemas.openxmlformats.org/drawingml/2006/main">
              <a:ext uri="{FF2B5EF4-FFF2-40B4-BE49-F238E27FC236}">
                <a16:creationId xmlns:a16="http://schemas.microsoft.com/office/drawing/2014/main" id="{8548FC2B-9F48-4162-A654-ED32CB453E9C}"/>
              </a:ext>
            </a:extLst>
          </p:cNvPr>
          <p:cNvSpPr>
            <a:spLocks xmlns:a="http://schemas.openxmlformats.org/drawingml/2006/main" noGrp="1"/>
          </p:cNvSpPr>
          <p:nvPr/>
        </p:nvSpPr>
        <p:spPr>
          <a:xfrm xmlns:a="http://schemas.openxmlformats.org/drawingml/2006/main">
            <a:off x="685800" y="26479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00A6A6"/>
                </a:solidFill>
              </a:defRPr>
            </a:defPPr>
          </a:lstStyle>
          <a:p xmlns:a="http://schemas.openxmlformats.org/drawingml/2006/main">
            <a:pPr>
              <a:defRPr sz="1200" b="1">
                <a:solidFill>
                  <a:srgbClr val="00A6A6"/>
                </a:solidFill>
              </a:defRPr>
            </a:pPr>
            <a:r>
              <a:rPr sz="1200" b="1">
                <a:solidFill>
                  <a:srgbClr val="00A6A6"/>
                </a:solidFill>
              </a:rPr>
              <a:t>01</a:t>
            </a:r>
          </a:p>
        </p:txBody>
      </p:sp>
      <p:sp>
        <p:nvSpPr>
          <p:cNvPr id="7" name="">
            <a:extLst xmlns:a="http://schemas.openxmlformats.org/drawingml/2006/main">
              <a:ext uri="{FF2B5EF4-FFF2-40B4-BE49-F238E27FC236}">
                <a16:creationId xmlns:a16="http://schemas.microsoft.com/office/drawing/2014/main" id="{2C8590CA-11B7-453B-AD00-77D3DE14D768}"/>
              </a:ext>
            </a:extLst>
          </p:cNvPr>
          <p:cNvSpPr>
            <a:spLocks xmlns:a="http://schemas.openxmlformats.org/drawingml/2006/main" noGrp="1"/>
          </p:cNvSpPr>
          <p:nvPr/>
        </p:nvSpPr>
        <p:spPr>
          <a:xfrm xmlns:a="http://schemas.openxmlformats.org/drawingml/2006/main">
            <a:off x="1314450" y="2647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F2933"/>
                </a:solidFill>
              </a:defRPr>
            </a:defPPr>
          </a:lstStyle>
          <a:p xmlns:a="http://schemas.openxmlformats.org/drawingml/2006/main">
            <a:pPr>
              <a:defRPr sz="1425" b="1">
                <a:solidFill>
                  <a:srgbClr val="1F2933"/>
                </a:solidFill>
              </a:defRPr>
            </a:pPr>
            <a:r>
              <a:rPr sz="1425" b="1">
                <a:solidFill>
                  <a:srgbClr val="1F2933"/>
                </a:solidFill>
              </a:rPr>
              <a:t>Run generator</a:t>
            </a:r>
          </a:p>
        </p:txBody>
      </p:sp>
      <p:sp>
        <p:nvSpPr>
          <p:cNvPr id="8" name="">
            <a:extLst xmlns:a="http://schemas.openxmlformats.org/drawingml/2006/main">
              <a:ext uri="{FF2B5EF4-FFF2-40B4-BE49-F238E27FC236}">
                <a16:creationId xmlns:a16="http://schemas.microsoft.com/office/drawing/2014/main" id="{7D57EC4C-2879-4D20-A379-E356B52A6D66}"/>
              </a:ext>
            </a:extLst>
          </p:cNvPr>
          <p:cNvSpPr>
            <a:spLocks xmlns:a="http://schemas.openxmlformats.org/drawingml/2006/main" noGrp="1"/>
          </p:cNvSpPr>
          <p:nvPr/>
        </p:nvSpPr>
        <p:spPr>
          <a:xfrm xmlns:a="http://schemas.openxmlformats.org/drawingml/2006/main">
            <a:off x="3600450" y="26479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52606D"/>
                </a:solidFill>
              </a:defRPr>
            </a:defPPr>
          </a:lstStyle>
          <a:p xmlns:a="http://schemas.openxmlformats.org/drawingml/2006/main">
            <a:pPr>
              <a:defRPr sz="1275" b="0">
                <a:solidFill>
                  <a:srgbClr val="52606D"/>
                </a:solidFill>
              </a:defRPr>
            </a:pPr>
            <a:r>
              <a:rPr sz="1275" b="0">
                <a:solidFill>
                  <a:srgbClr val="52606D"/>
                </a:solidFill>
              </a:rPr>
              <a:t>Creates raw CSV inputs</a:t>
            </a:r>
          </a:p>
        </p:txBody>
      </p:sp>
      <p:sp>
        <p:nvSpPr>
          <p:cNvPr id="9" name="">
            <a:extLst xmlns:a="http://schemas.openxmlformats.org/drawingml/2006/main">
              <a:ext uri="{FF2B5EF4-FFF2-40B4-BE49-F238E27FC236}">
                <a16:creationId xmlns:a16="http://schemas.microsoft.com/office/drawing/2014/main" id="{666DFFB9-72D8-4117-935A-E0AC5035D900}"/>
              </a:ext>
            </a:extLst>
          </p:cNvPr>
          <p:cNvSpPr>
            <a:spLocks xmlns:a="http://schemas.openxmlformats.org/drawingml/2006/main" noGrp="1"/>
          </p:cNvSpPr>
          <p:nvPr/>
        </p:nvSpPr>
        <p:spPr>
          <a:xfrm xmlns:a="http://schemas.openxmlformats.org/drawingml/2006/main">
            <a:off x="685800" y="33147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00A6A6"/>
                </a:solidFill>
              </a:defRPr>
            </a:defPPr>
          </a:lstStyle>
          <a:p xmlns:a="http://schemas.openxmlformats.org/drawingml/2006/main">
            <a:pPr>
              <a:defRPr sz="1200" b="1">
                <a:solidFill>
                  <a:srgbClr val="00A6A6"/>
                </a:solidFill>
              </a:defRPr>
            </a:pPr>
            <a:r>
              <a:rPr sz="1200" b="1">
                <a:solidFill>
                  <a:srgbClr val="00A6A6"/>
                </a:solidFill>
              </a:rPr>
              <a:t>02</a:t>
            </a:r>
          </a:p>
        </p:txBody>
      </p:sp>
      <p:sp>
        <p:nvSpPr>
          <p:cNvPr id="10" name="">
            <a:extLst xmlns:a="http://schemas.openxmlformats.org/drawingml/2006/main">
              <a:ext uri="{FF2B5EF4-FFF2-40B4-BE49-F238E27FC236}">
                <a16:creationId xmlns:a16="http://schemas.microsoft.com/office/drawing/2014/main" id="{F4F36988-B3A8-429B-9BAA-4A85B2B466AE}"/>
              </a:ext>
            </a:extLst>
          </p:cNvPr>
          <p:cNvSpPr>
            <a:spLocks xmlns:a="http://schemas.openxmlformats.org/drawingml/2006/main" noGrp="1"/>
          </p:cNvSpPr>
          <p:nvPr/>
        </p:nvSpPr>
        <p:spPr>
          <a:xfrm xmlns:a="http://schemas.openxmlformats.org/drawingml/2006/main">
            <a:off x="1314450" y="33147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F2933"/>
                </a:solidFill>
              </a:defRPr>
            </a:defPPr>
          </a:lstStyle>
          <a:p xmlns:a="http://schemas.openxmlformats.org/drawingml/2006/main">
            <a:pPr>
              <a:defRPr sz="1425" b="1">
                <a:solidFill>
                  <a:srgbClr val="1F2933"/>
                </a:solidFill>
              </a:defRPr>
            </a:pPr>
            <a:r>
              <a:rPr sz="1425" b="1">
                <a:solidFill>
                  <a:srgbClr val="1F2933"/>
                </a:solidFill>
              </a:rPr>
              <a:t>Open notebook</a:t>
            </a:r>
          </a:p>
        </p:txBody>
      </p:sp>
      <p:sp>
        <p:nvSpPr>
          <p:cNvPr id="11" name="">
            <a:extLst xmlns:a="http://schemas.openxmlformats.org/drawingml/2006/main">
              <a:ext uri="{FF2B5EF4-FFF2-40B4-BE49-F238E27FC236}">
                <a16:creationId xmlns:a16="http://schemas.microsoft.com/office/drawing/2014/main" id="{20D4A63B-F1B4-426F-BB59-AEE7E75902A5}"/>
              </a:ext>
            </a:extLst>
          </p:cNvPr>
          <p:cNvSpPr>
            <a:spLocks xmlns:a="http://schemas.openxmlformats.org/drawingml/2006/main" noGrp="1"/>
          </p:cNvSpPr>
          <p:nvPr/>
        </p:nvSpPr>
        <p:spPr>
          <a:xfrm xmlns:a="http://schemas.openxmlformats.org/drawingml/2006/main">
            <a:off x="3600450" y="33147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52606D"/>
                </a:solidFill>
              </a:defRPr>
            </a:defPPr>
          </a:lstStyle>
          <a:p xmlns:a="http://schemas.openxmlformats.org/drawingml/2006/main">
            <a:pPr>
              <a:defRPr sz="1275" b="0">
                <a:solidFill>
                  <a:srgbClr val="52606D"/>
                </a:solidFill>
              </a:defRPr>
            </a:pPr>
            <a:r>
              <a:rPr sz="1275" b="0">
                <a:solidFill>
                  <a:srgbClr val="52606D"/>
                </a:solidFill>
              </a:rPr>
              <a:t>Resample and inspect demand</a:t>
            </a:r>
          </a:p>
        </p:txBody>
      </p:sp>
      <p:sp>
        <p:nvSpPr>
          <p:cNvPr id="12" name="">
            <a:extLst xmlns:a="http://schemas.openxmlformats.org/drawingml/2006/main">
              <a:ext uri="{FF2B5EF4-FFF2-40B4-BE49-F238E27FC236}">
                <a16:creationId xmlns:a16="http://schemas.microsoft.com/office/drawing/2014/main" id="{C2E17ED9-5F3E-4D9D-AF1F-A9748537C97B}"/>
              </a:ext>
            </a:extLst>
          </p:cNvPr>
          <p:cNvSpPr>
            <a:spLocks xmlns:a="http://schemas.openxmlformats.org/drawingml/2006/main" noGrp="1"/>
          </p:cNvSpPr>
          <p:nvPr/>
        </p:nvSpPr>
        <p:spPr>
          <a:xfrm xmlns:a="http://schemas.openxmlformats.org/drawingml/2006/main">
            <a:off x="685800" y="39814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00A6A6"/>
                </a:solidFill>
              </a:defRPr>
            </a:defPPr>
          </a:lstStyle>
          <a:p xmlns:a="http://schemas.openxmlformats.org/drawingml/2006/main">
            <a:pPr>
              <a:defRPr sz="1200" b="1">
                <a:solidFill>
                  <a:srgbClr val="00A6A6"/>
                </a:solidFill>
              </a:defRPr>
            </a:pPr>
            <a:r>
              <a:rPr sz="1200" b="1">
                <a:solidFill>
                  <a:srgbClr val="00A6A6"/>
                </a:solidFill>
              </a:rPr>
              <a:t>03</a:t>
            </a:r>
          </a:p>
        </p:txBody>
      </p:sp>
      <p:sp>
        <p:nvSpPr>
          <p:cNvPr id="13" name="">
            <a:extLst xmlns:a="http://schemas.openxmlformats.org/drawingml/2006/main">
              <a:ext uri="{FF2B5EF4-FFF2-40B4-BE49-F238E27FC236}">
                <a16:creationId xmlns:a16="http://schemas.microsoft.com/office/drawing/2014/main" id="{3A505579-C194-4EB4-9481-46F9CDB561FB}"/>
              </a:ext>
            </a:extLst>
          </p:cNvPr>
          <p:cNvSpPr>
            <a:spLocks xmlns:a="http://schemas.openxmlformats.org/drawingml/2006/main" noGrp="1"/>
          </p:cNvSpPr>
          <p:nvPr/>
        </p:nvSpPr>
        <p:spPr>
          <a:xfrm xmlns:a="http://schemas.openxmlformats.org/drawingml/2006/main">
            <a:off x="1314450" y="39814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F2933"/>
                </a:solidFill>
              </a:defRPr>
            </a:defPPr>
          </a:lstStyle>
          <a:p xmlns:a="http://schemas.openxmlformats.org/drawingml/2006/main">
            <a:pPr>
              <a:defRPr sz="1425" b="1">
                <a:solidFill>
                  <a:srgbClr val="1F2933"/>
                </a:solidFill>
              </a:defRPr>
            </a:pPr>
            <a:r>
              <a:rPr sz="1425" b="1">
                <a:solidFill>
                  <a:srgbClr val="1F2933"/>
                </a:solidFill>
              </a:rPr>
              <a:t>Focus on 4–8 PM</a:t>
            </a:r>
          </a:p>
        </p:txBody>
      </p:sp>
      <p:sp>
        <p:nvSpPr>
          <p:cNvPr id="14" name="">
            <a:extLst xmlns:a="http://schemas.openxmlformats.org/drawingml/2006/main">
              <a:ext uri="{FF2B5EF4-FFF2-40B4-BE49-F238E27FC236}">
                <a16:creationId xmlns:a16="http://schemas.microsoft.com/office/drawing/2014/main" id="{D7AA0293-0806-4A7E-97FC-69ECFF3B9D09}"/>
              </a:ext>
            </a:extLst>
          </p:cNvPr>
          <p:cNvSpPr>
            <a:spLocks xmlns:a="http://schemas.openxmlformats.org/drawingml/2006/main" noGrp="1"/>
          </p:cNvSpPr>
          <p:nvPr/>
        </p:nvSpPr>
        <p:spPr>
          <a:xfrm xmlns:a="http://schemas.openxmlformats.org/drawingml/2006/main">
            <a:off x="3600450" y="39814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52606D"/>
                </a:solidFill>
              </a:defRPr>
            </a:defPPr>
          </a:lstStyle>
          <a:p xmlns:a="http://schemas.openxmlformats.org/drawingml/2006/main">
            <a:pPr>
              <a:defRPr sz="1275" b="0">
                <a:solidFill>
                  <a:srgbClr val="52606D"/>
                </a:solidFill>
              </a:defRPr>
            </a:pPr>
            <a:r>
              <a:rPr sz="1275" b="0">
                <a:solidFill>
                  <a:srgbClr val="52606D"/>
                </a:solidFill>
              </a:rPr>
              <a:t>Show the peak window</a:t>
            </a:r>
          </a:p>
        </p:txBody>
      </p:sp>
      <p:sp>
        <p:nvSpPr>
          <p:cNvPr id="15" name="">
            <a:extLst xmlns:a="http://schemas.openxmlformats.org/drawingml/2006/main">
              <a:ext uri="{FF2B5EF4-FFF2-40B4-BE49-F238E27FC236}">
                <a16:creationId xmlns:a16="http://schemas.microsoft.com/office/drawing/2014/main" id="{2CF8F7CE-B9E1-4F28-8D4A-42CB38101B40}"/>
              </a:ext>
            </a:extLst>
          </p:cNvPr>
          <p:cNvSpPr>
            <a:spLocks xmlns:a="http://schemas.openxmlformats.org/drawingml/2006/main" noGrp="1"/>
          </p:cNvSpPr>
          <p:nvPr/>
        </p:nvSpPr>
        <p:spPr>
          <a:xfrm xmlns:a="http://schemas.openxmlformats.org/drawingml/2006/main">
            <a:off x="685800" y="4648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00A6A6"/>
                </a:solidFill>
              </a:defRPr>
            </a:defPPr>
          </a:lstStyle>
          <a:p xmlns:a="http://schemas.openxmlformats.org/drawingml/2006/main">
            <a:pPr>
              <a:defRPr sz="1200" b="1">
                <a:solidFill>
                  <a:srgbClr val="00A6A6"/>
                </a:solidFill>
              </a:defRPr>
            </a:pPr>
            <a:r>
              <a:rPr sz="1200" b="1">
                <a:solidFill>
                  <a:srgbClr val="00A6A6"/>
                </a:solidFill>
              </a:rPr>
              <a:t>04</a:t>
            </a:r>
          </a:p>
        </p:txBody>
      </p:sp>
      <p:sp>
        <p:nvSpPr>
          <p:cNvPr id="16" name="">
            <a:extLst xmlns:a="http://schemas.openxmlformats.org/drawingml/2006/main">
              <a:ext uri="{FF2B5EF4-FFF2-40B4-BE49-F238E27FC236}">
                <a16:creationId xmlns:a16="http://schemas.microsoft.com/office/drawing/2014/main" id="{3F5C09C2-9CE0-49CF-B01B-EE6E5D74CE8E}"/>
              </a:ext>
            </a:extLst>
          </p:cNvPr>
          <p:cNvSpPr>
            <a:spLocks xmlns:a="http://schemas.openxmlformats.org/drawingml/2006/main" noGrp="1"/>
          </p:cNvSpPr>
          <p:nvPr/>
        </p:nvSpPr>
        <p:spPr>
          <a:xfrm xmlns:a="http://schemas.openxmlformats.org/drawingml/2006/main">
            <a:off x="1314450" y="4648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F2933"/>
                </a:solidFill>
              </a:defRPr>
            </a:defPPr>
          </a:lstStyle>
          <a:p xmlns:a="http://schemas.openxmlformats.org/drawingml/2006/main">
            <a:pPr>
              <a:defRPr sz="1425" b="1">
                <a:solidFill>
                  <a:srgbClr val="1F2933"/>
                </a:solidFill>
              </a:defRPr>
            </a:pPr>
            <a:r>
              <a:rPr sz="1425" b="1">
                <a:solidFill>
                  <a:srgbClr val="1F2933"/>
                </a:solidFill>
              </a:rPr>
              <a:t>Explain next model step</a:t>
            </a:r>
          </a:p>
        </p:txBody>
      </p:sp>
      <p:sp>
        <p:nvSpPr>
          <p:cNvPr id="17" name="">
            <a:extLst xmlns:a="http://schemas.openxmlformats.org/drawingml/2006/main">
              <a:ext uri="{FF2B5EF4-FFF2-40B4-BE49-F238E27FC236}">
                <a16:creationId xmlns:a16="http://schemas.microsoft.com/office/drawing/2014/main" id="{65575C71-CCA9-4721-8051-9C681CEA9307}"/>
              </a:ext>
            </a:extLst>
          </p:cNvPr>
          <p:cNvSpPr>
            <a:spLocks xmlns:a="http://schemas.openxmlformats.org/drawingml/2006/main" noGrp="1"/>
          </p:cNvSpPr>
          <p:nvPr/>
        </p:nvSpPr>
        <p:spPr>
          <a:xfrm xmlns:a="http://schemas.openxmlformats.org/drawingml/2006/main">
            <a:off x="3600450" y="46482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52606D"/>
                </a:solidFill>
              </a:defRPr>
            </a:defPPr>
          </a:lstStyle>
          <a:p xmlns:a="http://schemas.openxmlformats.org/drawingml/2006/main">
            <a:pPr>
              <a:defRPr sz="1275" b="0">
                <a:solidFill>
                  <a:srgbClr val="52606D"/>
                </a:solidFill>
              </a:defRPr>
            </a:pPr>
            <a:r>
              <a:rPr sz="1275" b="0">
                <a:solidFill>
                  <a:srgbClr val="52606D"/>
                </a:solidFill>
              </a:rPr>
              <a:t>Infer missing intervals within billing constraints</a:t>
            </a:r>
          </a:p>
        </p:txBody>
      </p:sp>
      <p:sp>
        <p:nvSpPr>
          <p:cNvPr id="18" name="">
            <a:extLst xmlns:a="http://schemas.openxmlformats.org/drawingml/2006/main">
              <a:ext uri="{FF2B5EF4-FFF2-40B4-BE49-F238E27FC236}">
                <a16:creationId xmlns:a16="http://schemas.microsoft.com/office/drawing/2014/main" id="{4B3B7929-1515-4E54-AE06-47A365D14F99}"/>
              </a:ext>
            </a:extLst>
          </p:cNvPr>
          <p:cNvSpPr>
            <a:spLocks xmlns:a="http://schemas.openxmlformats.org/drawingml/2006/main" noGrp="1"/>
          </p:cNvSpPr>
          <p:nvPr/>
        </p:nvSpPr>
        <p:spPr>
          <a:xfrm xmlns:a="http://schemas.openxmlformats.org/drawingml/2006/main">
            <a:off x="7239000" y="2152650"/>
            <a:ext cx="361950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8CF47C9-113D-4610-9529-B0C9C3400C0E}"/>
              </a:ext>
            </a:extLst>
          </p:cNvPr>
          <p:cNvSpPr>
            <a:spLocks xmlns:a="http://schemas.openxmlformats.org/drawingml/2006/main" noGrp="1"/>
          </p:cNvSpPr>
          <p:nvPr/>
        </p:nvSpPr>
        <p:spPr>
          <a:xfrm xmlns:a="http://schemas.openxmlformats.org/drawingml/2006/main">
            <a:off x="7543800" y="2476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02A43"/>
                </a:solidFill>
              </a:defRPr>
            </a:defPPr>
          </a:lstStyle>
          <a:p xmlns:a="http://schemas.openxmlformats.org/drawingml/2006/main">
            <a:pPr>
              <a:defRPr sz="1500" b="1">
                <a:solidFill>
                  <a:srgbClr val="102A43"/>
                </a:solidFill>
              </a:defRPr>
            </a:pPr>
            <a:r>
              <a:rPr sz="1500" b="1">
                <a:solidFill>
                  <a:srgbClr val="102A43"/>
                </a:solidFill>
              </a:rPr>
              <a:t>Screenshot to show</a:t>
            </a:r>
          </a:p>
        </p:txBody>
      </p:sp>
      <p:sp>
        <p:nvSpPr>
          <p:cNvPr id="20" name="">
            <a:extLst xmlns:a="http://schemas.openxmlformats.org/drawingml/2006/main">
              <a:ext uri="{FF2B5EF4-FFF2-40B4-BE49-F238E27FC236}">
                <a16:creationId xmlns:a16="http://schemas.microsoft.com/office/drawing/2014/main" id="{311FEB47-C5B6-4414-8893-A26FA60400BE}"/>
              </a:ext>
            </a:extLst>
          </p:cNvPr>
          <p:cNvSpPr>
            <a:spLocks xmlns:a="http://schemas.openxmlformats.org/drawingml/2006/main" noGrp="1"/>
          </p:cNvSpPr>
          <p:nvPr/>
        </p:nvSpPr>
        <p:spPr>
          <a:xfrm xmlns:a="http://schemas.openxmlformats.org/drawingml/2006/main">
            <a:off x="7543800" y="3048000"/>
            <a:ext cx="30099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F2933"/>
                </a:solidFill>
              </a:defRPr>
            </a:defPPr>
          </a:lstStyle>
          <a:p xmlns:a="http://schemas.openxmlformats.org/drawingml/2006/main">
            <a:pPr>
              <a:defRPr sz="1350" b="0">
                <a:solidFill>
                  <a:srgbClr val="1F2933"/>
                </a:solidFill>
              </a:defRPr>
            </a:pPr>
            <a:r>
              <a:rPr sz="1350" b="0">
                <a:solidFill>
                  <a:srgbClr val="1F2933"/>
                </a:solidFill>
              </a:rPr>
              <a:t>notebooks/01_baseline_eda.ipynb</a:t>
            </a:r>
          </a:p>
          <a:p xmlns:a="http://schemas.openxmlformats.org/drawingml/2006/main">
            <a:r>
              <a:t/>
            </a:r>
          </a:p>
          <a:p xmlns:a="http://schemas.openxmlformats.org/drawingml/2006/main">
            <a:pPr>
              <a:defRPr sz="1350" b="0">
                <a:solidFill>
                  <a:srgbClr val="1F2933"/>
                </a:solidFill>
              </a:defRPr>
            </a:pPr>
            <a:r>
              <a:rPr sz="1350" b="0">
                <a:solidFill>
                  <a:srgbClr val="1F2933"/>
                </a:solidFill>
              </a:rPr>
              <a:t>The actual 4–8 PM demand-spike chart</a:t>
            </a:r>
          </a:p>
          <a:p xmlns:a="http://schemas.openxmlformats.org/drawingml/2006/main">
            <a:r>
              <a:t/>
            </a:r>
          </a:p>
          <a:p xmlns:a="http://schemas.openxmlformats.org/drawingml/2006/main">
            <a:pPr>
              <a:defRPr sz="1350" b="0">
                <a:solidFill>
                  <a:srgbClr val="1F2933"/>
                </a:solidFill>
              </a:defRPr>
            </a:pPr>
            <a:r>
              <a:rPr sz="1350" b="0">
                <a:solidFill>
                  <a:srgbClr val="1F2933"/>
                </a:solidFill>
              </a:rPr>
              <a:t>Show the repository output, then point to</a:t>
            </a:r>
          </a:p>
          <a:p xmlns:a="http://schemas.openxmlformats.org/drawingml/2006/main">
            <a:pPr>
              <a:defRPr sz="1350" b="0">
                <a:solidFill>
                  <a:srgbClr val="1F2933"/>
                </a:solidFill>
              </a:defRPr>
            </a:pPr>
            <a:r>
              <a:rPr sz="1350" b="0">
                <a:solidFill>
                  <a:srgbClr val="1F2933"/>
                </a:solidFill>
              </a:rPr>
              <a:t>missing spans that a future model will infer.</a:t>
            </a:r>
          </a:p>
        </p:txBody>
      </p:sp>
      <p:sp>
        <p:nvSpPr>
          <p:cNvPr id="21" name="">
            <a:extLst xmlns:a="http://schemas.openxmlformats.org/drawingml/2006/main">
              <a:ext uri="{FF2B5EF4-FFF2-40B4-BE49-F238E27FC236}">
                <a16:creationId xmlns:a16="http://schemas.microsoft.com/office/drawing/2014/main" id="{35F7B1B5-2AC8-477F-B1C2-96EEE32C9ACE}"/>
              </a:ext>
            </a:extLst>
          </p:cNvPr>
          <p:cNvSpPr>
            <a:spLocks xmlns:a="http://schemas.openxmlformats.org/drawingml/2006/main" noGrp="1"/>
          </p:cNvSpPr>
          <p:nvPr/>
        </p:nvSpPr>
        <p:spPr>
          <a:xfrm xmlns:a="http://schemas.openxmlformats.org/drawingml/2006/main">
            <a:off x="685800" y="647700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52606D"/>
                </a:solidFill>
              </a:defRPr>
            </a:defPPr>
          </a:lstStyle>
          <a:p xmlns:a="http://schemas.openxmlformats.org/drawingml/2006/main">
            <a:pPr>
              <a:defRPr sz="825" b="0">
                <a:solidFill>
                  <a:srgbClr val="52606D"/>
                </a:solidFill>
              </a:defRPr>
            </a:pPr>
            <a:r>
              <a:rPr sz="825" b="0">
                <a:solidFill>
                  <a:srgbClr val="52606D"/>
                </a:solidFill>
              </a:rPr>
              <a:t>AI Synergy Hackathon 2026  |  Campus Energy Prototype</a:t>
            </a:r>
          </a:p>
        </p:txBody>
      </p:sp>
      <p:sp>
        <p:nvSpPr>
          <p:cNvPr id="22" name="">
            <a:extLst xmlns:a="http://schemas.openxmlformats.org/drawingml/2006/main">
              <a:ext uri="{FF2B5EF4-FFF2-40B4-BE49-F238E27FC236}">
                <a16:creationId xmlns:a16="http://schemas.microsoft.com/office/drawing/2014/main" id="{01653BDC-2278-4B22-BB5F-DBB4CD7B461E}"/>
              </a:ext>
            </a:extLst>
          </p:cNvPr>
          <p:cNvSpPr>
            <a:spLocks xmlns:a="http://schemas.openxmlformats.org/drawingml/2006/main" noGrp="1"/>
          </p:cNvSpPr>
          <p:nvPr/>
        </p:nvSpPr>
        <p:spPr>
          <a:xfrm xmlns:a="http://schemas.openxmlformats.org/drawingml/2006/main">
            <a:off x="10763250" y="64770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52606D"/>
                </a:solidFill>
              </a:defRPr>
            </a:defPPr>
          </a:lstStyle>
          <a:p xmlns:a="http://schemas.openxmlformats.org/drawingml/2006/main">
            <a:pPr>
              <a:defRPr sz="825" b="0">
                <a:solidFill>
                  <a:srgbClr val="52606D"/>
                </a:solidFill>
              </a:defRPr>
            </a:pPr>
            <a:r>
              <a:rPr sz="825" b="0">
                <a:solidFill>
                  <a:srgbClr val="52606D"/>
                </a:solidFill>
              </a:rPr>
              <a:t>5 / 8</a:t>
            </a:r>
          </a:p>
        </p:txBody>
      </p:sp>
    </p:spTree>
    <p:extLst>
      <p:ext uri="{BB962C8B-B14F-4D97-AF65-F5344CB8AC3E}">
        <p14:creationId xmlns:p14="http://schemas.microsoft.com/office/powerpoint/2010/main" val="1485132057"/>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1D3BE56-53E0-43EC-855B-AAD4DD951A04}"/>
              </a:ext>
            </a:extLst>
          </p:cNvPr>
          <p:cNvSpPr>
            <a:spLocks xmlns:a="http://schemas.openxmlformats.org/drawingml/2006/main" noGrp="1"/>
          </p:cNvSpPr>
          <p:nvPr/>
        </p:nvSpPr>
        <p:spPr>
          <a:xfrm xmlns:a="http://schemas.openxmlformats.org/drawingml/2006/main">
            <a:off x="685800" y="4000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00A6A6"/>
                </a:solidFill>
              </a:defRPr>
            </a:defPPr>
          </a:lstStyle>
          <a:p xmlns:a="http://schemas.openxmlformats.org/drawingml/2006/main">
            <a:pPr>
              <a:defRPr sz="1050" b="1">
                <a:solidFill>
                  <a:srgbClr val="00A6A6"/>
                </a:solidFill>
              </a:defRPr>
            </a:pPr>
            <a:r>
              <a:rPr sz="1050" b="1">
                <a:solidFill>
                  <a:srgbClr val="00A6A6"/>
                </a:solidFill>
              </a:rPr>
              <a:t>06</a:t>
            </a:r>
          </a:p>
        </p:txBody>
      </p:sp>
      <p:sp>
        <p:nvSpPr>
          <p:cNvPr id="2" name="">
            <a:extLst xmlns:a="http://schemas.openxmlformats.org/drawingml/2006/main">
              <a:ext uri="{FF2B5EF4-FFF2-40B4-BE49-F238E27FC236}">
                <a16:creationId xmlns:a16="http://schemas.microsoft.com/office/drawing/2014/main" id="{0086F843-B965-4F8D-8859-A3B636F725D9}"/>
              </a:ext>
            </a:extLst>
          </p:cNvPr>
          <p:cNvSpPr>
            <a:spLocks xmlns:a="http://schemas.openxmlformats.org/drawingml/2006/main" noGrp="1"/>
          </p:cNvSpPr>
          <p:nvPr/>
        </p:nvSpPr>
        <p:spPr>
          <a:xfrm xmlns:a="http://schemas.openxmlformats.org/drawingml/2006/main">
            <a:off x="685800" y="714375"/>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02A43"/>
                </a:solidFill>
              </a:defRPr>
            </a:defPPr>
          </a:lstStyle>
          <a:p xmlns:a="http://schemas.openxmlformats.org/drawingml/2006/main">
            <a:pPr>
              <a:defRPr sz="2400" b="1">
                <a:solidFill>
                  <a:srgbClr val="102A43"/>
                </a:solidFill>
              </a:defRPr>
            </a:pPr>
            <a:r>
              <a:rPr sz="2400" b="1">
                <a:solidFill>
                  <a:srgbClr val="102A43"/>
                </a:solidFill>
              </a:rPr>
              <a:t>The monthly bill acts as a guardrail for future AI estimates</a:t>
            </a:r>
          </a:p>
        </p:txBody>
      </p:sp>
      <p:sp>
        <p:nvSpPr>
          <p:cNvPr id="3" name="">
            <a:extLst xmlns:a="http://schemas.openxmlformats.org/drawingml/2006/main">
              <a:ext uri="{FF2B5EF4-FFF2-40B4-BE49-F238E27FC236}">
                <a16:creationId xmlns:a16="http://schemas.microsoft.com/office/drawing/2014/main" id="{2767F489-B4B1-43B7-B780-E07940A2126B}"/>
              </a:ext>
            </a:extLst>
          </p:cNvPr>
          <p:cNvSpPr>
            <a:spLocks xmlns:a="http://schemas.openxmlformats.org/drawingml/2006/main" noGrp="1"/>
          </p:cNvSpPr>
          <p:nvPr/>
        </p:nvSpPr>
        <p:spPr>
          <a:xfrm xmlns:a="http://schemas.openxmlformats.org/drawingml/2006/main">
            <a:off x="685800" y="12668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2606D"/>
                </a:solidFill>
              </a:defRPr>
            </a:defPPr>
          </a:lstStyle>
          <a:p xmlns:a="http://schemas.openxmlformats.org/drawingml/2006/main">
            <a:pPr>
              <a:defRPr sz="1200" b="0">
                <a:solidFill>
                  <a:srgbClr val="52606D"/>
                </a:solidFill>
              </a:defRPr>
            </a:pPr>
            <a:r>
              <a:rPr sz="1200" b="0">
                <a:solidFill>
                  <a:srgbClr val="52606D"/>
                </a:solidFill>
              </a:rPr>
              <a:t>Any estimated interval profile must reconcile to the known monthly total before facilities can use it for peak analysis.</a:t>
            </a:r>
          </a:p>
        </p:txBody>
      </p:sp>
      <p:sp>
        <p:nvSpPr>
          <p:cNvPr id="4" name="">
            <a:extLst xmlns:a="http://schemas.openxmlformats.org/drawingml/2006/main">
              <a:ext uri="{FF2B5EF4-FFF2-40B4-BE49-F238E27FC236}">
                <a16:creationId xmlns:a16="http://schemas.microsoft.com/office/drawing/2014/main" id="{640B2940-9ED5-4067-BF8F-A68FE386C58E}"/>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3BB09B4-22D8-4479-BF71-AE2FF612C28E}"/>
              </a:ext>
            </a:extLst>
          </p:cNvPr>
          <p:cNvSpPr>
            <a:spLocks xmlns:a="http://schemas.openxmlformats.org/drawingml/2006/main" noGrp="1"/>
          </p:cNvSpPr>
          <p:nvPr/>
        </p:nvSpPr>
        <p:spPr>
          <a:xfrm xmlns:a="http://schemas.openxmlformats.org/drawingml/2006/main">
            <a:off x="685800" y="21907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Inference principle</a:t>
            </a:r>
          </a:p>
        </p:txBody>
      </p:sp>
      <p:sp>
        <p:nvSpPr>
          <p:cNvPr id="6" name="">
            <a:extLst xmlns:a="http://schemas.openxmlformats.org/drawingml/2006/main">
              <a:ext uri="{FF2B5EF4-FFF2-40B4-BE49-F238E27FC236}">
                <a16:creationId xmlns:a16="http://schemas.microsoft.com/office/drawing/2014/main" id="{A892FD8A-C6D2-42CF-A8CA-1BB123B3C59C}"/>
              </a:ext>
            </a:extLst>
          </p:cNvPr>
          <p:cNvSpPr>
            <a:spLocks xmlns:a="http://schemas.openxmlformats.org/drawingml/2006/main" noGrp="1"/>
          </p:cNvSpPr>
          <p:nvPr/>
        </p:nvSpPr>
        <p:spPr>
          <a:xfrm xmlns:a="http://schemas.openxmlformats.org/drawingml/2006/main">
            <a:off x="685800" y="2667000"/>
            <a:ext cx="4762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F2933"/>
                </a:solidFill>
              </a:defRPr>
            </a:defPPr>
          </a:lstStyle>
          <a:p xmlns:a="http://schemas.openxmlformats.org/drawingml/2006/main">
            <a:pPr>
              <a:defRPr sz="1350" b="0">
                <a:solidFill>
                  <a:srgbClr val="1F2933"/>
                </a:solidFill>
              </a:defRPr>
            </a:pPr>
            <a:r>
              <a:rPr sz="1350" b="0">
                <a:solidFill>
                  <a:srgbClr val="1F2933"/>
                </a:solidFill>
              </a:rPr>
              <a:t>Learn daily load shapes from comparable metered buildings and shared context such as schedules, weather, and building type.</a:t>
            </a:r>
          </a:p>
          <a:p xmlns:a="http://schemas.openxmlformats.org/drawingml/2006/main">
            <a:r>
              <a:t/>
            </a:r>
          </a:p>
          <a:p xmlns:a="http://schemas.openxmlformats.org/drawingml/2006/main">
            <a:pPr>
              <a:defRPr sz="1350" b="0">
                <a:solidFill>
                  <a:srgbClr val="1F2933"/>
                </a:solidFill>
              </a:defRPr>
            </a:pPr>
            <a:r>
              <a:rPr sz="1350" b="0">
                <a:solidFill>
                  <a:srgbClr val="1F2933"/>
                </a:solidFill>
              </a:rPr>
              <a:t>Constrain every estimated profile so the completed month still matches the bill.</a:t>
            </a:r>
          </a:p>
        </p:txBody>
      </p:sp>
      <p:sp>
        <p:nvSpPr>
          <p:cNvPr id="7" name="">
            <a:extLst xmlns:a="http://schemas.openxmlformats.org/drawingml/2006/main">
              <a:ext uri="{FF2B5EF4-FFF2-40B4-BE49-F238E27FC236}">
                <a16:creationId xmlns:a16="http://schemas.microsoft.com/office/drawing/2014/main" id="{1CC06205-AD08-4B2F-BF29-78B5C2FD65F5}"/>
              </a:ext>
            </a:extLst>
          </p:cNvPr>
          <p:cNvSpPr>
            <a:spLocks xmlns:a="http://schemas.openxmlformats.org/drawingml/2006/main" noGrp="1"/>
          </p:cNvSpPr>
          <p:nvPr/>
        </p:nvSpPr>
        <p:spPr>
          <a:xfrm xmlns:a="http://schemas.openxmlformats.org/drawingml/2006/main">
            <a:off x="6762750" y="21907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Validation plan</a:t>
            </a:r>
          </a:p>
        </p:txBody>
      </p:sp>
      <p:sp>
        <p:nvSpPr>
          <p:cNvPr id="8" name="">
            <a:extLst xmlns:a="http://schemas.openxmlformats.org/drawingml/2006/main">
              <a:ext uri="{FF2B5EF4-FFF2-40B4-BE49-F238E27FC236}">
                <a16:creationId xmlns:a16="http://schemas.microsoft.com/office/drawing/2014/main" id="{1455D711-E988-4FAC-BD9A-B946EEC0AB79}"/>
              </a:ext>
            </a:extLst>
          </p:cNvPr>
          <p:cNvSpPr>
            <a:spLocks xmlns:a="http://schemas.openxmlformats.org/drawingml/2006/main" noGrp="1"/>
          </p:cNvSpPr>
          <p:nvPr/>
        </p:nvSpPr>
        <p:spPr>
          <a:xfrm xmlns:a="http://schemas.openxmlformats.org/drawingml/2006/main">
            <a:off x="6762750" y="2762250"/>
            <a:ext cx="228600" cy="228600"/>
          </a:xfrm>
          <a:prstGeom xmlns:a="http://schemas.openxmlformats.org/drawingml/2006/main" prst="ellipse">
            <a:avLst/>
          </a:prstGeom>
          <a:solidFill xmlns:a="http://schemas.openxmlformats.org/drawingml/2006/main">
            <a:srgbClr val="D9F3E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ED83137-D615-4767-BBC4-BBE39AA480B0}"/>
              </a:ext>
            </a:extLst>
          </p:cNvPr>
          <p:cNvSpPr>
            <a:spLocks xmlns:a="http://schemas.openxmlformats.org/drawingml/2006/main" noGrp="1"/>
          </p:cNvSpPr>
          <p:nvPr/>
        </p:nvSpPr>
        <p:spPr>
          <a:xfrm xmlns:a="http://schemas.openxmlformats.org/drawingml/2006/main">
            <a:off x="6762750" y="27622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00A6A6"/>
                </a:solidFill>
              </a:defRPr>
            </a:defPPr>
          </a:lstStyle>
          <a:p xmlns:a="http://schemas.openxmlformats.org/drawingml/2006/main">
            <a:pPr>
              <a:defRPr sz="975" b="1">
                <a:solidFill>
                  <a:srgbClr val="00A6A6"/>
                </a:solidFill>
              </a:defRPr>
            </a:pPr>
            <a:r>
              <a:rPr sz="975" b="1">
                <a:solidFill>
                  <a:srgbClr val="00A6A6"/>
                </a:solidFill>
              </a:rPr>
              <a:t>1</a:t>
            </a:r>
          </a:p>
        </p:txBody>
      </p:sp>
      <p:sp>
        <p:nvSpPr>
          <p:cNvPr id="10" name="">
            <a:extLst xmlns:a="http://schemas.openxmlformats.org/drawingml/2006/main">
              <a:ext uri="{FF2B5EF4-FFF2-40B4-BE49-F238E27FC236}">
                <a16:creationId xmlns:a16="http://schemas.microsoft.com/office/drawing/2014/main" id="{F4C792E3-B2BA-4F95-8AE3-03EDE8720DF0}"/>
              </a:ext>
            </a:extLst>
          </p:cNvPr>
          <p:cNvSpPr>
            <a:spLocks xmlns:a="http://schemas.openxmlformats.org/drawingml/2006/main" noGrp="1"/>
          </p:cNvSpPr>
          <p:nvPr/>
        </p:nvSpPr>
        <p:spPr>
          <a:xfrm xmlns:a="http://schemas.openxmlformats.org/drawingml/2006/main">
            <a:off x="7143750" y="27432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F2933"/>
                </a:solidFill>
              </a:defRPr>
            </a:defPPr>
          </a:lstStyle>
          <a:p xmlns:a="http://schemas.openxmlformats.org/drawingml/2006/main">
            <a:pPr>
              <a:defRPr sz="1425" b="0">
                <a:solidFill>
                  <a:srgbClr val="1F2933"/>
                </a:solidFill>
              </a:defRPr>
            </a:pPr>
            <a:r>
              <a:rPr sz="1425" b="0">
                <a:solidFill>
                  <a:srgbClr val="1F2933"/>
                </a:solidFill>
              </a:rPr>
              <a:t>Hide known intervals and reconstruct them</a:t>
            </a:r>
          </a:p>
        </p:txBody>
      </p:sp>
      <p:sp>
        <p:nvSpPr>
          <p:cNvPr id="11" name="">
            <a:extLst xmlns:a="http://schemas.openxmlformats.org/drawingml/2006/main">
              <a:ext uri="{FF2B5EF4-FFF2-40B4-BE49-F238E27FC236}">
                <a16:creationId xmlns:a16="http://schemas.microsoft.com/office/drawing/2014/main" id="{B2C3436F-80A6-4CA5-8E4A-F0C6A331EC94}"/>
              </a:ext>
            </a:extLst>
          </p:cNvPr>
          <p:cNvSpPr>
            <a:spLocks xmlns:a="http://schemas.openxmlformats.org/drawingml/2006/main" noGrp="1"/>
          </p:cNvSpPr>
          <p:nvPr/>
        </p:nvSpPr>
        <p:spPr>
          <a:xfrm xmlns:a="http://schemas.openxmlformats.org/drawingml/2006/main">
            <a:off x="6762750" y="3429000"/>
            <a:ext cx="228600" cy="228600"/>
          </a:xfrm>
          <a:prstGeom xmlns:a="http://schemas.openxmlformats.org/drawingml/2006/main" prst="ellipse">
            <a:avLst/>
          </a:prstGeom>
          <a:solidFill xmlns:a="http://schemas.openxmlformats.org/drawingml/2006/main">
            <a:srgbClr val="D9F3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35F32D0-454C-41DD-B075-83F8AEBADDFB}"/>
              </a:ext>
            </a:extLst>
          </p:cNvPr>
          <p:cNvSpPr>
            <a:spLocks xmlns:a="http://schemas.openxmlformats.org/drawingml/2006/main" noGrp="1"/>
          </p:cNvSpPr>
          <p:nvPr/>
        </p:nvSpPr>
        <p:spPr>
          <a:xfrm xmlns:a="http://schemas.openxmlformats.org/drawingml/2006/main">
            <a:off x="6762750" y="34290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00A6A6"/>
                </a:solidFill>
              </a:defRPr>
            </a:defPPr>
          </a:lstStyle>
          <a:p xmlns:a="http://schemas.openxmlformats.org/drawingml/2006/main">
            <a:pPr>
              <a:defRPr sz="975" b="1">
                <a:solidFill>
                  <a:srgbClr val="00A6A6"/>
                </a:solidFill>
              </a:defRPr>
            </a:pPr>
            <a:r>
              <a:rPr sz="975" b="1">
                <a:solidFill>
                  <a:srgbClr val="00A6A6"/>
                </a:solidFill>
              </a:rPr>
              <a:t>2</a:t>
            </a:r>
          </a:p>
        </p:txBody>
      </p:sp>
      <p:sp>
        <p:nvSpPr>
          <p:cNvPr id="13" name="">
            <a:extLst xmlns:a="http://schemas.openxmlformats.org/drawingml/2006/main">
              <a:ext uri="{FF2B5EF4-FFF2-40B4-BE49-F238E27FC236}">
                <a16:creationId xmlns:a16="http://schemas.microsoft.com/office/drawing/2014/main" id="{367F0A6A-71C8-4677-BAB8-407CD2678776}"/>
              </a:ext>
            </a:extLst>
          </p:cNvPr>
          <p:cNvSpPr>
            <a:spLocks xmlns:a="http://schemas.openxmlformats.org/drawingml/2006/main" noGrp="1"/>
          </p:cNvSpPr>
          <p:nvPr/>
        </p:nvSpPr>
        <p:spPr>
          <a:xfrm xmlns:a="http://schemas.openxmlformats.org/drawingml/2006/main">
            <a:off x="7143750" y="34099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F2933"/>
                </a:solidFill>
              </a:defRPr>
            </a:defPPr>
          </a:lstStyle>
          <a:p xmlns:a="http://schemas.openxmlformats.org/drawingml/2006/main">
            <a:pPr>
              <a:defRPr sz="1425" b="0">
                <a:solidFill>
                  <a:srgbClr val="1F2933"/>
                </a:solidFill>
              </a:defRPr>
            </a:pPr>
            <a:r>
              <a:rPr sz="1425" b="0">
                <a:solidFill>
                  <a:srgbClr val="1F2933"/>
                </a:solidFill>
              </a:rPr>
              <a:t>Compare predictions with held-out meter data</a:t>
            </a:r>
          </a:p>
        </p:txBody>
      </p:sp>
      <p:sp>
        <p:nvSpPr>
          <p:cNvPr id="14" name="">
            <a:extLst xmlns:a="http://schemas.openxmlformats.org/drawingml/2006/main">
              <a:ext uri="{FF2B5EF4-FFF2-40B4-BE49-F238E27FC236}">
                <a16:creationId xmlns:a16="http://schemas.microsoft.com/office/drawing/2014/main" id="{C025FE00-46BE-4C8E-A820-C255ED8689F3}"/>
              </a:ext>
            </a:extLst>
          </p:cNvPr>
          <p:cNvSpPr>
            <a:spLocks xmlns:a="http://schemas.openxmlformats.org/drawingml/2006/main" noGrp="1"/>
          </p:cNvSpPr>
          <p:nvPr/>
        </p:nvSpPr>
        <p:spPr>
          <a:xfrm xmlns:a="http://schemas.openxmlformats.org/drawingml/2006/main">
            <a:off x="6762750" y="4095750"/>
            <a:ext cx="228600" cy="228600"/>
          </a:xfrm>
          <a:prstGeom xmlns:a="http://schemas.openxmlformats.org/drawingml/2006/main" prst="ellipse">
            <a:avLst/>
          </a:prstGeom>
          <a:solidFill xmlns:a="http://schemas.openxmlformats.org/drawingml/2006/main">
            <a:srgbClr val="D9F3E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F255610-F87E-438D-B3B4-2E4D0ADECD03}"/>
              </a:ext>
            </a:extLst>
          </p:cNvPr>
          <p:cNvSpPr>
            <a:spLocks xmlns:a="http://schemas.openxmlformats.org/drawingml/2006/main" noGrp="1"/>
          </p:cNvSpPr>
          <p:nvPr/>
        </p:nvSpPr>
        <p:spPr>
          <a:xfrm xmlns:a="http://schemas.openxmlformats.org/drawingml/2006/main">
            <a:off x="6762750" y="40957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00A6A6"/>
                </a:solidFill>
              </a:defRPr>
            </a:defPPr>
          </a:lstStyle>
          <a:p xmlns:a="http://schemas.openxmlformats.org/drawingml/2006/main">
            <a:pPr>
              <a:defRPr sz="975" b="1">
                <a:solidFill>
                  <a:srgbClr val="00A6A6"/>
                </a:solidFill>
              </a:defRPr>
            </a:pPr>
            <a:r>
              <a:rPr sz="975" b="1">
                <a:solidFill>
                  <a:srgbClr val="00A6A6"/>
                </a:solidFill>
              </a:rPr>
              <a:t>3</a:t>
            </a:r>
          </a:p>
        </p:txBody>
      </p:sp>
      <p:sp>
        <p:nvSpPr>
          <p:cNvPr id="16" name="">
            <a:extLst xmlns:a="http://schemas.openxmlformats.org/drawingml/2006/main">
              <a:ext uri="{FF2B5EF4-FFF2-40B4-BE49-F238E27FC236}">
                <a16:creationId xmlns:a16="http://schemas.microsoft.com/office/drawing/2014/main" id="{80A31274-9B58-4D7E-A74D-73F28FF6AFA2}"/>
              </a:ext>
            </a:extLst>
          </p:cNvPr>
          <p:cNvSpPr>
            <a:spLocks xmlns:a="http://schemas.openxmlformats.org/drawingml/2006/main" noGrp="1"/>
          </p:cNvSpPr>
          <p:nvPr/>
        </p:nvSpPr>
        <p:spPr>
          <a:xfrm xmlns:a="http://schemas.openxmlformats.org/drawingml/2006/main">
            <a:off x="7143750" y="40767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F2933"/>
                </a:solidFill>
              </a:defRPr>
            </a:defPPr>
          </a:lstStyle>
          <a:p xmlns:a="http://schemas.openxmlformats.org/drawingml/2006/main">
            <a:pPr>
              <a:defRPr sz="1425" b="0">
                <a:solidFill>
                  <a:srgbClr val="1F2933"/>
                </a:solidFill>
              </a:defRPr>
            </a:pPr>
            <a:r>
              <a:rPr sz="1425" b="0">
                <a:solidFill>
                  <a:srgbClr val="1F2933"/>
                </a:solidFill>
              </a:rPr>
              <a:t>Report error by building and peak window</a:t>
            </a:r>
          </a:p>
        </p:txBody>
      </p:sp>
      <p:sp>
        <p:nvSpPr>
          <p:cNvPr id="17" name="">
            <a:extLst xmlns:a="http://schemas.openxmlformats.org/drawingml/2006/main">
              <a:ext uri="{FF2B5EF4-FFF2-40B4-BE49-F238E27FC236}">
                <a16:creationId xmlns:a16="http://schemas.microsoft.com/office/drawing/2014/main" id="{90E10BF7-EFCF-4125-99CC-6536E58AC64B}"/>
              </a:ext>
            </a:extLst>
          </p:cNvPr>
          <p:cNvSpPr>
            <a:spLocks xmlns:a="http://schemas.openxmlformats.org/drawingml/2006/main" noGrp="1"/>
          </p:cNvSpPr>
          <p:nvPr/>
        </p:nvSpPr>
        <p:spPr>
          <a:xfrm xmlns:a="http://schemas.openxmlformats.org/drawingml/2006/main">
            <a:off x="685800" y="5095875"/>
            <a:ext cx="100965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E4A1FCE-EAF1-491D-B430-1EEBB0067E1C}"/>
              </a:ext>
            </a:extLst>
          </p:cNvPr>
          <p:cNvSpPr>
            <a:spLocks xmlns:a="http://schemas.openxmlformats.org/drawingml/2006/main" noGrp="1"/>
          </p:cNvSpPr>
          <p:nvPr/>
        </p:nvSpPr>
        <p:spPr>
          <a:xfrm xmlns:a="http://schemas.openxmlformats.org/drawingml/2006/main">
            <a:off x="685800" y="536257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E05D5D"/>
                </a:solidFill>
              </a:defRPr>
            </a:defPPr>
          </a:lstStyle>
          <a:p xmlns:a="http://schemas.openxmlformats.org/drawingml/2006/main">
            <a:pPr>
              <a:defRPr sz="1275" b="1">
                <a:solidFill>
                  <a:srgbClr val="E05D5D"/>
                </a:solidFill>
              </a:defRPr>
            </a:pPr>
            <a:r>
              <a:rPr sz="1275" b="1">
                <a:solidFill>
                  <a:srgbClr val="E05D5D"/>
                </a:solidFill>
              </a:rPr>
              <a:t>This is a validation protocol, not an accuracy result. The current repository contains no published model score.</a:t>
            </a:r>
          </a:p>
        </p:txBody>
      </p:sp>
      <p:sp>
        <p:nvSpPr>
          <p:cNvPr id="19" name="">
            <a:extLst xmlns:a="http://schemas.openxmlformats.org/drawingml/2006/main">
              <a:ext uri="{FF2B5EF4-FFF2-40B4-BE49-F238E27FC236}">
                <a16:creationId xmlns:a16="http://schemas.microsoft.com/office/drawing/2014/main" id="{973B3F03-9311-4790-8807-8EBDA39B907D}"/>
              </a:ext>
            </a:extLst>
          </p:cNvPr>
          <p:cNvSpPr>
            <a:spLocks xmlns:a="http://schemas.openxmlformats.org/drawingml/2006/main" noGrp="1"/>
          </p:cNvSpPr>
          <p:nvPr/>
        </p:nvSpPr>
        <p:spPr>
          <a:xfrm xmlns:a="http://schemas.openxmlformats.org/drawingml/2006/main">
            <a:off x="685800" y="647700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52606D"/>
                </a:solidFill>
              </a:defRPr>
            </a:defPPr>
          </a:lstStyle>
          <a:p xmlns:a="http://schemas.openxmlformats.org/drawingml/2006/main">
            <a:pPr>
              <a:defRPr sz="825" b="0">
                <a:solidFill>
                  <a:srgbClr val="52606D"/>
                </a:solidFill>
              </a:defRPr>
            </a:pPr>
            <a:r>
              <a:rPr sz="825" b="0">
                <a:solidFill>
                  <a:srgbClr val="52606D"/>
                </a:solidFill>
              </a:rPr>
              <a:t>AI Synergy Hackathon 2026  |  Campus Energy Prototype</a:t>
            </a:r>
          </a:p>
        </p:txBody>
      </p:sp>
      <p:sp>
        <p:nvSpPr>
          <p:cNvPr id="20" name="">
            <a:extLst xmlns:a="http://schemas.openxmlformats.org/drawingml/2006/main">
              <a:ext uri="{FF2B5EF4-FFF2-40B4-BE49-F238E27FC236}">
                <a16:creationId xmlns:a16="http://schemas.microsoft.com/office/drawing/2014/main" id="{F29224DD-9BFB-401C-B3DA-5126CC92A543}"/>
              </a:ext>
            </a:extLst>
          </p:cNvPr>
          <p:cNvSpPr>
            <a:spLocks xmlns:a="http://schemas.openxmlformats.org/drawingml/2006/main" noGrp="1"/>
          </p:cNvSpPr>
          <p:nvPr/>
        </p:nvSpPr>
        <p:spPr>
          <a:xfrm xmlns:a="http://schemas.openxmlformats.org/drawingml/2006/main">
            <a:off x="10763250" y="64770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52606D"/>
                </a:solidFill>
              </a:defRPr>
            </a:defPPr>
          </a:lstStyle>
          <a:p xmlns:a="http://schemas.openxmlformats.org/drawingml/2006/main">
            <a:pPr>
              <a:defRPr sz="825" b="0">
                <a:solidFill>
                  <a:srgbClr val="52606D"/>
                </a:solidFill>
              </a:defRPr>
            </a:pPr>
            <a:r>
              <a:rPr sz="825" b="0">
                <a:solidFill>
                  <a:srgbClr val="52606D"/>
                </a:solidFill>
              </a:rPr>
              <a:t>6 / 8</a:t>
            </a:r>
          </a:p>
        </p:txBody>
      </p:sp>
    </p:spTree>
    <p:extLst>
      <p:ext uri="{BB962C8B-B14F-4D97-AF65-F5344CB8AC3E}">
        <p14:creationId xmlns:p14="http://schemas.microsoft.com/office/powerpoint/2010/main" val="1028954209"/>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5C438E5-6D6D-42AC-BE36-338B569A3C36}"/>
              </a:ext>
            </a:extLst>
          </p:cNvPr>
          <p:cNvSpPr>
            <a:spLocks xmlns:a="http://schemas.openxmlformats.org/drawingml/2006/main" noGrp="1"/>
          </p:cNvSpPr>
          <p:nvPr/>
        </p:nvSpPr>
        <p:spPr>
          <a:xfrm xmlns:a="http://schemas.openxmlformats.org/drawingml/2006/main">
            <a:off x="685800" y="4000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00A6A6"/>
                </a:solidFill>
              </a:defRPr>
            </a:defPPr>
          </a:lstStyle>
          <a:p xmlns:a="http://schemas.openxmlformats.org/drawingml/2006/main">
            <a:pPr>
              <a:defRPr sz="1050" b="1">
                <a:solidFill>
                  <a:srgbClr val="00A6A6"/>
                </a:solidFill>
              </a:defRPr>
            </a:pPr>
            <a:r>
              <a:rPr sz="1050" b="1">
                <a:solidFill>
                  <a:srgbClr val="00A6A6"/>
                </a:solidFill>
              </a:rPr>
              <a:t>07</a:t>
            </a:r>
          </a:p>
        </p:txBody>
      </p:sp>
      <p:sp>
        <p:nvSpPr>
          <p:cNvPr id="2" name="">
            <a:extLst xmlns:a="http://schemas.openxmlformats.org/drawingml/2006/main">
              <a:ext uri="{FF2B5EF4-FFF2-40B4-BE49-F238E27FC236}">
                <a16:creationId xmlns:a16="http://schemas.microsoft.com/office/drawing/2014/main" id="{BB5B55D7-64E8-4909-A90F-174B1D8AF3C1}"/>
              </a:ext>
            </a:extLst>
          </p:cNvPr>
          <p:cNvSpPr>
            <a:spLocks xmlns:a="http://schemas.openxmlformats.org/drawingml/2006/main" noGrp="1"/>
          </p:cNvSpPr>
          <p:nvPr/>
        </p:nvSpPr>
        <p:spPr>
          <a:xfrm xmlns:a="http://schemas.openxmlformats.org/drawingml/2006/main">
            <a:off x="685800" y="714375"/>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02A43"/>
                </a:solidFill>
              </a:defRPr>
            </a:defPPr>
          </a:lstStyle>
          <a:p xmlns:a="http://schemas.openxmlformats.org/drawingml/2006/main">
            <a:pPr>
              <a:defRPr sz="2400" b="1">
                <a:solidFill>
                  <a:srgbClr val="102A43"/>
                </a:solidFill>
              </a:defRPr>
            </a:pPr>
            <a:r>
              <a:rPr sz="2400" b="1">
                <a:solidFill>
                  <a:srgbClr val="102A43"/>
                </a:solidFill>
              </a:rPr>
              <a:t>Visibility supports better peak decisions before controls are automated</a:t>
            </a:r>
          </a:p>
        </p:txBody>
      </p:sp>
      <p:sp>
        <p:nvSpPr>
          <p:cNvPr id="3" name="">
            <a:extLst xmlns:a="http://schemas.openxmlformats.org/drawingml/2006/main">
              <a:ext uri="{FF2B5EF4-FFF2-40B4-BE49-F238E27FC236}">
                <a16:creationId xmlns:a16="http://schemas.microsoft.com/office/drawing/2014/main" id="{BC2448E3-B730-42D3-943B-80F166D1C4C0}"/>
              </a:ext>
            </a:extLst>
          </p:cNvPr>
          <p:cNvSpPr>
            <a:spLocks xmlns:a="http://schemas.openxmlformats.org/drawingml/2006/main" noGrp="1"/>
          </p:cNvSpPr>
          <p:nvPr/>
        </p:nvSpPr>
        <p:spPr>
          <a:xfrm xmlns:a="http://schemas.openxmlformats.org/drawingml/2006/main">
            <a:off x="685800" y="12668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2606D"/>
                </a:solidFill>
              </a:defRPr>
            </a:defPPr>
          </a:lstStyle>
          <a:p xmlns:a="http://schemas.openxmlformats.org/drawingml/2006/main">
            <a:pPr>
              <a:defRPr sz="1200" b="0">
                <a:solidFill>
                  <a:srgbClr val="52606D"/>
                </a:solidFill>
              </a:defRPr>
            </a:pPr>
            <a:r>
              <a:rPr sz="1200" b="0">
                <a:solidFill>
                  <a:srgbClr val="52606D"/>
                </a:solidFill>
              </a:rPr>
              <a:t>The immediate value is a defensible 4–8 PM building view. Any scheduling or control action remains subject to facilities approval.</a:t>
            </a:r>
          </a:p>
        </p:txBody>
      </p:sp>
      <p:sp>
        <p:nvSpPr>
          <p:cNvPr id="4" name="">
            <a:extLst xmlns:a="http://schemas.openxmlformats.org/drawingml/2006/main">
              <a:ext uri="{FF2B5EF4-FFF2-40B4-BE49-F238E27FC236}">
                <a16:creationId xmlns:a16="http://schemas.microsoft.com/office/drawing/2014/main" id="{326E5F64-F7FB-4C49-8525-201F90F47C9F}"/>
              </a:ext>
            </a:extLst>
          </p:cNvPr>
          <p:cNvSpPr>
            <a:spLocks xmlns:a="http://schemas.openxmlformats.org/drawingml/2006/main" noGrp="1"/>
          </p:cNvSpPr>
          <p:nvPr/>
        </p:nvSpPr>
        <p:spPr>
          <a:xfrm xmlns:a="http://schemas.openxmlformats.org/drawingml/2006/main">
            <a:off x="685800" y="1695450"/>
            <a:ext cx="108204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3C6076C-A4AA-4F58-8245-69714FDE3988}"/>
              </a:ext>
            </a:extLst>
          </p:cNvPr>
          <p:cNvSpPr>
            <a:spLocks xmlns:a="http://schemas.openxmlformats.org/drawingml/2006/main" noGrp="1"/>
          </p:cNvSpPr>
          <p:nvPr/>
        </p:nvSpPr>
        <p:spPr>
          <a:xfrm xmlns:a="http://schemas.openxmlformats.org/drawingml/2006/main">
            <a:off x="685800" y="24765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02A43"/>
                </a:solidFill>
              </a:defRPr>
            </a:defPPr>
          </a:lstStyle>
          <a:p xmlns:a="http://schemas.openxmlformats.org/drawingml/2006/main">
            <a:pPr>
              <a:defRPr sz="1725" b="1">
                <a:solidFill>
                  <a:srgbClr val="102A43"/>
                </a:solidFill>
              </a:defRPr>
            </a:pPr>
            <a:r>
              <a:rPr sz="1725" b="1">
                <a:solidFill>
                  <a:srgbClr val="102A43"/>
                </a:solidFill>
              </a:rPr>
              <a:t>Operations</a:t>
            </a:r>
          </a:p>
        </p:txBody>
      </p:sp>
      <p:sp>
        <p:nvSpPr>
          <p:cNvPr id="6" name="">
            <a:extLst xmlns:a="http://schemas.openxmlformats.org/drawingml/2006/main">
              <a:ext uri="{FF2B5EF4-FFF2-40B4-BE49-F238E27FC236}">
                <a16:creationId xmlns:a16="http://schemas.microsoft.com/office/drawing/2014/main" id="{8386DEDB-28CF-482D-BCC8-2B2CDB5FEFCA}"/>
              </a:ext>
            </a:extLst>
          </p:cNvPr>
          <p:cNvSpPr>
            <a:spLocks xmlns:a="http://schemas.openxmlformats.org/drawingml/2006/main" noGrp="1"/>
          </p:cNvSpPr>
          <p:nvPr/>
        </p:nvSpPr>
        <p:spPr>
          <a:xfrm xmlns:a="http://schemas.openxmlformats.org/drawingml/2006/main">
            <a:off x="685800" y="2924175"/>
            <a:ext cx="2476500" cy="3810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6AC9AF3-77D1-4919-A670-668C2840F3B3}"/>
              </a:ext>
            </a:extLst>
          </p:cNvPr>
          <p:cNvSpPr>
            <a:spLocks xmlns:a="http://schemas.openxmlformats.org/drawingml/2006/main" noGrp="1"/>
          </p:cNvSpPr>
          <p:nvPr/>
        </p:nvSpPr>
        <p:spPr>
          <a:xfrm xmlns:a="http://schemas.openxmlformats.org/drawingml/2006/main">
            <a:off x="685800" y="3190875"/>
            <a:ext cx="276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F2933"/>
                </a:solidFill>
              </a:defRPr>
            </a:defPPr>
          </a:lstStyle>
          <a:p xmlns:a="http://schemas.openxmlformats.org/drawingml/2006/main">
            <a:pPr>
              <a:defRPr sz="1575" b="0">
                <a:solidFill>
                  <a:srgbClr val="1F2933"/>
                </a:solidFill>
              </a:defRPr>
            </a:pPr>
            <a:r>
              <a:rPr sz="1575" b="0">
                <a:solidFill>
                  <a:srgbClr val="1F2933"/>
                </a:solidFill>
              </a:rPr>
              <a:t>Locate buildings that likely drive the evening peak</a:t>
            </a:r>
          </a:p>
        </p:txBody>
      </p:sp>
      <p:sp>
        <p:nvSpPr>
          <p:cNvPr id="8" name="">
            <a:extLst xmlns:a="http://schemas.openxmlformats.org/drawingml/2006/main">
              <a:ext uri="{FF2B5EF4-FFF2-40B4-BE49-F238E27FC236}">
                <a16:creationId xmlns:a16="http://schemas.microsoft.com/office/drawing/2014/main" id="{F06D6A1A-0C8E-4074-BC8F-E7E6D1F3863F}"/>
              </a:ext>
            </a:extLst>
          </p:cNvPr>
          <p:cNvSpPr>
            <a:spLocks xmlns:a="http://schemas.openxmlformats.org/drawingml/2006/main" noGrp="1"/>
          </p:cNvSpPr>
          <p:nvPr/>
        </p:nvSpPr>
        <p:spPr>
          <a:xfrm xmlns:a="http://schemas.openxmlformats.org/drawingml/2006/main">
            <a:off x="4210050" y="24765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02A43"/>
                </a:solidFill>
              </a:defRPr>
            </a:defPPr>
          </a:lstStyle>
          <a:p xmlns:a="http://schemas.openxmlformats.org/drawingml/2006/main">
            <a:pPr>
              <a:defRPr sz="1725" b="1">
                <a:solidFill>
                  <a:srgbClr val="102A43"/>
                </a:solidFill>
              </a:defRPr>
            </a:pPr>
            <a:r>
              <a:rPr sz="1725" b="1">
                <a:solidFill>
                  <a:srgbClr val="102A43"/>
                </a:solidFill>
              </a:rPr>
              <a:t>Planning</a:t>
            </a:r>
          </a:p>
        </p:txBody>
      </p:sp>
      <p:sp>
        <p:nvSpPr>
          <p:cNvPr id="9" name="">
            <a:extLst xmlns:a="http://schemas.openxmlformats.org/drawingml/2006/main">
              <a:ext uri="{FF2B5EF4-FFF2-40B4-BE49-F238E27FC236}">
                <a16:creationId xmlns:a16="http://schemas.microsoft.com/office/drawing/2014/main" id="{92BC6B43-3A43-4300-80F0-9FF324F51DC6}"/>
              </a:ext>
            </a:extLst>
          </p:cNvPr>
          <p:cNvSpPr>
            <a:spLocks xmlns:a="http://schemas.openxmlformats.org/drawingml/2006/main" noGrp="1"/>
          </p:cNvSpPr>
          <p:nvPr/>
        </p:nvSpPr>
        <p:spPr>
          <a:xfrm xmlns:a="http://schemas.openxmlformats.org/drawingml/2006/main">
            <a:off x="4210050" y="2924175"/>
            <a:ext cx="2476500" cy="3810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C071209-875F-4F36-85D8-0B0A244FA390}"/>
              </a:ext>
            </a:extLst>
          </p:cNvPr>
          <p:cNvSpPr>
            <a:spLocks xmlns:a="http://schemas.openxmlformats.org/drawingml/2006/main" noGrp="1"/>
          </p:cNvSpPr>
          <p:nvPr/>
        </p:nvSpPr>
        <p:spPr>
          <a:xfrm xmlns:a="http://schemas.openxmlformats.org/drawingml/2006/main">
            <a:off x="4210050" y="3190875"/>
            <a:ext cx="276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F2933"/>
                </a:solidFill>
              </a:defRPr>
            </a:defPPr>
          </a:lstStyle>
          <a:p xmlns:a="http://schemas.openxmlformats.org/drawingml/2006/main">
            <a:pPr>
              <a:defRPr sz="1575" b="0">
                <a:solidFill>
                  <a:srgbClr val="1F2933"/>
                </a:solidFill>
              </a:defRPr>
            </a:pPr>
            <a:r>
              <a:rPr sz="1575" b="0">
                <a:solidFill>
                  <a:srgbClr val="1F2933"/>
                </a:solidFill>
              </a:rPr>
              <a:t>Prioritize audits, schedules, and metering upgrades</a:t>
            </a:r>
          </a:p>
        </p:txBody>
      </p:sp>
      <p:sp>
        <p:nvSpPr>
          <p:cNvPr id="11" name="">
            <a:extLst xmlns:a="http://schemas.openxmlformats.org/drawingml/2006/main">
              <a:ext uri="{FF2B5EF4-FFF2-40B4-BE49-F238E27FC236}">
                <a16:creationId xmlns:a16="http://schemas.microsoft.com/office/drawing/2014/main" id="{C96A109C-0CD1-40D6-992C-336700B01128}"/>
              </a:ext>
            </a:extLst>
          </p:cNvPr>
          <p:cNvSpPr>
            <a:spLocks xmlns:a="http://schemas.openxmlformats.org/drawingml/2006/main" noGrp="1"/>
          </p:cNvSpPr>
          <p:nvPr/>
        </p:nvSpPr>
        <p:spPr>
          <a:xfrm xmlns:a="http://schemas.openxmlformats.org/drawingml/2006/main">
            <a:off x="7734300" y="24765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02A43"/>
                </a:solidFill>
              </a:defRPr>
            </a:defPPr>
          </a:lstStyle>
          <a:p xmlns:a="http://schemas.openxmlformats.org/drawingml/2006/main">
            <a:pPr>
              <a:defRPr sz="1725" b="1">
                <a:solidFill>
                  <a:srgbClr val="102A43"/>
                </a:solidFill>
              </a:defRPr>
            </a:pPr>
            <a:r>
              <a:rPr sz="1725" b="1">
                <a:solidFill>
                  <a:srgbClr val="102A43"/>
                </a:solidFill>
              </a:rPr>
              <a:t>Future controls</a:t>
            </a:r>
          </a:p>
        </p:txBody>
      </p:sp>
      <p:sp>
        <p:nvSpPr>
          <p:cNvPr id="12" name="">
            <a:extLst xmlns:a="http://schemas.openxmlformats.org/drawingml/2006/main">
              <a:ext uri="{FF2B5EF4-FFF2-40B4-BE49-F238E27FC236}">
                <a16:creationId xmlns:a16="http://schemas.microsoft.com/office/drawing/2014/main" id="{C9864F2C-E480-4E2D-BBF4-AE28797A7096}"/>
              </a:ext>
            </a:extLst>
          </p:cNvPr>
          <p:cNvSpPr>
            <a:spLocks xmlns:a="http://schemas.openxmlformats.org/drawingml/2006/main" noGrp="1"/>
          </p:cNvSpPr>
          <p:nvPr/>
        </p:nvSpPr>
        <p:spPr>
          <a:xfrm xmlns:a="http://schemas.openxmlformats.org/drawingml/2006/main">
            <a:off x="7734300" y="2924175"/>
            <a:ext cx="2476500" cy="38100"/>
          </a:xfrm>
          <a:prstGeom xmlns:a="http://schemas.openxmlformats.org/drawingml/2006/main" prst="rect">
            <a:avLst/>
          </a:prstGeom>
          <a:solidFill xmlns:a="http://schemas.openxmlformats.org/drawingml/2006/main">
            <a:srgbClr val="F2B1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6166141-A967-4F18-B89B-84FE4E305313}"/>
              </a:ext>
            </a:extLst>
          </p:cNvPr>
          <p:cNvSpPr>
            <a:spLocks xmlns:a="http://schemas.openxmlformats.org/drawingml/2006/main" noGrp="1"/>
          </p:cNvSpPr>
          <p:nvPr/>
        </p:nvSpPr>
        <p:spPr>
          <a:xfrm xmlns:a="http://schemas.openxmlformats.org/drawingml/2006/main">
            <a:off x="7734300" y="3190875"/>
            <a:ext cx="276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F2933"/>
                </a:solidFill>
              </a:defRPr>
            </a:defPPr>
          </a:lstStyle>
          <a:p xmlns:a="http://schemas.openxmlformats.org/drawingml/2006/main">
            <a:pPr>
              <a:defRPr sz="1575" b="0">
                <a:solidFill>
                  <a:srgbClr val="1F2933"/>
                </a:solidFill>
              </a:defRPr>
            </a:pPr>
            <a:r>
              <a:rPr sz="1575" b="0">
                <a:solidFill>
                  <a:srgbClr val="1F2933"/>
                </a:solidFill>
              </a:rPr>
              <a:t>Test load shifting only after validation and human review</a:t>
            </a:r>
          </a:p>
        </p:txBody>
      </p:sp>
      <p:sp>
        <p:nvSpPr>
          <p:cNvPr id="14" name="">
            <a:extLst xmlns:a="http://schemas.openxmlformats.org/drawingml/2006/main">
              <a:ext uri="{FF2B5EF4-FFF2-40B4-BE49-F238E27FC236}">
                <a16:creationId xmlns:a16="http://schemas.microsoft.com/office/drawing/2014/main" id="{60F4401B-2361-4F02-8B88-BD11607FC68A}"/>
              </a:ext>
            </a:extLst>
          </p:cNvPr>
          <p:cNvSpPr>
            <a:spLocks xmlns:a="http://schemas.openxmlformats.org/drawingml/2006/main" noGrp="1"/>
          </p:cNvSpPr>
          <p:nvPr/>
        </p:nvSpPr>
        <p:spPr>
          <a:xfrm xmlns:a="http://schemas.openxmlformats.org/drawingml/2006/main">
            <a:off x="685800" y="52387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E05D5D"/>
                </a:solidFill>
              </a:defRPr>
            </a:defPPr>
          </a:lstStyle>
          <a:p xmlns:a="http://schemas.openxmlformats.org/drawingml/2006/main">
            <a:pPr>
              <a:defRPr sz="1350" b="1">
                <a:solidFill>
                  <a:srgbClr val="E05D5D"/>
                </a:solidFill>
              </a:defRPr>
            </a:pPr>
            <a:r>
              <a:rPr sz="1350" b="1">
                <a:solidFill>
                  <a:srgbClr val="E05D5D"/>
                </a:solidFill>
              </a:rPr>
              <a:t>The prototype does not claim energy savings, automated load shedding, or a deployed campus control system.</a:t>
            </a:r>
          </a:p>
        </p:txBody>
      </p:sp>
      <p:sp>
        <p:nvSpPr>
          <p:cNvPr id="15" name="">
            <a:extLst xmlns:a="http://schemas.openxmlformats.org/drawingml/2006/main">
              <a:ext uri="{FF2B5EF4-FFF2-40B4-BE49-F238E27FC236}">
                <a16:creationId xmlns:a16="http://schemas.microsoft.com/office/drawing/2014/main" id="{DBD783FD-1C5C-4DED-B03F-564BAEE94787}"/>
              </a:ext>
            </a:extLst>
          </p:cNvPr>
          <p:cNvSpPr>
            <a:spLocks xmlns:a="http://schemas.openxmlformats.org/drawingml/2006/main" noGrp="1"/>
          </p:cNvSpPr>
          <p:nvPr/>
        </p:nvSpPr>
        <p:spPr>
          <a:xfrm xmlns:a="http://schemas.openxmlformats.org/drawingml/2006/main">
            <a:off x="685800" y="647700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52606D"/>
                </a:solidFill>
              </a:defRPr>
            </a:defPPr>
          </a:lstStyle>
          <a:p xmlns:a="http://schemas.openxmlformats.org/drawingml/2006/main">
            <a:pPr>
              <a:defRPr sz="825" b="0">
                <a:solidFill>
                  <a:srgbClr val="52606D"/>
                </a:solidFill>
              </a:defRPr>
            </a:pPr>
            <a:r>
              <a:rPr sz="825" b="0">
                <a:solidFill>
                  <a:srgbClr val="52606D"/>
                </a:solidFill>
              </a:rPr>
              <a:t>AI Synergy Hackathon 2026  |  Campus Energy Prototype</a:t>
            </a:r>
          </a:p>
        </p:txBody>
      </p:sp>
      <p:sp>
        <p:nvSpPr>
          <p:cNvPr id="16" name="">
            <a:extLst xmlns:a="http://schemas.openxmlformats.org/drawingml/2006/main">
              <a:ext uri="{FF2B5EF4-FFF2-40B4-BE49-F238E27FC236}">
                <a16:creationId xmlns:a16="http://schemas.microsoft.com/office/drawing/2014/main" id="{B7B04C7F-7DCB-4FC1-A9CF-F70D51436BBB}"/>
              </a:ext>
            </a:extLst>
          </p:cNvPr>
          <p:cNvSpPr>
            <a:spLocks xmlns:a="http://schemas.openxmlformats.org/drawingml/2006/main" noGrp="1"/>
          </p:cNvSpPr>
          <p:nvPr/>
        </p:nvSpPr>
        <p:spPr>
          <a:xfrm xmlns:a="http://schemas.openxmlformats.org/drawingml/2006/main">
            <a:off x="10763250" y="64770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52606D"/>
                </a:solidFill>
              </a:defRPr>
            </a:defPPr>
          </a:lstStyle>
          <a:p xmlns:a="http://schemas.openxmlformats.org/drawingml/2006/main">
            <a:pPr>
              <a:defRPr sz="825" b="0">
                <a:solidFill>
                  <a:srgbClr val="52606D"/>
                </a:solidFill>
              </a:defRPr>
            </a:pPr>
            <a:r>
              <a:rPr sz="825" b="0">
                <a:solidFill>
                  <a:srgbClr val="52606D"/>
                </a:solidFill>
              </a:rPr>
              <a:t>7 / 8</a:t>
            </a:r>
          </a:p>
        </p:txBody>
      </p:sp>
    </p:spTree>
    <p:extLst>
      <p:ext uri="{BB962C8B-B14F-4D97-AF65-F5344CB8AC3E}">
        <p14:creationId xmlns:p14="http://schemas.microsoft.com/office/powerpoint/2010/main" val="1533320060"/>
      </p:ext>
    </p:extLst>
  </p:cSld>
</p:sld>
</file>

<file path=ppt/slides/slide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386EB62-C290-4FAB-B314-D7364C28A540}"/>
              </a:ext>
            </a:extLst>
          </p:cNvPr>
          <p:cNvSpPr>
            <a:spLocks xmlns:a="http://schemas.openxmlformats.org/drawingml/2006/main" noGrp="1"/>
          </p:cNvSpPr>
          <p:nvPr/>
        </p:nvSpPr>
        <p:spPr>
          <a:xfrm xmlns:a="http://schemas.openxmlformats.org/drawingml/2006/main">
            <a:off x="685800" y="6858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FFFFFF"/>
                </a:solidFill>
              </a:defRPr>
            </a:defPPr>
          </a:lstStyle>
          <a:p xmlns:a="http://schemas.openxmlformats.org/drawingml/2006/main">
            <a:pPr>
              <a:defRPr sz="2550" b="1">
                <a:solidFill>
                  <a:srgbClr val="FFFFFF"/>
                </a:solidFill>
              </a:defRPr>
            </a:pPr>
            <a:r>
              <a:rPr sz="2550" b="1">
                <a:solidFill>
                  <a:srgbClr val="FFFFFF"/>
                </a:solidFill>
              </a:rPr>
              <a:t>Next steps</a:t>
            </a:r>
          </a:p>
        </p:txBody>
      </p:sp>
      <p:sp>
        <p:nvSpPr>
          <p:cNvPr id="2" name="">
            <a:extLst xmlns:a="http://schemas.openxmlformats.org/drawingml/2006/main">
              <a:ext uri="{FF2B5EF4-FFF2-40B4-BE49-F238E27FC236}">
                <a16:creationId xmlns:a16="http://schemas.microsoft.com/office/drawing/2014/main" id="{CE72C252-C8FA-427B-AF2B-F30C72310306}"/>
              </a:ext>
            </a:extLst>
          </p:cNvPr>
          <p:cNvSpPr>
            <a:spLocks xmlns:a="http://schemas.openxmlformats.org/drawingml/2006/main" noGrp="1"/>
          </p:cNvSpPr>
          <p:nvPr/>
        </p:nvSpPr>
        <p:spPr>
          <a:xfrm xmlns:a="http://schemas.openxmlformats.org/drawingml/2006/main">
            <a:off x="685800" y="120015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D9E2EC"/>
                </a:solidFill>
              </a:defRPr>
            </a:defPPr>
          </a:lstStyle>
          <a:p xmlns:a="http://schemas.openxmlformats.org/drawingml/2006/main">
            <a:pPr>
              <a:defRPr sz="1500" b="0">
                <a:solidFill>
                  <a:srgbClr val="D9E2EC"/>
                </a:solidFill>
              </a:defRPr>
            </a:pPr>
            <a:r>
              <a:rPr sz="1500" b="0">
                <a:solidFill>
                  <a:srgbClr val="D9E2EC"/>
                </a:solidFill>
              </a:rPr>
              <a:t>Move from a synthetic test bed to a validated campus pilot with real meter and billing records</a:t>
            </a:r>
          </a:p>
        </p:txBody>
      </p:sp>
      <p:sp>
        <p:nvSpPr>
          <p:cNvPr id="3" name="">
            <a:extLst xmlns:a="http://schemas.openxmlformats.org/drawingml/2006/main">
              <a:ext uri="{FF2B5EF4-FFF2-40B4-BE49-F238E27FC236}">
                <a16:creationId xmlns:a16="http://schemas.microsoft.com/office/drawing/2014/main" id="{19347D74-5328-4154-9138-ED7DA32246D5}"/>
              </a:ext>
            </a:extLst>
          </p:cNvPr>
          <p:cNvSpPr>
            <a:spLocks xmlns:a="http://schemas.openxmlformats.org/drawingml/2006/main" noGrp="1"/>
          </p:cNvSpPr>
          <p:nvPr/>
        </p:nvSpPr>
        <p:spPr>
          <a:xfrm xmlns:a="http://schemas.openxmlformats.org/drawingml/2006/main">
            <a:off x="685800" y="23050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00A6A6"/>
                </a:solidFill>
              </a:defRPr>
            </a:defPPr>
          </a:lstStyle>
          <a:p xmlns:a="http://schemas.openxmlformats.org/drawingml/2006/main">
            <a:pPr>
              <a:defRPr sz="1350" b="1">
                <a:solidFill>
                  <a:srgbClr val="00A6A6"/>
                </a:solidFill>
              </a:defRPr>
            </a:pPr>
            <a:r>
              <a:rPr sz="1350" b="1">
                <a:solidFill>
                  <a:srgbClr val="00A6A6"/>
                </a:solidFill>
              </a:rPr>
              <a:t>01</a:t>
            </a:r>
          </a:p>
        </p:txBody>
      </p:sp>
      <p:sp>
        <p:nvSpPr>
          <p:cNvPr id="4" name="">
            <a:extLst xmlns:a="http://schemas.openxmlformats.org/drawingml/2006/main">
              <a:ext uri="{FF2B5EF4-FFF2-40B4-BE49-F238E27FC236}">
                <a16:creationId xmlns:a16="http://schemas.microsoft.com/office/drawing/2014/main" id="{C7BC6664-945C-49D7-B8EE-BF67988ECD69}"/>
              </a:ext>
            </a:extLst>
          </p:cNvPr>
          <p:cNvSpPr>
            <a:spLocks xmlns:a="http://schemas.openxmlformats.org/drawingml/2006/main" noGrp="1"/>
          </p:cNvSpPr>
          <p:nvPr/>
        </p:nvSpPr>
        <p:spPr>
          <a:xfrm xmlns:a="http://schemas.openxmlformats.org/drawingml/2006/main">
            <a:off x="142875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FFFFFF"/>
                </a:solidFill>
              </a:defRPr>
            </a:defPPr>
          </a:lstStyle>
          <a:p xmlns:a="http://schemas.openxmlformats.org/drawingml/2006/main">
            <a:pPr>
              <a:defRPr sz="1800" b="1">
                <a:solidFill>
                  <a:srgbClr val="FFFFFF"/>
                </a:solidFill>
              </a:defRPr>
            </a:pPr>
            <a:r>
              <a:rPr sz="1800" b="1">
                <a:solidFill>
                  <a:srgbClr val="FFFFFF"/>
                </a:solidFill>
              </a:rPr>
              <a:t>Pilot inputs</a:t>
            </a:r>
          </a:p>
        </p:txBody>
      </p:sp>
      <p:sp>
        <p:nvSpPr>
          <p:cNvPr id="5" name="">
            <a:extLst xmlns:a="http://schemas.openxmlformats.org/drawingml/2006/main">
              <a:ext uri="{FF2B5EF4-FFF2-40B4-BE49-F238E27FC236}">
                <a16:creationId xmlns:a16="http://schemas.microsoft.com/office/drawing/2014/main" id="{90CA1483-49B6-43BD-A246-C1183DFC589E}"/>
              </a:ext>
            </a:extLst>
          </p:cNvPr>
          <p:cNvSpPr>
            <a:spLocks xmlns:a="http://schemas.openxmlformats.org/drawingml/2006/main" noGrp="1"/>
          </p:cNvSpPr>
          <p:nvPr/>
        </p:nvSpPr>
        <p:spPr>
          <a:xfrm xmlns:a="http://schemas.openxmlformats.org/drawingml/2006/main">
            <a:off x="3810000" y="2305050"/>
            <a:ext cx="619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D9E2EC"/>
                </a:solidFill>
              </a:defRPr>
            </a:defPPr>
          </a:lstStyle>
          <a:p xmlns:a="http://schemas.openxmlformats.org/drawingml/2006/main">
            <a:pPr>
              <a:defRPr sz="1575" b="0">
                <a:solidFill>
                  <a:srgbClr val="D9E2EC"/>
                </a:solidFill>
              </a:defRPr>
            </a:pPr>
            <a:r>
              <a:rPr sz="1575" b="0">
                <a:solidFill>
                  <a:srgbClr val="D9E2EC"/>
                </a:solidFill>
              </a:rPr>
              <a:t>Secure interval data, bills, and building metadata</a:t>
            </a:r>
          </a:p>
        </p:txBody>
      </p:sp>
      <p:sp>
        <p:nvSpPr>
          <p:cNvPr id="6" name="">
            <a:extLst xmlns:a="http://schemas.openxmlformats.org/drawingml/2006/main">
              <a:ext uri="{FF2B5EF4-FFF2-40B4-BE49-F238E27FC236}">
                <a16:creationId xmlns:a16="http://schemas.microsoft.com/office/drawing/2014/main" id="{A6990CD5-1AC0-4A96-84C9-F935182C0E8B}"/>
              </a:ext>
            </a:extLst>
          </p:cNvPr>
          <p:cNvSpPr>
            <a:spLocks xmlns:a="http://schemas.openxmlformats.org/drawingml/2006/main" noGrp="1"/>
          </p:cNvSpPr>
          <p:nvPr/>
        </p:nvSpPr>
        <p:spPr>
          <a:xfrm xmlns:a="http://schemas.openxmlformats.org/drawingml/2006/main">
            <a:off x="1428750" y="2952750"/>
            <a:ext cx="8572500" cy="19050"/>
          </a:xfrm>
          <a:prstGeom xmlns:a="http://schemas.openxmlformats.org/drawingml/2006/main" prst="rect">
            <a:avLst/>
          </a:prstGeom>
          <a:solidFill xmlns:a="http://schemas.openxmlformats.org/drawingml/2006/main">
            <a:srgbClr val="294B5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470CC77-D422-4628-9131-C428938D26C2}"/>
              </a:ext>
            </a:extLst>
          </p:cNvPr>
          <p:cNvSpPr>
            <a:spLocks xmlns:a="http://schemas.openxmlformats.org/drawingml/2006/main" noGrp="1"/>
          </p:cNvSpPr>
          <p:nvPr/>
        </p:nvSpPr>
        <p:spPr>
          <a:xfrm xmlns:a="http://schemas.openxmlformats.org/drawingml/2006/main">
            <a:off x="685800" y="330517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00A6A6"/>
                </a:solidFill>
              </a:defRPr>
            </a:defPPr>
          </a:lstStyle>
          <a:p xmlns:a="http://schemas.openxmlformats.org/drawingml/2006/main">
            <a:pPr>
              <a:defRPr sz="1350" b="1">
                <a:solidFill>
                  <a:srgbClr val="00A6A6"/>
                </a:solidFill>
              </a:defRPr>
            </a:pPr>
            <a:r>
              <a:rPr sz="1350" b="1">
                <a:solidFill>
                  <a:srgbClr val="00A6A6"/>
                </a:solidFill>
              </a:rPr>
              <a:t>02</a:t>
            </a:r>
          </a:p>
        </p:txBody>
      </p:sp>
      <p:sp>
        <p:nvSpPr>
          <p:cNvPr id="8" name="">
            <a:extLst xmlns:a="http://schemas.openxmlformats.org/drawingml/2006/main">
              <a:ext uri="{FF2B5EF4-FFF2-40B4-BE49-F238E27FC236}">
                <a16:creationId xmlns:a16="http://schemas.microsoft.com/office/drawing/2014/main" id="{93E51E35-E1BC-41E1-8D6A-2A0B211F840E}"/>
              </a:ext>
            </a:extLst>
          </p:cNvPr>
          <p:cNvSpPr>
            <a:spLocks xmlns:a="http://schemas.openxmlformats.org/drawingml/2006/main" noGrp="1"/>
          </p:cNvSpPr>
          <p:nvPr/>
        </p:nvSpPr>
        <p:spPr>
          <a:xfrm xmlns:a="http://schemas.openxmlformats.org/drawingml/2006/main">
            <a:off x="1428750" y="33051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FFFFFF"/>
                </a:solidFill>
              </a:defRPr>
            </a:defPPr>
          </a:lstStyle>
          <a:p xmlns:a="http://schemas.openxmlformats.org/drawingml/2006/main">
            <a:pPr>
              <a:defRPr sz="1800" b="1">
                <a:solidFill>
                  <a:srgbClr val="FFFFFF"/>
                </a:solidFill>
              </a:defRPr>
            </a:pPr>
            <a:r>
              <a:rPr sz="1800" b="1">
                <a:solidFill>
                  <a:srgbClr val="FFFFFF"/>
                </a:solidFill>
              </a:rPr>
              <a:t>Model validation</a:t>
            </a:r>
          </a:p>
        </p:txBody>
      </p:sp>
      <p:sp>
        <p:nvSpPr>
          <p:cNvPr id="9" name="">
            <a:extLst xmlns:a="http://schemas.openxmlformats.org/drawingml/2006/main">
              <a:ext uri="{FF2B5EF4-FFF2-40B4-BE49-F238E27FC236}">
                <a16:creationId xmlns:a16="http://schemas.microsoft.com/office/drawing/2014/main" id="{EE5EE833-682D-4639-ABC7-2429BEA80E97}"/>
              </a:ext>
            </a:extLst>
          </p:cNvPr>
          <p:cNvSpPr>
            <a:spLocks xmlns:a="http://schemas.openxmlformats.org/drawingml/2006/main" noGrp="1"/>
          </p:cNvSpPr>
          <p:nvPr/>
        </p:nvSpPr>
        <p:spPr>
          <a:xfrm xmlns:a="http://schemas.openxmlformats.org/drawingml/2006/main">
            <a:off x="3810000" y="3305175"/>
            <a:ext cx="619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D9E2EC"/>
                </a:solidFill>
              </a:defRPr>
            </a:defPPr>
          </a:lstStyle>
          <a:p xmlns:a="http://schemas.openxmlformats.org/drawingml/2006/main">
            <a:pPr>
              <a:defRPr sz="1575" b="0">
                <a:solidFill>
                  <a:srgbClr val="D9E2EC"/>
                </a:solidFill>
              </a:defRPr>
            </a:pPr>
            <a:r>
              <a:rPr sz="1575" b="0">
                <a:solidFill>
                  <a:srgbClr val="D9E2EC"/>
                </a:solidFill>
              </a:rPr>
              <a:t>Run held-out interval tests and billing reconciliation</a:t>
            </a:r>
          </a:p>
        </p:txBody>
      </p:sp>
      <p:sp>
        <p:nvSpPr>
          <p:cNvPr id="10" name="">
            <a:extLst xmlns:a="http://schemas.openxmlformats.org/drawingml/2006/main">
              <a:ext uri="{FF2B5EF4-FFF2-40B4-BE49-F238E27FC236}">
                <a16:creationId xmlns:a16="http://schemas.microsoft.com/office/drawing/2014/main" id="{AE858FBE-56C2-475D-AD18-0D4D572DBA15}"/>
              </a:ext>
            </a:extLst>
          </p:cNvPr>
          <p:cNvSpPr>
            <a:spLocks xmlns:a="http://schemas.openxmlformats.org/drawingml/2006/main" noGrp="1"/>
          </p:cNvSpPr>
          <p:nvPr/>
        </p:nvSpPr>
        <p:spPr>
          <a:xfrm xmlns:a="http://schemas.openxmlformats.org/drawingml/2006/main">
            <a:off x="1428750" y="3952875"/>
            <a:ext cx="8572500" cy="19050"/>
          </a:xfrm>
          <a:prstGeom xmlns:a="http://schemas.openxmlformats.org/drawingml/2006/main" prst="rect">
            <a:avLst/>
          </a:prstGeom>
          <a:solidFill xmlns:a="http://schemas.openxmlformats.org/drawingml/2006/main">
            <a:srgbClr val="294B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120623C-5DE3-4FC4-B084-24FC9FB2C64F}"/>
              </a:ext>
            </a:extLst>
          </p:cNvPr>
          <p:cNvSpPr>
            <a:spLocks xmlns:a="http://schemas.openxmlformats.org/drawingml/2006/main" noGrp="1"/>
          </p:cNvSpPr>
          <p:nvPr/>
        </p:nvSpPr>
        <p:spPr>
          <a:xfrm xmlns:a="http://schemas.openxmlformats.org/drawingml/2006/main">
            <a:off x="685800" y="4305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00A6A6"/>
                </a:solidFill>
              </a:defRPr>
            </a:defPPr>
          </a:lstStyle>
          <a:p xmlns:a="http://schemas.openxmlformats.org/drawingml/2006/main">
            <a:pPr>
              <a:defRPr sz="1350" b="1">
                <a:solidFill>
                  <a:srgbClr val="00A6A6"/>
                </a:solidFill>
              </a:defRPr>
            </a:pPr>
            <a:r>
              <a:rPr sz="1350" b="1">
                <a:solidFill>
                  <a:srgbClr val="00A6A6"/>
                </a:solidFill>
              </a:rPr>
              <a:t>03</a:t>
            </a:r>
          </a:p>
        </p:txBody>
      </p:sp>
      <p:sp>
        <p:nvSpPr>
          <p:cNvPr id="12" name="">
            <a:extLst xmlns:a="http://schemas.openxmlformats.org/drawingml/2006/main">
              <a:ext uri="{FF2B5EF4-FFF2-40B4-BE49-F238E27FC236}">
                <a16:creationId xmlns:a16="http://schemas.microsoft.com/office/drawing/2014/main" id="{B769970A-F578-4EC9-9EC4-B056E965E639}"/>
              </a:ext>
            </a:extLst>
          </p:cNvPr>
          <p:cNvSpPr>
            <a:spLocks xmlns:a="http://schemas.openxmlformats.org/drawingml/2006/main" noGrp="1"/>
          </p:cNvSpPr>
          <p:nvPr/>
        </p:nvSpPr>
        <p:spPr>
          <a:xfrm xmlns:a="http://schemas.openxmlformats.org/drawingml/2006/main">
            <a:off x="1428750" y="4305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FFFFFF"/>
                </a:solidFill>
              </a:defRPr>
            </a:defPPr>
          </a:lstStyle>
          <a:p xmlns:a="http://schemas.openxmlformats.org/drawingml/2006/main">
            <a:pPr>
              <a:defRPr sz="1800" b="1">
                <a:solidFill>
                  <a:srgbClr val="FFFFFF"/>
                </a:solidFill>
              </a:defRPr>
            </a:pPr>
            <a:r>
              <a:rPr sz="1800" b="1">
                <a:solidFill>
                  <a:srgbClr val="FFFFFF"/>
                </a:solidFill>
              </a:rPr>
              <a:t>Facilities review</a:t>
            </a:r>
          </a:p>
        </p:txBody>
      </p:sp>
      <p:sp>
        <p:nvSpPr>
          <p:cNvPr id="13" name="">
            <a:extLst xmlns:a="http://schemas.openxmlformats.org/drawingml/2006/main">
              <a:ext uri="{FF2B5EF4-FFF2-40B4-BE49-F238E27FC236}">
                <a16:creationId xmlns:a16="http://schemas.microsoft.com/office/drawing/2014/main" id="{01257244-1879-4B26-B96F-07A2BC8A2739}"/>
              </a:ext>
            </a:extLst>
          </p:cNvPr>
          <p:cNvSpPr>
            <a:spLocks xmlns:a="http://schemas.openxmlformats.org/drawingml/2006/main" noGrp="1"/>
          </p:cNvSpPr>
          <p:nvPr/>
        </p:nvSpPr>
        <p:spPr>
          <a:xfrm xmlns:a="http://schemas.openxmlformats.org/drawingml/2006/main">
            <a:off x="3810000" y="4305300"/>
            <a:ext cx="619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D9E2EC"/>
                </a:solidFill>
              </a:defRPr>
            </a:defPPr>
          </a:lstStyle>
          <a:p xmlns:a="http://schemas.openxmlformats.org/drawingml/2006/main">
            <a:pPr>
              <a:defRPr sz="1575" b="0">
                <a:solidFill>
                  <a:srgbClr val="D9E2EC"/>
                </a:solidFill>
              </a:defRPr>
            </a:pPr>
            <a:r>
              <a:rPr sz="1575" b="0">
                <a:solidFill>
                  <a:srgbClr val="D9E2EC"/>
                </a:solidFill>
              </a:rPr>
              <a:t>Translate validated peaks into approved operational trials</a:t>
            </a:r>
          </a:p>
        </p:txBody>
      </p:sp>
      <p:sp>
        <p:nvSpPr>
          <p:cNvPr id="14" name="">
            <a:extLst xmlns:a="http://schemas.openxmlformats.org/drawingml/2006/main">
              <a:ext uri="{FF2B5EF4-FFF2-40B4-BE49-F238E27FC236}">
                <a16:creationId xmlns:a16="http://schemas.microsoft.com/office/drawing/2014/main" id="{6EE54DCB-44F0-4E25-9831-7190E54E6B14}"/>
              </a:ext>
            </a:extLst>
          </p:cNvPr>
          <p:cNvSpPr>
            <a:spLocks xmlns:a="http://schemas.openxmlformats.org/drawingml/2006/main" noGrp="1"/>
          </p:cNvSpPr>
          <p:nvPr/>
        </p:nvSpPr>
        <p:spPr>
          <a:xfrm xmlns:a="http://schemas.openxmlformats.org/drawingml/2006/main">
            <a:off x="1428750" y="4953000"/>
            <a:ext cx="8572500" cy="19050"/>
          </a:xfrm>
          <a:prstGeom xmlns:a="http://schemas.openxmlformats.org/drawingml/2006/main" prst="rect">
            <a:avLst/>
          </a:prstGeom>
          <a:solidFill xmlns:a="http://schemas.openxmlformats.org/drawingml/2006/main">
            <a:srgbClr val="294B5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B10E5F7-9062-4879-84C8-132CB282B356}"/>
              </a:ext>
            </a:extLst>
          </p:cNvPr>
          <p:cNvSpPr>
            <a:spLocks xmlns:a="http://schemas.openxmlformats.org/drawingml/2006/main" noGrp="1"/>
          </p:cNvSpPr>
          <p:nvPr/>
        </p:nvSpPr>
        <p:spPr>
          <a:xfrm xmlns:a="http://schemas.openxmlformats.org/drawingml/2006/main">
            <a:off x="685800" y="57626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D9F3EF"/>
                </a:solidFill>
              </a:defRPr>
            </a:defPPr>
          </a:lstStyle>
          <a:p xmlns:a="http://schemas.openxmlformats.org/drawingml/2006/main">
            <a:pPr>
              <a:defRPr sz="1650" b="1">
                <a:solidFill>
                  <a:srgbClr val="D9F3EF"/>
                </a:solidFill>
              </a:defRPr>
            </a:pPr>
            <a:r>
              <a:rPr sz="1650" b="1">
                <a:solidFill>
                  <a:srgbClr val="D9F3EF"/>
                </a:solidFill>
              </a:rPr>
              <a:t>Ask: help us validate missing-meter inference against real campus data before we recommend peak-shifting actions.</a:t>
            </a:r>
          </a:p>
        </p:txBody>
      </p:sp>
      <p:sp>
        <p:nvSpPr>
          <p:cNvPr id="16" name="">
            <a:extLst xmlns:a="http://schemas.openxmlformats.org/drawingml/2006/main">
              <a:ext uri="{FF2B5EF4-FFF2-40B4-BE49-F238E27FC236}">
                <a16:creationId xmlns:a16="http://schemas.microsoft.com/office/drawing/2014/main" id="{5988FE53-37EF-4528-A6B8-0E2F6CD1F9B5}"/>
              </a:ext>
            </a:extLst>
          </p:cNvPr>
          <p:cNvSpPr>
            <a:spLocks xmlns:a="http://schemas.openxmlformats.org/drawingml/2006/main" noGrp="1"/>
          </p:cNvSpPr>
          <p:nvPr/>
        </p:nvSpPr>
        <p:spPr>
          <a:xfrm xmlns:a="http://schemas.openxmlformats.org/drawingml/2006/main">
            <a:off x="685800" y="633412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00A6A6"/>
                </a:solidFill>
              </a:defRPr>
            </a:defPPr>
          </a:lstStyle>
          <a:p xmlns:a="http://schemas.openxmlformats.org/drawingml/2006/main">
            <a:pPr>
              <a:defRPr sz="1125" b="1">
                <a:solidFill>
                  <a:srgbClr val="00A6A6"/>
                </a:solidFill>
              </a:defRPr>
            </a:pPr>
            <a:r>
              <a:rPr sz="1125" b="1">
                <a:solidFill>
                  <a:srgbClr val="00A6A6"/>
                </a:solidFill>
              </a:rPr>
              <a:t>Thank you</a:t>
            </a:r>
          </a:p>
        </p:txBody>
      </p:sp>
    </p:spTree>
    <p:extLst>
      <p:ext uri="{BB962C8B-B14F-4D97-AF65-F5344CB8AC3E}">
        <p14:creationId xmlns:p14="http://schemas.microsoft.com/office/powerpoint/2010/main" val="12872256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2026-10-12T18:09:24.4310000Z</dcterms:created>
  <dcterms:modified xsi:type="dcterms:W3CDTF">2026-10-12T18:09:24.4310000Z</dcterms:modified>
</coreProperties>
</file>